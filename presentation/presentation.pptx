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0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71" r:id="rId11"/>
    <p:sldId id="265" r:id="rId12"/>
    <p:sldId id="266" r:id="rId13"/>
    <p:sldId id="267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9" d="100"/>
          <a:sy n="109" d="100"/>
        </p:scale>
        <p:origin x="6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Répartition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471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9D7-4C42-928E-1ED049B43A9A}"/>
              </c:ext>
            </c:extLst>
          </c:dPt>
          <c:dPt>
            <c:idx val="1"/>
            <c:bubble3D val="0"/>
            <c:spPr>
              <a:solidFill>
                <a:srgbClr val="B03A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9D7-4C42-928E-1ED049B43A9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9D7-4C42-928E-1ED049B43A9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9D7-4C42-928E-1ED049B43A9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Non-CHD (0)</c:v>
                </c:pt>
                <c:pt idx="1">
                  <c:v>CHD (1)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84.8</c:v>
                </c:pt>
                <c:pt idx="1">
                  <c:v>15.2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9D7-4C42-928E-1ED049B43A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800" b="0" i="0" u="none" strike="noStrike" noProof="0" dirty="0">
                <a:solidFill>
                  <a:srgbClr val="000000"/>
                </a:solidFill>
                <a:latin typeface="Arial"/>
              </a:rPr>
              <a:t>Corrélation absolue |r| avec </a:t>
            </a:r>
            <a:r>
              <a:rPr lang="fr-FR" sz="1800" b="0" i="0" u="none" strike="noStrike" noProof="0" dirty="0" err="1">
                <a:solidFill>
                  <a:srgbClr val="000000"/>
                </a:solidFill>
                <a:latin typeface="Arial"/>
              </a:rPr>
              <a:t>TenYearCHD</a:t>
            </a:r>
            <a:endParaRPr lang="fr-FR" sz="1800" b="0" i="0" u="none" strike="noStrike" noProof="0" dirty="0">
              <a:solidFill>
                <a:srgbClr val="000000"/>
              </a:solidFill>
              <a:latin typeface="Arial"/>
            </a:endParaRP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Corrélation absolue |r|</c:v>
                </c:pt>
              </c:strCache>
            </c:strRef>
          </c:tx>
          <c:spPr>
            <a:solidFill>
              <a:srgbClr val="2471A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Tension_Normale</c:v>
                </c:pt>
                <c:pt idx="1">
                  <c:v>male</c:v>
                </c:pt>
                <c:pt idx="2">
                  <c:v>diabetes</c:v>
                </c:pt>
                <c:pt idx="3">
                  <c:v>Tension_Hypert.</c:v>
                </c:pt>
                <c:pt idx="4">
                  <c:v>diaBP</c:v>
                </c:pt>
                <c:pt idx="5">
                  <c:v>prevalentHyp</c:v>
                </c:pt>
                <c:pt idx="6">
                  <c:v>pulse_pressure</c:v>
                </c:pt>
                <c:pt idx="7">
                  <c:v>sysBP</c:v>
                </c:pt>
                <c:pt idx="8">
                  <c:v>age</c:v>
                </c:pt>
                <c:pt idx="9">
                  <c:v>risk_score</c:v>
                </c:pt>
                <c:pt idx="10">
                  <c:v>age_sysBP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0.11</c:v>
                </c:pt>
                <c:pt idx="1">
                  <c:v>0.09</c:v>
                </c:pt>
                <c:pt idx="2">
                  <c:v>0.1</c:v>
                </c:pt>
                <c:pt idx="3">
                  <c:v>0.14000000000000001</c:v>
                </c:pt>
                <c:pt idx="4">
                  <c:v>0.12</c:v>
                </c:pt>
                <c:pt idx="5">
                  <c:v>0.17</c:v>
                </c:pt>
                <c:pt idx="6">
                  <c:v>0.18</c:v>
                </c:pt>
                <c:pt idx="7">
                  <c:v>0.21</c:v>
                </c:pt>
                <c:pt idx="8">
                  <c:v>0.23</c:v>
                </c:pt>
                <c:pt idx="9">
                  <c:v>0.24</c:v>
                </c:pt>
                <c:pt idx="10">
                  <c:v>0.26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4F-42BA-9263-295808C5E45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800" b="0" i="0" u="none" strike="noStrike" noProof="0" dirty="0">
                <a:solidFill>
                  <a:srgbClr val="000000"/>
                </a:solidFill>
                <a:latin typeface="Arial"/>
              </a:rPr>
              <a:t>Taux de CHD (%) selon le facteur de risque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CHD (%)</c:v>
                </c:pt>
              </c:strCache>
            </c:strRef>
          </c:tx>
          <c:spPr>
            <a:solidFill>
              <a:srgbClr val="E8EEF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5F5-4C03-9F4E-04624C2FAFB8}"/>
              </c:ext>
            </c:extLst>
          </c:dPt>
          <c:dPt>
            <c:idx val="1"/>
            <c:invertIfNegative val="0"/>
            <c:bubble3D val="0"/>
            <c:spPr>
              <a:solidFill>
                <a:srgbClr val="2471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5F5-4C03-9F4E-04624C2FAFB8}"/>
              </c:ext>
            </c:extLst>
          </c:dPt>
          <c:dPt>
            <c:idx val="2"/>
            <c:invertIfNegative val="0"/>
            <c:bubble3D val="0"/>
            <c:spPr>
              <a:solidFill>
                <a:srgbClr val="2471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5F5-4C03-9F4E-04624C2FAFB8}"/>
              </c:ext>
            </c:extLst>
          </c:dPt>
          <c:dPt>
            <c:idx val="3"/>
            <c:invertIfNegative val="0"/>
            <c:bubble3D val="0"/>
            <c:spPr>
              <a:solidFill>
                <a:srgbClr val="B03A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5F5-4C03-9F4E-04624C2FAFB8}"/>
              </c:ext>
            </c:extLst>
          </c:dPt>
          <c:dPt>
            <c:idx val="4"/>
            <c:invertIfNegative val="0"/>
            <c:bubble3D val="0"/>
            <c:spPr>
              <a:solidFill>
                <a:srgbClr val="B03A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35F5-4C03-9F4E-04624C2FAFB8}"/>
              </c:ext>
            </c:extLst>
          </c:dPt>
          <c:dPt>
            <c:idx val="5"/>
            <c:invertIfNegative val="0"/>
            <c:bubble3D val="0"/>
            <c:spPr>
              <a:solidFill>
                <a:srgbClr val="B03A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35F5-4C03-9F4E-04624C2FAFB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Global</c:v>
                </c:pt>
                <c:pt idx="1">
                  <c:v>Sexe masc.</c:v>
                </c:pt>
                <c:pt idx="2">
                  <c:v>Obésité</c:v>
                </c:pt>
                <c:pt idx="3">
                  <c:v>Hypertension</c:v>
                </c:pt>
                <c:pt idx="4">
                  <c:v>Âge &gt; 55 ans</c:v>
                </c:pt>
                <c:pt idx="5">
                  <c:v>Diabète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15.2</c:v>
                </c:pt>
                <c:pt idx="1">
                  <c:v>18.8</c:v>
                </c:pt>
                <c:pt idx="2">
                  <c:v>19.5</c:v>
                </c:pt>
                <c:pt idx="3">
                  <c:v>24.7</c:v>
                </c:pt>
                <c:pt idx="4">
                  <c:v>29.5</c:v>
                </c:pt>
                <c:pt idx="5">
                  <c:v>36.700000000000003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5F5-4C03-9F4E-04624C2FAFB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800" b="0" i="0" u="none" strike="noStrike" noProof="0" dirty="0">
                <a:solidFill>
                  <a:srgbClr val="000000"/>
                </a:solidFill>
                <a:latin typeface="Arial"/>
              </a:rPr>
              <a:t>AUC-ROC moyen (VC 5 plis)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 moyen (validation croisée 5 plis)</c:v>
                </c:pt>
              </c:strCache>
            </c:strRef>
          </c:tx>
          <c:spPr>
            <a:solidFill>
              <a:srgbClr val="55555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77C-401F-B8D6-C7C0FB365A4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77C-401F-B8D6-C7C0FB365A4F}"/>
              </c:ext>
            </c:extLst>
          </c:dPt>
          <c:dPt>
            <c:idx val="2"/>
            <c:invertIfNegative val="0"/>
            <c:bubble3D val="0"/>
            <c:spPr>
              <a:solidFill>
                <a:srgbClr val="1D6A3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77C-401F-B8D6-C7C0FB365A4F}"/>
              </c:ext>
            </c:extLst>
          </c:dPt>
          <c:dPt>
            <c:idx val="3"/>
            <c:invertIfNegative val="0"/>
            <c:bubble3D val="0"/>
            <c:spPr>
              <a:solidFill>
                <a:srgbClr val="2471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77C-401F-B8D6-C7C0FB365A4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Hist. Gradient Boosté</c:v>
                </c:pt>
                <c:pt idx="1">
                  <c:v>Gradient Boosté</c:v>
                </c:pt>
                <c:pt idx="2">
                  <c:v>Forêt Aléatoire</c:v>
                </c:pt>
                <c:pt idx="3">
                  <c:v>Rég. Logistique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0.68169999999999997</c:v>
                </c:pt>
                <c:pt idx="1">
                  <c:v>0.69599999999999995</c:v>
                </c:pt>
                <c:pt idx="2">
                  <c:v>0.70920000000000005</c:v>
                </c:pt>
                <c:pt idx="3">
                  <c:v>0.72440000000000004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77C-401F-B8D6-C7C0FB365A4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.6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800" b="0" i="0" u="none" strike="noStrike" noProof="0" dirty="0">
                <a:solidFill>
                  <a:srgbClr val="000000"/>
                </a:solidFill>
                <a:latin typeface="Arial"/>
              </a:rPr>
              <a:t>Rappel moyen (VC 5 plis)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Rappel moyen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C4C-4568-AEE7-D51B94F1E015}"/>
              </c:ext>
            </c:extLst>
          </c:dPt>
          <c:dPt>
            <c:idx val="1"/>
            <c:invertIfNegative val="0"/>
            <c:bubble3D val="0"/>
            <c:spPr>
              <a:solidFill>
                <a:srgbClr val="55555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C4C-4568-AEE7-D51B94F1E015}"/>
              </c:ext>
            </c:extLst>
          </c:dPt>
          <c:dPt>
            <c:idx val="2"/>
            <c:invertIfNegative val="0"/>
            <c:bubble3D val="0"/>
            <c:spPr>
              <a:solidFill>
                <a:srgbClr val="1D6A3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C4C-4568-AEE7-D51B94F1E015}"/>
              </c:ext>
            </c:extLst>
          </c:dPt>
          <c:dPt>
            <c:idx val="3"/>
            <c:invertIfNegative val="0"/>
            <c:bubble3D val="0"/>
            <c:spPr>
              <a:solidFill>
                <a:srgbClr val="2471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C4C-4568-AEE7-D51B94F1E01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Gradient Boosté</c:v>
                </c:pt>
                <c:pt idx="1">
                  <c:v>Hist. Gradient Boosté</c:v>
                </c:pt>
                <c:pt idx="2">
                  <c:v>Forêt Aléatoire</c:v>
                </c:pt>
                <c:pt idx="3">
                  <c:v>Rég. Logistique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9.8000000000000004E-2</c:v>
                </c:pt>
                <c:pt idx="1">
                  <c:v>0.48299999999999998</c:v>
                </c:pt>
                <c:pt idx="2">
                  <c:v>0.48799999999999999</c:v>
                </c:pt>
                <c:pt idx="3">
                  <c:v>0.67400000000000004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C4C-4568-AEE7-D51B94F1E01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800" b="0" i="0" u="none" strike="noStrike" noProof="0" dirty="0">
                <a:solidFill>
                  <a:srgbClr val="000000"/>
                </a:solidFill>
                <a:latin typeface="Arial"/>
              </a:rPr>
              <a:t>Courbe ROC — Comparaison des modèles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Rég. Logistique (AUC=0,703)</c:v>
                </c:pt>
              </c:strCache>
            </c:strRef>
          </c:tx>
          <c:spPr>
            <a:ln w="25400" cap="flat">
              <a:solidFill>
                <a:srgbClr val="2471A3">
                  <a:alpha val="73000"/>
                </a:srgbClr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0.2</c:v>
                </c:pt>
                <c:pt idx="4">
                  <c:v>0.3</c:v>
                </c:pt>
                <c:pt idx="5">
                  <c:v>0.4</c:v>
                </c:pt>
                <c:pt idx="6">
                  <c:v>0.5</c:v>
                </c:pt>
                <c:pt idx="7">
                  <c:v>0.6</c:v>
                </c:pt>
                <c:pt idx="8">
                  <c:v>0.7</c:v>
                </c:pt>
                <c:pt idx="9">
                  <c:v>0.8</c:v>
                </c:pt>
                <c:pt idx="10">
                  <c:v>0.9</c:v>
                </c:pt>
                <c:pt idx="11">
                  <c:v>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0.18</c:v>
                </c:pt>
                <c:pt idx="2">
                  <c:v>0.3</c:v>
                </c:pt>
                <c:pt idx="3">
                  <c:v>0.45</c:v>
                </c:pt>
                <c:pt idx="4">
                  <c:v>0.55000000000000004</c:v>
                </c:pt>
                <c:pt idx="5">
                  <c:v>0.63</c:v>
                </c:pt>
                <c:pt idx="6">
                  <c:v>0.7</c:v>
                </c:pt>
                <c:pt idx="7">
                  <c:v>0.76</c:v>
                </c:pt>
                <c:pt idx="8">
                  <c:v>0.82</c:v>
                </c:pt>
                <c:pt idx="9">
                  <c:v>0.88</c:v>
                </c:pt>
                <c:pt idx="10">
                  <c:v>0.94</c:v>
                </c:pt>
                <c:pt idx="11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7E3-4506-881C-719E08CD55F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Forêt Aléatoire (AUC=0,678)</c:v>
                </c:pt>
              </c:strCache>
            </c:strRef>
          </c:tx>
          <c:spPr>
            <a:ln w="25400" cap="flat">
              <a:solidFill>
                <a:srgbClr val="1D6A3C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0.2</c:v>
                </c:pt>
                <c:pt idx="4">
                  <c:v>0.3</c:v>
                </c:pt>
                <c:pt idx="5">
                  <c:v>0.4</c:v>
                </c:pt>
                <c:pt idx="6">
                  <c:v>0.5</c:v>
                </c:pt>
                <c:pt idx="7">
                  <c:v>0.6</c:v>
                </c:pt>
                <c:pt idx="8">
                  <c:v>0.7</c:v>
                </c:pt>
                <c:pt idx="9">
                  <c:v>0.8</c:v>
                </c:pt>
                <c:pt idx="10">
                  <c:v>0.9</c:v>
                </c:pt>
                <c:pt idx="11">
                  <c:v>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0.15</c:v>
                </c:pt>
                <c:pt idx="2">
                  <c:v>0.27</c:v>
                </c:pt>
                <c:pt idx="3">
                  <c:v>0.41</c:v>
                </c:pt>
                <c:pt idx="4">
                  <c:v>0.52</c:v>
                </c:pt>
                <c:pt idx="5">
                  <c:v>0.6</c:v>
                </c:pt>
                <c:pt idx="6">
                  <c:v>0.67</c:v>
                </c:pt>
                <c:pt idx="7">
                  <c:v>0.73</c:v>
                </c:pt>
                <c:pt idx="8">
                  <c:v>0.79</c:v>
                </c:pt>
                <c:pt idx="9">
                  <c:v>0.86</c:v>
                </c:pt>
                <c:pt idx="10">
                  <c:v>0.93</c:v>
                </c:pt>
                <c:pt idx="11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57E3-4506-881C-719E08CD55F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Référence aléatoire (AUC=0,50)</c:v>
                </c:pt>
              </c:strCache>
            </c:strRef>
          </c:tx>
          <c:spPr>
            <a:ln w="25400" cap="flat">
              <a:solidFill>
                <a:srgbClr val="AAAAA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0.2</c:v>
                </c:pt>
                <c:pt idx="4">
                  <c:v>0.3</c:v>
                </c:pt>
                <c:pt idx="5">
                  <c:v>0.4</c:v>
                </c:pt>
                <c:pt idx="6">
                  <c:v>0.5</c:v>
                </c:pt>
                <c:pt idx="7">
                  <c:v>0.6</c:v>
                </c:pt>
                <c:pt idx="8">
                  <c:v>0.7</c:v>
                </c:pt>
                <c:pt idx="9">
                  <c:v>0.8</c:v>
                </c:pt>
                <c:pt idx="10">
                  <c:v>0.9</c:v>
                </c:pt>
                <c:pt idx="11">
                  <c:v>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0.2</c:v>
                </c:pt>
                <c:pt idx="4">
                  <c:v>0.3</c:v>
                </c:pt>
                <c:pt idx="5">
                  <c:v>0.4</c:v>
                </c:pt>
                <c:pt idx="6">
                  <c:v>0.5</c:v>
                </c:pt>
                <c:pt idx="7">
                  <c:v>0.6</c:v>
                </c:pt>
                <c:pt idx="8">
                  <c:v>0.7</c:v>
                </c:pt>
                <c:pt idx="9">
                  <c:v>0.8</c:v>
                </c:pt>
                <c:pt idx="10">
                  <c:v>0.9</c:v>
                </c:pt>
                <c:pt idx="11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57E3-4506-881C-719E08CD55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(|coef|)</c:v>
                </c:pt>
              </c:strCache>
            </c:strRef>
          </c:tx>
          <c:spPr>
            <a:solidFill>
              <a:srgbClr val="2471A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Tension_Hypert.</c:v>
                </c:pt>
                <c:pt idx="1">
                  <c:v>pulse_pressure</c:v>
                </c:pt>
                <c:pt idx="2">
                  <c:v>Tension_Normale</c:v>
                </c:pt>
                <c:pt idx="3">
                  <c:v>diaBP</c:v>
                </c:pt>
                <c:pt idx="4">
                  <c:v>prevalentHyp</c:v>
                </c:pt>
                <c:pt idx="5">
                  <c:v>sysBP</c:v>
                </c:pt>
                <c:pt idx="6">
                  <c:v>risk_score</c:v>
                </c:pt>
                <c:pt idx="7">
                  <c:v>diabetes</c:v>
                </c:pt>
                <c:pt idx="8">
                  <c:v>age_sysBP</c:v>
                </c:pt>
                <c:pt idx="9">
                  <c:v>male</c:v>
                </c:pt>
                <c:pt idx="10">
                  <c:v>age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3.7999999999999999E-2</c:v>
                </c:pt>
                <c:pt idx="1">
                  <c:v>4.2999999999999997E-2</c:v>
                </c:pt>
                <c:pt idx="2">
                  <c:v>4.4999999999999998E-2</c:v>
                </c:pt>
                <c:pt idx="3">
                  <c:v>5.0999999999999997E-2</c:v>
                </c:pt>
                <c:pt idx="4">
                  <c:v>5.8000000000000003E-2</c:v>
                </c:pt>
                <c:pt idx="5">
                  <c:v>7.1999999999999995E-2</c:v>
                </c:pt>
                <c:pt idx="6">
                  <c:v>9.0999999999999998E-2</c:v>
                </c:pt>
                <c:pt idx="7">
                  <c:v>0.10199999999999999</c:v>
                </c:pt>
                <c:pt idx="8">
                  <c:v>0.224</c:v>
                </c:pt>
                <c:pt idx="9">
                  <c:v>0.23899999999999999</c:v>
                </c:pt>
                <c:pt idx="10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E3-46FF-A6F0-E2B8137A7CA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853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F8334-048A-1D0D-8B99-5F76DE9C5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A5FE49-07A6-15EF-2BA6-53AB27CD4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16A5BF-4646-BCE7-66D5-B9DCC2F04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94C13-8D0E-80A4-3664-2209F31B7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951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F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142640"/>
          </a:solidFill>
          <a:ln w="12700">
            <a:solidFill>
              <a:srgbClr val="14264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2"/>
          <p:cNvSpPr/>
          <p:nvPr/>
        </p:nvSpPr>
        <p:spPr>
          <a:xfrm>
            <a:off x="5492726" y="0"/>
            <a:ext cx="2775005" cy="2331057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254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6766560" y="457200"/>
            <a:ext cx="2011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fr-FR" sz="5200" noProof="0" dirty="0"/>
          </a:p>
        </p:txBody>
      </p:sp>
      <p:sp>
        <p:nvSpPr>
          <p:cNvPr id="6" name="Text 4"/>
          <p:cNvSpPr/>
          <p:nvPr/>
        </p:nvSpPr>
        <p:spPr>
          <a:xfrm>
            <a:off x="289560" y="13716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kern="0" spc="400" noProof="0" dirty="0">
                <a:solidFill>
                  <a:srgbClr val="90C2E8"/>
                </a:solidFill>
              </a:rPr>
              <a:t>FRAMINGHAM HEART STUDY</a:t>
            </a:r>
            <a:endParaRPr lang="fr-FR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289560" y="1787586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3400" b="1" noProof="0" dirty="0">
                <a:solidFill>
                  <a:srgbClr val="FFFFFF"/>
                </a:solidFill>
              </a:rPr>
              <a:t>Prédiction du Risque de</a:t>
            </a:r>
            <a:endParaRPr lang="fr-FR" sz="3400" noProof="0" dirty="0"/>
          </a:p>
          <a:p>
            <a:pPr marL="0" indent="0">
              <a:buNone/>
            </a:pPr>
            <a:r>
              <a:rPr lang="fr-FR" sz="3400" b="1" noProof="0" dirty="0">
                <a:solidFill>
                  <a:srgbClr val="FFFFFF"/>
                </a:solidFill>
              </a:rPr>
              <a:t>Maladie Coronarienne à 10 Ans</a:t>
            </a:r>
            <a:endParaRPr lang="fr-FR" sz="3400" noProof="0" dirty="0"/>
          </a:p>
        </p:txBody>
      </p:sp>
      <p:sp>
        <p:nvSpPr>
          <p:cNvPr id="8" name="Text 6"/>
          <p:cNvSpPr/>
          <p:nvPr/>
        </p:nvSpPr>
        <p:spPr>
          <a:xfrm>
            <a:off x="347472" y="313175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500" noProof="0" dirty="0">
                <a:solidFill>
                  <a:srgbClr val="90C2E8"/>
                </a:solidFill>
              </a:rPr>
              <a:t>Projet Machine Learning  |  Classification Binaire</a:t>
            </a:r>
            <a:endParaRPr lang="fr-FR" sz="1500" noProof="0" dirty="0"/>
          </a:p>
        </p:txBody>
      </p:sp>
      <p:sp>
        <p:nvSpPr>
          <p:cNvPr id="9" name="Shape 7"/>
          <p:cNvSpPr/>
          <p:nvPr/>
        </p:nvSpPr>
        <p:spPr>
          <a:xfrm>
            <a:off x="347472" y="3579810"/>
            <a:ext cx="2743200" cy="36576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Text 17"/>
          <p:cNvSpPr/>
          <p:nvPr/>
        </p:nvSpPr>
        <p:spPr>
          <a:xfrm>
            <a:off x="228600" y="4480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BA4C8"/>
                </a:solidFill>
              </a:rPr>
              <a:t>Analyste Data Junior   ·   Machine Learning &amp; Santé   ·   2026</a:t>
            </a:r>
            <a:endParaRPr lang="fr-FR" sz="1000" noProof="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D664C67-9176-8D7F-931E-D394A9E0F6F8}"/>
              </a:ext>
            </a:extLst>
          </p:cNvPr>
          <p:cNvSpPr/>
          <p:nvPr/>
        </p:nvSpPr>
        <p:spPr>
          <a:xfrm>
            <a:off x="6477043" y="2591507"/>
            <a:ext cx="2666957" cy="777725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"/>
            <a:ext cx="9144000" cy="6400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 noProof="0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100" b="1" noProof="0" dirty="0" err="1">
                <a:solidFill>
                  <a:srgbClr val="FFFFFF"/>
                </a:solidFill>
              </a:rPr>
              <a:t>Contexts</a:t>
            </a:r>
            <a:endParaRPr lang="fr-FR" sz="2100" noProof="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noProof="0" dirty="0">
                <a:solidFill>
                  <a:srgbClr val="5BA3E8"/>
                </a:solidFill>
              </a:rPr>
              <a:t>02 / 14</a:t>
            </a:r>
            <a:endParaRPr lang="fr-FR" sz="1000" noProof="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8ECF1"/>
          </a:solidFill>
          <a:ln w="12700">
            <a:solidFill>
              <a:srgbClr val="E8ECF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4956048"/>
            <a:ext cx="859536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800" noProof="0" dirty="0">
                <a:solidFill>
                  <a:srgbClr val="64748B"/>
                </a:solidFill>
              </a:rPr>
              <a:t>Framingham </a:t>
            </a:r>
            <a:r>
              <a:rPr lang="fr-FR" sz="800" noProof="0" dirty="0" err="1">
                <a:solidFill>
                  <a:srgbClr val="64748B"/>
                </a:solidFill>
              </a:rPr>
              <a:t>Heart</a:t>
            </a:r>
            <a:r>
              <a:rPr lang="fr-FR" sz="800" noProof="0" dirty="0">
                <a:solidFill>
                  <a:srgbClr val="64748B"/>
                </a:solidFill>
              </a:rPr>
              <a:t> </a:t>
            </a:r>
            <a:r>
              <a:rPr lang="fr-FR" sz="800" noProof="0" dirty="0" err="1">
                <a:solidFill>
                  <a:srgbClr val="64748B"/>
                </a:solidFill>
              </a:rPr>
              <a:t>Study</a:t>
            </a:r>
            <a:r>
              <a:rPr lang="fr-FR" sz="800" noProof="0" dirty="0">
                <a:solidFill>
                  <a:srgbClr val="64748B"/>
                </a:solidFill>
              </a:rPr>
              <a:t>  |  </a:t>
            </a:r>
            <a:r>
              <a:rPr lang="fr-FR" sz="800" noProof="0" dirty="0" err="1">
                <a:solidFill>
                  <a:srgbClr val="64748B"/>
                </a:solidFill>
              </a:rPr>
              <a:t>TenYearCHD</a:t>
            </a:r>
            <a:r>
              <a:rPr lang="fr-FR" sz="800" noProof="0" dirty="0">
                <a:solidFill>
                  <a:srgbClr val="64748B"/>
                </a:solidFill>
              </a:rPr>
              <a:t>  |  2026</a:t>
            </a:r>
            <a:endParaRPr lang="fr-FR" sz="800" noProof="0" dirty="0"/>
          </a:p>
        </p:txBody>
      </p:sp>
      <p:sp>
        <p:nvSpPr>
          <p:cNvPr id="7" name="Shape 5"/>
          <p:cNvSpPr/>
          <p:nvPr/>
        </p:nvSpPr>
        <p:spPr>
          <a:xfrm>
            <a:off x="320040" y="804672"/>
            <a:ext cx="2651760" cy="1078992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320040" y="859536"/>
            <a:ext cx="2651760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000" b="1" noProof="0" dirty="0">
                <a:solidFill>
                  <a:srgbClr val="1B3A6B"/>
                </a:solidFill>
              </a:rPr>
              <a:t>#1</a:t>
            </a:r>
            <a:endParaRPr lang="fr-FR" sz="3000" noProof="0" dirty="0"/>
          </a:p>
        </p:txBody>
      </p:sp>
      <p:sp>
        <p:nvSpPr>
          <p:cNvPr id="9" name="Text 7"/>
          <p:cNvSpPr/>
          <p:nvPr/>
        </p:nvSpPr>
        <p:spPr>
          <a:xfrm>
            <a:off x="320040" y="1430487"/>
            <a:ext cx="2651760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D5271"/>
                </a:solidFill>
              </a:rPr>
              <a:t>Cause de mortalité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3D5271"/>
                </a:solidFill>
              </a:rPr>
              <a:t>mondiale (OMS, 2023)</a:t>
            </a:r>
            <a:endParaRPr lang="fr-FR" sz="1000" noProof="0" dirty="0"/>
          </a:p>
        </p:txBody>
      </p:sp>
      <p:sp>
        <p:nvSpPr>
          <p:cNvPr id="10" name="Shape 8"/>
          <p:cNvSpPr/>
          <p:nvPr/>
        </p:nvSpPr>
        <p:spPr>
          <a:xfrm>
            <a:off x="3246120" y="804672"/>
            <a:ext cx="2651760" cy="1078992"/>
          </a:xfrm>
          <a:prstGeom prst="rect">
            <a:avLst/>
          </a:prstGeom>
          <a:solidFill>
            <a:srgbClr val="FDE8EA"/>
          </a:solidFill>
          <a:ln w="12700">
            <a:solidFill>
              <a:srgbClr val="FDE8E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3246120" y="859536"/>
            <a:ext cx="2651760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000" b="1" noProof="0" dirty="0">
                <a:solidFill>
                  <a:srgbClr val="E84855"/>
                </a:solidFill>
              </a:rPr>
              <a:t>18M</a:t>
            </a:r>
            <a:endParaRPr lang="fr-FR" sz="3000" noProof="0" dirty="0"/>
          </a:p>
        </p:txBody>
      </p:sp>
      <p:sp>
        <p:nvSpPr>
          <p:cNvPr id="12" name="Text 10"/>
          <p:cNvSpPr/>
          <p:nvPr/>
        </p:nvSpPr>
        <p:spPr>
          <a:xfrm>
            <a:off x="3246120" y="1430487"/>
            <a:ext cx="2651760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D5271"/>
                </a:solidFill>
              </a:rPr>
              <a:t>Décès / an liés aux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3D5271"/>
                </a:solidFill>
              </a:rPr>
              <a:t>maladies cardio.</a:t>
            </a:r>
            <a:endParaRPr lang="fr-FR" sz="1000" noProof="0" dirty="0"/>
          </a:p>
        </p:txBody>
      </p:sp>
      <p:sp>
        <p:nvSpPr>
          <p:cNvPr id="13" name="Shape 11"/>
          <p:cNvSpPr/>
          <p:nvPr/>
        </p:nvSpPr>
        <p:spPr>
          <a:xfrm>
            <a:off x="6172200" y="804672"/>
            <a:ext cx="2651760" cy="1078992"/>
          </a:xfrm>
          <a:prstGeom prst="rect">
            <a:avLst/>
          </a:prstGeom>
          <a:solidFill>
            <a:srgbClr val="E6F5EC"/>
          </a:solidFill>
          <a:ln w="12700">
            <a:solidFill>
              <a:srgbClr val="E6F5E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6172200" y="859536"/>
            <a:ext cx="2651760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000" b="1" noProof="0" dirty="0">
                <a:solidFill>
                  <a:srgbClr val="1A6E3A"/>
                </a:solidFill>
              </a:rPr>
              <a:t>80%</a:t>
            </a:r>
            <a:endParaRPr lang="fr-FR" sz="3000" noProof="0" dirty="0"/>
          </a:p>
        </p:txBody>
      </p:sp>
      <p:sp>
        <p:nvSpPr>
          <p:cNvPr id="15" name="Text 13"/>
          <p:cNvSpPr/>
          <p:nvPr/>
        </p:nvSpPr>
        <p:spPr>
          <a:xfrm>
            <a:off x="6172200" y="1430487"/>
            <a:ext cx="2651760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D5271"/>
                </a:solidFill>
              </a:rPr>
              <a:t>Des cas sont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 err="1">
                <a:solidFill>
                  <a:srgbClr val="3D5271"/>
                </a:solidFill>
              </a:rPr>
              <a:t>prévenables</a:t>
            </a:r>
            <a:r>
              <a:rPr lang="fr-FR" sz="1000" noProof="0" dirty="0">
                <a:solidFill>
                  <a:srgbClr val="3D5271"/>
                </a:solidFill>
              </a:rPr>
              <a:t> par dépistage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320040" y="2057400"/>
            <a:ext cx="4160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320040" y="2057400"/>
            <a:ext cx="54864" cy="2697480"/>
          </a:xfrm>
          <a:prstGeom prst="rect">
            <a:avLst/>
          </a:prstGeom>
          <a:solidFill>
            <a:srgbClr val="2A6DB5"/>
          </a:solidFill>
          <a:ln w="12700">
            <a:solidFill>
              <a:srgbClr val="2A6DB5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502920" y="216712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2A6DB5"/>
                </a:solidFill>
              </a:rPr>
              <a:t>Objectif du Projet</a:t>
            </a:r>
            <a:endParaRPr lang="fr-FR" sz="1100" noProof="0" dirty="0"/>
          </a:p>
        </p:txBody>
      </p:sp>
      <p:sp>
        <p:nvSpPr>
          <p:cNvPr id="19" name="Text 17"/>
          <p:cNvSpPr/>
          <p:nvPr/>
        </p:nvSpPr>
        <p:spPr>
          <a:xfrm>
            <a:off x="502920" y="2514600"/>
            <a:ext cx="39044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000" noProof="0" dirty="0">
                <a:solidFill>
                  <a:srgbClr val="1A2435"/>
                </a:solidFill>
              </a:rPr>
              <a:t>Prédire la variable cible binaire </a:t>
            </a:r>
            <a:r>
              <a:rPr lang="fr-FR" sz="1000" noProof="0" dirty="0" err="1">
                <a:solidFill>
                  <a:srgbClr val="1A2435"/>
                </a:solidFill>
              </a:rPr>
              <a:t>TenYearCHD</a:t>
            </a:r>
            <a:endParaRPr lang="fr-FR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000" noProof="0" dirty="0">
                <a:solidFill>
                  <a:srgbClr val="1A2435"/>
                </a:solidFill>
              </a:rPr>
              <a:t>0 = Pas de maladie coronarienne dans 10 ans</a:t>
            </a:r>
            <a:endParaRPr lang="fr-FR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000" noProof="0" dirty="0">
                <a:solidFill>
                  <a:srgbClr val="1A2435"/>
                </a:solidFill>
              </a:rPr>
              <a:t>1 = Risque de maladie coronarienne dans 10 ans</a:t>
            </a:r>
            <a:endParaRPr lang="fr-FR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000" noProof="0" dirty="0">
                <a:solidFill>
                  <a:srgbClr val="1A2435"/>
                </a:solidFill>
              </a:rPr>
              <a:t>Approche de classification supervisée</a:t>
            </a:r>
            <a:endParaRPr lang="fr-FR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000" noProof="0" dirty="0">
                <a:solidFill>
                  <a:srgbClr val="1A2435"/>
                </a:solidFill>
              </a:rPr>
              <a:t>Optimisation du </a:t>
            </a:r>
            <a:r>
              <a:rPr lang="fr-FR" sz="1000" noProof="0" dirty="0" err="1">
                <a:solidFill>
                  <a:srgbClr val="1A2435"/>
                </a:solidFill>
              </a:rPr>
              <a:t>Recall</a:t>
            </a:r>
            <a:r>
              <a:rPr lang="fr-FR" sz="1000" noProof="0" dirty="0">
                <a:solidFill>
                  <a:srgbClr val="1A2435"/>
                </a:solidFill>
              </a:rPr>
              <a:t> (détection des cas à risque)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4663440" y="2057400"/>
            <a:ext cx="4160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4663440" y="2057400"/>
            <a:ext cx="54864" cy="2697480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4846320" y="216712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E84855"/>
                </a:solidFill>
              </a:rPr>
              <a:t>Enjeux Médicaux &amp; Prédictifs</a:t>
            </a:r>
            <a:endParaRPr lang="fr-FR" sz="1100" noProof="0" dirty="0"/>
          </a:p>
        </p:txBody>
      </p:sp>
      <p:sp>
        <p:nvSpPr>
          <p:cNvPr id="23" name="Text 21"/>
          <p:cNvSpPr/>
          <p:nvPr/>
        </p:nvSpPr>
        <p:spPr>
          <a:xfrm>
            <a:off x="4846320" y="2514600"/>
            <a:ext cx="39044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000" noProof="0" dirty="0">
                <a:solidFill>
                  <a:srgbClr val="1A2435"/>
                </a:solidFill>
              </a:rPr>
              <a:t>Détection précoce pour intervention médicale ciblée</a:t>
            </a:r>
            <a:endParaRPr lang="fr-FR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000" noProof="0" dirty="0">
                <a:solidFill>
                  <a:srgbClr val="1A2435"/>
                </a:solidFill>
              </a:rPr>
              <a:t>Mieux vaut faux positif que faux négatif en santé</a:t>
            </a:r>
            <a:endParaRPr lang="fr-FR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000" noProof="0" dirty="0">
                <a:solidFill>
                  <a:srgbClr val="1A2435"/>
                </a:solidFill>
              </a:rPr>
              <a:t>Données cliniques réelles (étude longitudinale)</a:t>
            </a:r>
            <a:endParaRPr lang="fr-FR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000" noProof="0" dirty="0">
                <a:solidFill>
                  <a:srgbClr val="1A2435"/>
                </a:solidFill>
              </a:rPr>
              <a:t>Réduction des coûts de santé par prévention</a:t>
            </a:r>
            <a:endParaRPr lang="fr-FR" sz="1000" noProof="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fr-FR" sz="1000" noProof="0" dirty="0">
                <a:solidFill>
                  <a:srgbClr val="1A2435"/>
                </a:solidFill>
              </a:rPr>
              <a:t>Aide à la décision clinique basée sur l'IA</a:t>
            </a:r>
            <a:endParaRPr lang="fr-FR" sz="10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268EE2-5699-316C-1DAB-7CF3AEEB6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30EE876-01D3-A9C8-8BF4-EA6AD760F9E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6A98F6-8605-A876-9790-A932B74679D7}"/>
              </a:ext>
            </a:extLst>
          </p:cNvPr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PROBLÉMATIQUE ET OBJECTIFS</a:t>
            </a:r>
            <a:endParaRPr lang="fr-FR" sz="22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E1C9770-AAC8-A92A-BD7B-634E49224ED3}"/>
              </a:ext>
            </a:extLst>
          </p:cNvPr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300" noProof="0" dirty="0">
                <a:solidFill>
                  <a:srgbClr val="7BAFD4"/>
                </a:solidFill>
              </a:rPr>
              <a:t>03 / 14</a:t>
            </a:r>
            <a:endParaRPr lang="fr-FR" sz="13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2FC9C6F-0DF7-6137-01CE-79833D11B91A}"/>
              </a:ext>
            </a:extLst>
          </p:cNvPr>
          <p:cNvSpPr/>
          <p:nvPr/>
        </p:nvSpPr>
        <p:spPr>
          <a:xfrm>
            <a:off x="274320" y="749808"/>
            <a:ext cx="8595360" cy="1234440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A07792C-4D17-2910-732B-ABAE59332892}"/>
              </a:ext>
            </a:extLst>
          </p:cNvPr>
          <p:cNvSpPr/>
          <p:nvPr/>
        </p:nvSpPr>
        <p:spPr>
          <a:xfrm>
            <a:off x="365760" y="777240"/>
            <a:ext cx="8412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700" b="1" noProof="0" dirty="0">
                <a:solidFill>
                  <a:srgbClr val="1A2F4E"/>
                </a:solidFill>
              </a:rPr>
              <a:t>À partir des données cliniques d'un patient, est-il possible de prédire</a:t>
            </a:r>
            <a:endParaRPr lang="fr-FR" sz="1700" noProof="0" dirty="0"/>
          </a:p>
          <a:p>
            <a:pPr marL="0" indent="0" algn="ctr">
              <a:buNone/>
            </a:pPr>
            <a:r>
              <a:rPr lang="fr-FR" sz="1700" b="1" noProof="0" dirty="0">
                <a:solidFill>
                  <a:srgbClr val="1A2F4E"/>
                </a:solidFill>
              </a:rPr>
              <a:t>le risque de développer une maladie coronarienne dans les 10 ans ?</a:t>
            </a:r>
            <a:endParaRPr lang="fr-FR" sz="1700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57E1C38-11A2-913A-998B-9BDCB86FED7D}"/>
              </a:ext>
            </a:extLst>
          </p:cNvPr>
          <p:cNvSpPr/>
          <p:nvPr/>
        </p:nvSpPr>
        <p:spPr>
          <a:xfrm>
            <a:off x="274320" y="2148840"/>
            <a:ext cx="2651760" cy="38404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3A404CD-3AB6-7EE8-EEA0-098E8CA2C12B}"/>
              </a:ext>
            </a:extLst>
          </p:cNvPr>
          <p:cNvSpPr/>
          <p:nvPr/>
        </p:nvSpPr>
        <p:spPr>
          <a:xfrm>
            <a:off x="274320" y="2148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</a:rPr>
              <a:t>Enjeux médicaux</a:t>
            </a:r>
            <a:endParaRPr lang="fr-FR" sz="1200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9BBF636-DADA-BBC4-55DC-F6DE4D9C0707}"/>
              </a:ext>
            </a:extLst>
          </p:cNvPr>
          <p:cNvSpPr/>
          <p:nvPr/>
        </p:nvSpPr>
        <p:spPr>
          <a:xfrm>
            <a:off x="274320" y="2532888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4717040-CA17-57B2-41A4-6EDB49B31E2D}"/>
              </a:ext>
            </a:extLst>
          </p:cNvPr>
          <p:cNvSpPr/>
          <p:nvPr/>
        </p:nvSpPr>
        <p:spPr>
          <a:xfrm>
            <a:off x="365760" y="25786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·  Dépistage précoce = vies sauvées</a:t>
            </a:r>
            <a:endParaRPr lang="fr-FR" sz="1100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2733330-F5FC-58BD-5157-74CAEBDAB34F}"/>
              </a:ext>
            </a:extLst>
          </p:cNvPr>
          <p:cNvSpPr/>
          <p:nvPr/>
        </p:nvSpPr>
        <p:spPr>
          <a:xfrm>
            <a:off x="274320" y="3008376"/>
            <a:ext cx="265176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886E6C3-019E-9AC0-0311-EE8136EEA2A1}"/>
              </a:ext>
            </a:extLst>
          </p:cNvPr>
          <p:cNvSpPr/>
          <p:nvPr/>
        </p:nvSpPr>
        <p:spPr>
          <a:xfrm>
            <a:off x="365760" y="305409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·  Coûts de santé réduits</a:t>
            </a:r>
            <a:endParaRPr lang="fr-FR" sz="1100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455C8FA5-094A-FE50-685C-6EF64029D34F}"/>
              </a:ext>
            </a:extLst>
          </p:cNvPr>
          <p:cNvSpPr/>
          <p:nvPr/>
        </p:nvSpPr>
        <p:spPr>
          <a:xfrm>
            <a:off x="274320" y="3483864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69565E5-4EC5-D479-DAF7-CBB840255712}"/>
              </a:ext>
            </a:extLst>
          </p:cNvPr>
          <p:cNvSpPr/>
          <p:nvPr/>
        </p:nvSpPr>
        <p:spPr>
          <a:xfrm>
            <a:off x="365760" y="35295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·  Aide à la décision clinique</a:t>
            </a:r>
            <a:endParaRPr lang="fr-FR" sz="1100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1024476-6251-609E-C512-4AFA577509E5}"/>
              </a:ext>
            </a:extLst>
          </p:cNvPr>
          <p:cNvSpPr/>
          <p:nvPr/>
        </p:nvSpPr>
        <p:spPr>
          <a:xfrm>
            <a:off x="3154680" y="2148840"/>
            <a:ext cx="2651760" cy="38404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34C12DD-298A-2D4A-629E-7F496119A63F}"/>
              </a:ext>
            </a:extLst>
          </p:cNvPr>
          <p:cNvSpPr/>
          <p:nvPr/>
        </p:nvSpPr>
        <p:spPr>
          <a:xfrm>
            <a:off x="3154680" y="2148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</a:rPr>
              <a:t>Objectif principal</a:t>
            </a:r>
            <a:endParaRPr lang="fr-FR" sz="1200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7BB777E-30C5-3876-36E8-D185568F22D4}"/>
              </a:ext>
            </a:extLst>
          </p:cNvPr>
          <p:cNvSpPr/>
          <p:nvPr/>
        </p:nvSpPr>
        <p:spPr>
          <a:xfrm>
            <a:off x="3154680" y="2532888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CE8997A-64C0-16C8-5FDF-92C79D716CB8}"/>
              </a:ext>
            </a:extLst>
          </p:cNvPr>
          <p:cNvSpPr/>
          <p:nvPr/>
        </p:nvSpPr>
        <p:spPr>
          <a:xfrm>
            <a:off x="3246120" y="25786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·  Prédire </a:t>
            </a:r>
            <a:r>
              <a:rPr lang="fr-FR" sz="1100" noProof="0" dirty="0" err="1">
                <a:solidFill>
                  <a:srgbClr val="1A1A2E"/>
                </a:solidFill>
              </a:rPr>
              <a:t>TenYearCHD</a:t>
            </a:r>
            <a:r>
              <a:rPr lang="fr-FR" sz="1100" noProof="0" dirty="0">
                <a:solidFill>
                  <a:srgbClr val="1A1A2E"/>
                </a:solidFill>
              </a:rPr>
              <a:t> (0 / 1)</a:t>
            </a:r>
            <a:endParaRPr lang="fr-FR" sz="1100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6AC57688-52D5-A9AE-30C1-57647F72DC05}"/>
              </a:ext>
            </a:extLst>
          </p:cNvPr>
          <p:cNvSpPr/>
          <p:nvPr/>
        </p:nvSpPr>
        <p:spPr>
          <a:xfrm>
            <a:off x="3154680" y="3008376"/>
            <a:ext cx="265176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9CA9B12-8EAD-9CB7-C9D1-175B18147FB6}"/>
              </a:ext>
            </a:extLst>
          </p:cNvPr>
          <p:cNvSpPr/>
          <p:nvPr/>
        </p:nvSpPr>
        <p:spPr>
          <a:xfrm>
            <a:off x="3246120" y="305409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·  Maximiser le Rappel*</a:t>
            </a:r>
            <a:endParaRPr lang="fr-FR" sz="1100" noProof="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9DB33542-CFBC-3C66-5324-F03452B43A49}"/>
              </a:ext>
            </a:extLst>
          </p:cNvPr>
          <p:cNvSpPr/>
          <p:nvPr/>
        </p:nvSpPr>
        <p:spPr>
          <a:xfrm>
            <a:off x="3154680" y="3483864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D450158-2AB2-D145-B104-066B7AA4FB34}"/>
              </a:ext>
            </a:extLst>
          </p:cNvPr>
          <p:cNvSpPr/>
          <p:nvPr/>
        </p:nvSpPr>
        <p:spPr>
          <a:xfrm>
            <a:off x="3246120" y="35295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·  Interpréter les facteurs de risque</a:t>
            </a:r>
            <a:endParaRPr lang="fr-FR" sz="1100" noProof="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0461FFF0-0E87-7B16-B587-731F195943D7}"/>
              </a:ext>
            </a:extLst>
          </p:cNvPr>
          <p:cNvSpPr/>
          <p:nvPr/>
        </p:nvSpPr>
        <p:spPr>
          <a:xfrm>
            <a:off x="6035040" y="2148840"/>
            <a:ext cx="2651760" cy="384048"/>
          </a:xfrm>
          <a:prstGeom prst="rect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A3BB8D8-0A95-DE4C-EE21-18B01B17746F}"/>
              </a:ext>
            </a:extLst>
          </p:cNvPr>
          <p:cNvSpPr/>
          <p:nvPr/>
        </p:nvSpPr>
        <p:spPr>
          <a:xfrm>
            <a:off x="6035040" y="2148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</a:rPr>
              <a:t>Approche retenue</a:t>
            </a:r>
            <a:endParaRPr lang="fr-FR" sz="1200" noProof="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26E19FF-3A1A-BA27-754E-7857ACDDA1E9}"/>
              </a:ext>
            </a:extLst>
          </p:cNvPr>
          <p:cNvSpPr/>
          <p:nvPr/>
        </p:nvSpPr>
        <p:spPr>
          <a:xfrm>
            <a:off x="6035040" y="2532888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C0C74E2-680E-74EB-BA0C-880F095FCC73}"/>
              </a:ext>
            </a:extLst>
          </p:cNvPr>
          <p:cNvSpPr/>
          <p:nvPr/>
        </p:nvSpPr>
        <p:spPr>
          <a:xfrm>
            <a:off x="6126480" y="25786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·  Classification supervisée</a:t>
            </a:r>
            <a:endParaRPr lang="fr-FR" sz="1100" noProof="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FBD835B8-17CE-9DDE-1B0D-450EA0DCAF3F}"/>
              </a:ext>
            </a:extLst>
          </p:cNvPr>
          <p:cNvSpPr/>
          <p:nvPr/>
        </p:nvSpPr>
        <p:spPr>
          <a:xfrm>
            <a:off x="6035040" y="3008376"/>
            <a:ext cx="265176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A138D43-8538-C522-437A-2BA3B29D17A9}"/>
              </a:ext>
            </a:extLst>
          </p:cNvPr>
          <p:cNvSpPr/>
          <p:nvPr/>
        </p:nvSpPr>
        <p:spPr>
          <a:xfrm>
            <a:off x="6126480" y="305409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·  Validation croisée 5 plis</a:t>
            </a:r>
            <a:endParaRPr lang="fr-FR" sz="1100" noProof="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1455CE43-EAB2-698B-BCCD-9FBE0293BFF8}"/>
              </a:ext>
            </a:extLst>
          </p:cNvPr>
          <p:cNvSpPr/>
          <p:nvPr/>
        </p:nvSpPr>
        <p:spPr>
          <a:xfrm>
            <a:off x="6035040" y="3483864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18F2726-AECC-4386-1C14-EBF1A71BA2E4}"/>
              </a:ext>
            </a:extLst>
          </p:cNvPr>
          <p:cNvSpPr/>
          <p:nvPr/>
        </p:nvSpPr>
        <p:spPr>
          <a:xfrm>
            <a:off x="6126480" y="35295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·  Optimisation du seuil de décision</a:t>
            </a:r>
            <a:endParaRPr lang="fr-FR" sz="1100" noProof="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F7D6D4C-F62F-CFAC-53CA-4459E37791B9}"/>
              </a:ext>
            </a:extLst>
          </p:cNvPr>
          <p:cNvSpPr/>
          <p:nvPr/>
        </p:nvSpPr>
        <p:spPr>
          <a:xfrm>
            <a:off x="274320" y="420624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* En contexte médical : mieux vaut alerter un patient sain que manquer un patient malade.</a:t>
            </a:r>
            <a:endParaRPr lang="fr-FR" sz="1000" noProof="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CE19F12-6815-47DE-00F9-9E241BA56647}"/>
              </a:ext>
            </a:extLst>
          </p:cNvPr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314A34CE-C136-4A6D-8654-D6ADEFB01133}"/>
              </a:ext>
            </a:extLst>
          </p:cNvPr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|  </a:t>
            </a:r>
            <a:r>
              <a:rPr lang="fr-FR" sz="900" noProof="0" dirty="0" err="1">
                <a:solidFill>
                  <a:srgbClr val="6BA4C8"/>
                </a:solidFill>
              </a:rPr>
              <a:t>TenYearCHD</a:t>
            </a:r>
            <a:r>
              <a:rPr lang="fr-FR" sz="900" noProof="0" dirty="0">
                <a:solidFill>
                  <a:srgbClr val="6BA4C8"/>
                </a:solidFill>
              </a:rPr>
              <a:t>  |  2026</a:t>
            </a:r>
            <a:endParaRPr lang="fr-FR" sz="900" noProof="0" dirty="0"/>
          </a:p>
        </p:txBody>
      </p:sp>
    </p:spTree>
    <p:extLst>
      <p:ext uri="{BB962C8B-B14F-4D97-AF65-F5344CB8AC3E}">
        <p14:creationId xmlns:p14="http://schemas.microsoft.com/office/powerpoint/2010/main" val="2246595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APERÇU DES DONNÉES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300" noProof="0" dirty="0">
                <a:solidFill>
                  <a:srgbClr val="7BAFD4"/>
                </a:solidFill>
              </a:rPr>
              <a:t>04 / 14</a:t>
            </a:r>
            <a:endParaRPr lang="fr-F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1965960" cy="960120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228600" y="7955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2600" b="1" noProof="0" dirty="0">
                <a:solidFill>
                  <a:srgbClr val="FFFFFF"/>
                </a:solidFill>
              </a:rPr>
              <a:t>4 240</a:t>
            </a:r>
            <a:endParaRPr lang="fr-FR" sz="2600" noProof="0" dirty="0"/>
          </a:p>
        </p:txBody>
      </p:sp>
      <p:sp>
        <p:nvSpPr>
          <p:cNvPr id="7" name="Text 5"/>
          <p:cNvSpPr/>
          <p:nvPr/>
        </p:nvSpPr>
        <p:spPr>
          <a:xfrm>
            <a:off x="228600" y="129844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CCE0F5"/>
                </a:solidFill>
              </a:rPr>
              <a:t>Observations</a:t>
            </a:r>
            <a:endParaRPr lang="fr-FR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2404872" y="749808"/>
            <a:ext cx="1965960" cy="96012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7"/>
          <p:cNvSpPr/>
          <p:nvPr/>
        </p:nvSpPr>
        <p:spPr>
          <a:xfrm>
            <a:off x="2404872" y="7955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2600" b="1" noProof="0" dirty="0">
                <a:solidFill>
                  <a:srgbClr val="FFFFFF"/>
                </a:solidFill>
              </a:rPr>
              <a:t>16</a:t>
            </a:r>
            <a:endParaRPr lang="fr-FR" sz="2600" noProof="0" dirty="0"/>
          </a:p>
        </p:txBody>
      </p:sp>
      <p:sp>
        <p:nvSpPr>
          <p:cNvPr id="10" name="Text 8"/>
          <p:cNvSpPr/>
          <p:nvPr/>
        </p:nvSpPr>
        <p:spPr>
          <a:xfrm>
            <a:off x="2404872" y="129844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CCE0F5"/>
                </a:solidFill>
              </a:rPr>
              <a:t>Variables initiales</a:t>
            </a:r>
            <a:endParaRPr lang="fr-FR" sz="1000" noProof="0" dirty="0"/>
          </a:p>
        </p:txBody>
      </p:sp>
      <p:sp>
        <p:nvSpPr>
          <p:cNvPr id="11" name="Shape 9"/>
          <p:cNvSpPr/>
          <p:nvPr/>
        </p:nvSpPr>
        <p:spPr>
          <a:xfrm>
            <a:off x="4581144" y="749808"/>
            <a:ext cx="1965960" cy="960120"/>
          </a:xfrm>
          <a:prstGeom prst="rect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4581144" y="7955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2600" b="1" noProof="0" dirty="0">
                <a:solidFill>
                  <a:srgbClr val="FFFFFF"/>
                </a:solidFill>
              </a:rPr>
              <a:t>11</a:t>
            </a:r>
            <a:endParaRPr lang="fr-FR" sz="2600" noProof="0" dirty="0"/>
          </a:p>
        </p:txBody>
      </p:sp>
      <p:sp>
        <p:nvSpPr>
          <p:cNvPr id="13" name="Text 11"/>
          <p:cNvSpPr/>
          <p:nvPr/>
        </p:nvSpPr>
        <p:spPr>
          <a:xfrm>
            <a:off x="4581144" y="129844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CCE0F5"/>
                </a:solidFill>
              </a:rPr>
              <a:t>Variables retenues</a:t>
            </a:r>
            <a:endParaRPr lang="fr-FR" sz="1000" noProof="0" dirty="0"/>
          </a:p>
        </p:txBody>
      </p:sp>
      <p:sp>
        <p:nvSpPr>
          <p:cNvPr id="14" name="Shape 12"/>
          <p:cNvSpPr/>
          <p:nvPr/>
        </p:nvSpPr>
        <p:spPr>
          <a:xfrm>
            <a:off x="6757416" y="749808"/>
            <a:ext cx="1965960" cy="960120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6757416" y="7955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2600" b="1" noProof="0" dirty="0">
                <a:solidFill>
                  <a:srgbClr val="FFFFFF"/>
                </a:solidFill>
              </a:rPr>
              <a:t>15,2%</a:t>
            </a:r>
            <a:endParaRPr lang="fr-FR" sz="2600" noProof="0" dirty="0"/>
          </a:p>
        </p:txBody>
      </p:sp>
      <p:sp>
        <p:nvSpPr>
          <p:cNvPr id="16" name="Text 14"/>
          <p:cNvSpPr/>
          <p:nvPr/>
        </p:nvSpPr>
        <p:spPr>
          <a:xfrm>
            <a:off x="6757416" y="129844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CCE0F5"/>
                </a:solidFill>
              </a:rPr>
              <a:t>Taux de CHD positifs</a:t>
            </a:r>
            <a:endParaRPr lang="fr-F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274320" y="18745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A2F4E"/>
                </a:solidFill>
              </a:rPr>
              <a:t>Variable cible : </a:t>
            </a:r>
            <a:r>
              <a:rPr lang="fr-FR" sz="1300" b="1" noProof="0" dirty="0" err="1">
                <a:solidFill>
                  <a:srgbClr val="1A2F4E"/>
                </a:solidFill>
              </a:rPr>
              <a:t>TenYearCHD</a:t>
            </a:r>
            <a:endParaRPr lang="fr-FR" sz="1300" noProof="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274320" y="2240280"/>
          <a:ext cx="411480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0" y="1874520"/>
            <a:ext cx="4297680" cy="274320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7"/>
          <p:cNvSpPr/>
          <p:nvPr/>
        </p:nvSpPr>
        <p:spPr>
          <a:xfrm>
            <a:off x="4663440" y="1938528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A2F4E"/>
                </a:solidFill>
              </a:rPr>
              <a:t>Déséquilibre des classes</a:t>
            </a:r>
            <a:endParaRPr lang="fr-FR" sz="1200" noProof="0" dirty="0"/>
          </a:p>
        </p:txBody>
      </p:sp>
      <p:sp>
        <p:nvSpPr>
          <p:cNvPr id="21" name="Shape 18"/>
          <p:cNvSpPr/>
          <p:nvPr/>
        </p:nvSpPr>
        <p:spPr>
          <a:xfrm>
            <a:off x="4663440" y="233172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19"/>
          <p:cNvSpPr/>
          <p:nvPr/>
        </p:nvSpPr>
        <p:spPr>
          <a:xfrm>
            <a:off x="4709160" y="23774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2471A3"/>
                </a:solidFill>
              </a:rPr>
              <a:t>Ratio  : </a:t>
            </a:r>
            <a:endParaRPr lang="fr-FR" sz="1100" noProof="0" dirty="0"/>
          </a:p>
        </p:txBody>
      </p:sp>
      <p:sp>
        <p:nvSpPr>
          <p:cNvPr id="23" name="Text 20"/>
          <p:cNvSpPr/>
          <p:nvPr/>
        </p:nvSpPr>
        <p:spPr>
          <a:xfrm>
            <a:off x="585216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6 : 1  (Non-CHD vs CHD)</a:t>
            </a:r>
            <a:endParaRPr lang="fr-FR" sz="1100" noProof="0" dirty="0"/>
          </a:p>
        </p:txBody>
      </p:sp>
      <p:sp>
        <p:nvSpPr>
          <p:cNvPr id="24" name="Shape 21"/>
          <p:cNvSpPr/>
          <p:nvPr/>
        </p:nvSpPr>
        <p:spPr>
          <a:xfrm>
            <a:off x="4663440" y="2862072"/>
            <a:ext cx="4114800" cy="457200"/>
          </a:xfrm>
          <a:prstGeom prst="rect">
            <a:avLst/>
          </a:prstGeom>
          <a:solidFill>
            <a:srgbClr val="D6EAF8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Text 22"/>
          <p:cNvSpPr/>
          <p:nvPr/>
        </p:nvSpPr>
        <p:spPr>
          <a:xfrm>
            <a:off x="4709160" y="290779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2471A3"/>
                </a:solidFill>
              </a:rPr>
              <a:t>Conséquence  : </a:t>
            </a:r>
            <a:endParaRPr lang="fr-FR" sz="1100" noProof="0" dirty="0"/>
          </a:p>
        </p:txBody>
      </p:sp>
      <p:sp>
        <p:nvSpPr>
          <p:cNvPr id="26" name="Text 23"/>
          <p:cNvSpPr/>
          <p:nvPr/>
        </p:nvSpPr>
        <p:spPr>
          <a:xfrm>
            <a:off x="5852160" y="290779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L'</a:t>
            </a:r>
            <a:r>
              <a:rPr lang="fr-FR" sz="1100" noProof="0" dirty="0" err="1">
                <a:solidFill>
                  <a:srgbClr val="1A1A2E"/>
                </a:solidFill>
              </a:rPr>
              <a:t>accuracy</a:t>
            </a:r>
            <a:r>
              <a:rPr lang="fr-FR" sz="1100" noProof="0" dirty="0">
                <a:solidFill>
                  <a:srgbClr val="1A1A2E"/>
                </a:solidFill>
              </a:rPr>
              <a:t> seule est trompeuse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(</a:t>
            </a:r>
            <a:r>
              <a:rPr lang="fr-FR" sz="1100" noProof="0" dirty="0" err="1">
                <a:solidFill>
                  <a:srgbClr val="1A1A2E"/>
                </a:solidFill>
              </a:rPr>
              <a:t>baseline</a:t>
            </a:r>
            <a:r>
              <a:rPr lang="fr-FR" sz="1100" noProof="0" dirty="0">
                <a:solidFill>
                  <a:srgbClr val="1A1A2E"/>
                </a:solidFill>
              </a:rPr>
              <a:t> = 84,8 %)</a:t>
            </a:r>
            <a:endParaRPr lang="fr-FR" sz="1100" noProof="0" dirty="0"/>
          </a:p>
        </p:txBody>
      </p:sp>
      <p:sp>
        <p:nvSpPr>
          <p:cNvPr id="27" name="Shape 24"/>
          <p:cNvSpPr/>
          <p:nvPr/>
        </p:nvSpPr>
        <p:spPr>
          <a:xfrm>
            <a:off x="4663440" y="3392424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8" name="Text 25"/>
          <p:cNvSpPr/>
          <p:nvPr/>
        </p:nvSpPr>
        <p:spPr>
          <a:xfrm>
            <a:off x="4709160" y="3438144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2471A3"/>
                </a:solidFill>
              </a:rPr>
              <a:t>Correction  : </a:t>
            </a:r>
            <a:endParaRPr lang="fr-FR" sz="1100" noProof="0" dirty="0"/>
          </a:p>
        </p:txBody>
      </p:sp>
      <p:sp>
        <p:nvSpPr>
          <p:cNvPr id="29" name="Text 26"/>
          <p:cNvSpPr/>
          <p:nvPr/>
        </p:nvSpPr>
        <p:spPr>
          <a:xfrm>
            <a:off x="5852160" y="343814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 err="1">
                <a:solidFill>
                  <a:srgbClr val="1A1A2E"/>
                </a:solidFill>
              </a:rPr>
              <a:t>class_weight</a:t>
            </a:r>
            <a:r>
              <a:rPr lang="fr-FR" sz="1100" noProof="0" dirty="0">
                <a:solidFill>
                  <a:srgbClr val="1A1A2E"/>
                </a:solidFill>
              </a:rPr>
              <a:t>='équilibré'</a:t>
            </a:r>
            <a:endParaRPr lang="fr-FR" sz="1100" noProof="0" dirty="0"/>
          </a:p>
        </p:txBody>
      </p:sp>
      <p:sp>
        <p:nvSpPr>
          <p:cNvPr id="30" name="Shape 27"/>
          <p:cNvSpPr/>
          <p:nvPr/>
        </p:nvSpPr>
        <p:spPr>
          <a:xfrm>
            <a:off x="4663440" y="3922776"/>
            <a:ext cx="4114800" cy="457200"/>
          </a:xfrm>
          <a:prstGeom prst="rect">
            <a:avLst/>
          </a:prstGeom>
          <a:solidFill>
            <a:srgbClr val="D6EAF8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8"/>
          <p:cNvSpPr/>
          <p:nvPr/>
        </p:nvSpPr>
        <p:spPr>
          <a:xfrm>
            <a:off x="4709160" y="396849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2471A3"/>
                </a:solidFill>
              </a:rPr>
              <a:t>Métriques clés  : </a:t>
            </a:r>
            <a:endParaRPr lang="fr-FR" sz="1100" noProof="0" dirty="0"/>
          </a:p>
        </p:txBody>
      </p:sp>
      <p:sp>
        <p:nvSpPr>
          <p:cNvPr id="32" name="Text 29"/>
          <p:cNvSpPr/>
          <p:nvPr/>
        </p:nvSpPr>
        <p:spPr>
          <a:xfrm>
            <a:off x="5852160" y="3968496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A1A2E"/>
                </a:solidFill>
              </a:rPr>
              <a:t>AUC-ROC  et  Rappel</a:t>
            </a:r>
            <a:endParaRPr lang="fr-FR" sz="1100" noProof="0" dirty="0"/>
          </a:p>
        </p:txBody>
      </p:sp>
      <p:sp>
        <p:nvSpPr>
          <p:cNvPr id="33" name="Shape 30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31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|  </a:t>
            </a:r>
            <a:r>
              <a:rPr lang="fr-FR" sz="900" noProof="0" dirty="0" err="1">
                <a:solidFill>
                  <a:srgbClr val="6BA4C8"/>
                </a:solidFill>
              </a:rPr>
              <a:t>TenYearCHD</a:t>
            </a:r>
            <a:r>
              <a:rPr lang="fr-FR" sz="900" noProof="0" dirty="0">
                <a:solidFill>
                  <a:srgbClr val="6BA4C8"/>
                </a:solidFill>
              </a:rPr>
              <a:t>  |  2026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APERÇU DES DONNÉES — VARIABLES RETENUES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300" dirty="0">
                <a:solidFill>
                  <a:srgbClr val="7BAFD4"/>
                </a:solidFill>
              </a:rPr>
              <a:t>05</a:t>
            </a:r>
            <a:r>
              <a:rPr lang="fr-FR" sz="1300" noProof="0" dirty="0">
                <a:solidFill>
                  <a:srgbClr val="7BAFD4"/>
                </a:solidFill>
              </a:rPr>
              <a:t> / 14</a:t>
            </a:r>
            <a:endParaRPr lang="fr-FR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274320" y="749808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555555"/>
                </a:solidFill>
              </a:rPr>
              <a:t>11 variables sélectionnées après tri par corrélation absolue avec </a:t>
            </a:r>
            <a:r>
              <a:rPr lang="fr-FR" sz="1100" noProof="0" dirty="0" err="1">
                <a:solidFill>
                  <a:srgbClr val="555555"/>
                </a:solidFill>
              </a:rPr>
              <a:t>TenYearCHD</a:t>
            </a:r>
            <a:endParaRPr lang="fr-F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8595360" cy="33832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Text 5"/>
          <p:cNvSpPr/>
          <p:nvPr/>
        </p:nvSpPr>
        <p:spPr>
          <a:xfrm>
            <a:off x="320040" y="1133856"/>
            <a:ext cx="2358944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Variable</a:t>
            </a:r>
            <a:endParaRPr lang="fr-FR" sz="1100" noProof="0" dirty="0"/>
          </a:p>
        </p:txBody>
      </p:sp>
      <p:sp>
        <p:nvSpPr>
          <p:cNvPr id="9" name="Text 7"/>
          <p:cNvSpPr/>
          <p:nvPr/>
        </p:nvSpPr>
        <p:spPr>
          <a:xfrm>
            <a:off x="3246120" y="1133856"/>
            <a:ext cx="1366113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Catégorie</a:t>
            </a:r>
            <a:endParaRPr lang="fr-FR" sz="1100" noProof="0" dirty="0"/>
          </a:p>
        </p:txBody>
      </p:sp>
      <p:sp>
        <p:nvSpPr>
          <p:cNvPr id="11" name="Text 9"/>
          <p:cNvSpPr/>
          <p:nvPr/>
        </p:nvSpPr>
        <p:spPr>
          <a:xfrm>
            <a:off x="4709160" y="1133856"/>
            <a:ext cx="3910340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Description</a:t>
            </a:r>
            <a:endParaRPr lang="fr-FR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274320" y="1481328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3200400" y="14813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Shape 12"/>
          <p:cNvSpPr/>
          <p:nvPr/>
        </p:nvSpPr>
        <p:spPr>
          <a:xfrm>
            <a:off x="4663440" y="1481328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320040" y="1508760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2471A3"/>
                </a:solidFill>
              </a:rPr>
              <a:t>age_sysBP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3218688" y="1517904"/>
            <a:ext cx="914400" cy="201168"/>
          </a:xfrm>
          <a:prstGeom prst="rect">
            <a:avLst/>
          </a:prstGeom>
          <a:solidFill>
            <a:srgbClr val="B03A2E">
              <a:alpha val="80000"/>
            </a:srgbClr>
          </a:solidFill>
          <a:ln w="12700">
            <a:solidFill>
              <a:srgbClr val="B03A2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Text 15"/>
          <p:cNvSpPr/>
          <p:nvPr/>
        </p:nvSpPr>
        <p:spPr>
          <a:xfrm>
            <a:off x="3236976" y="1517904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</a:rPr>
              <a:t>Interaction</a:t>
            </a:r>
            <a:endParaRPr lang="fr-FR" sz="900" noProof="0" dirty="0"/>
          </a:p>
        </p:txBody>
      </p:sp>
      <p:sp>
        <p:nvSpPr>
          <p:cNvPr id="18" name="Text 16"/>
          <p:cNvSpPr/>
          <p:nvPr/>
        </p:nvSpPr>
        <p:spPr>
          <a:xfrm>
            <a:off x="4709160" y="150876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Interaction âge × pression systolique (variable construite)</a:t>
            </a:r>
            <a:endParaRPr lang="fr-FR" sz="1000" noProof="0" dirty="0"/>
          </a:p>
        </p:txBody>
      </p:sp>
      <p:sp>
        <p:nvSpPr>
          <p:cNvPr id="19" name="Shape 17"/>
          <p:cNvSpPr/>
          <p:nvPr/>
        </p:nvSpPr>
        <p:spPr>
          <a:xfrm>
            <a:off x="274320" y="1773936"/>
            <a:ext cx="288036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Shape 18"/>
          <p:cNvSpPr/>
          <p:nvPr/>
        </p:nvSpPr>
        <p:spPr>
          <a:xfrm>
            <a:off x="3200400" y="1773936"/>
            <a:ext cx="141732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4663440" y="1773936"/>
            <a:ext cx="4169664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320040" y="1801368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2471A3"/>
                </a:solidFill>
              </a:rPr>
              <a:t>risk_score</a:t>
            </a:r>
            <a:endParaRPr lang="fr-FR" sz="1000" noProof="0" dirty="0"/>
          </a:p>
        </p:txBody>
      </p:sp>
      <p:sp>
        <p:nvSpPr>
          <p:cNvPr id="23" name="Shape 21"/>
          <p:cNvSpPr/>
          <p:nvPr/>
        </p:nvSpPr>
        <p:spPr>
          <a:xfrm>
            <a:off x="3218688" y="1810512"/>
            <a:ext cx="914400" cy="201168"/>
          </a:xfrm>
          <a:prstGeom prst="rect">
            <a:avLst/>
          </a:prstGeom>
          <a:solidFill>
            <a:srgbClr val="1A2F4E">
              <a:alpha val="80000"/>
            </a:srgbClr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2"/>
          <p:cNvSpPr/>
          <p:nvPr/>
        </p:nvSpPr>
        <p:spPr>
          <a:xfrm>
            <a:off x="3236976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</a:rPr>
              <a:t>Score</a:t>
            </a:r>
            <a:endParaRPr lang="fr-FR" sz="900" noProof="0" dirty="0"/>
          </a:p>
        </p:txBody>
      </p:sp>
      <p:sp>
        <p:nvSpPr>
          <p:cNvPr id="25" name="Text 23"/>
          <p:cNvSpPr/>
          <p:nvPr/>
        </p:nvSpPr>
        <p:spPr>
          <a:xfrm>
            <a:off x="4709160" y="1801368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Score composite de 7 facteurs cliniques</a:t>
            </a:r>
            <a:endParaRPr lang="fr-FR" sz="1000" noProof="0" dirty="0"/>
          </a:p>
        </p:txBody>
      </p:sp>
      <p:sp>
        <p:nvSpPr>
          <p:cNvPr id="26" name="Shape 24"/>
          <p:cNvSpPr/>
          <p:nvPr/>
        </p:nvSpPr>
        <p:spPr>
          <a:xfrm>
            <a:off x="274320" y="2066544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Shape 25"/>
          <p:cNvSpPr/>
          <p:nvPr/>
        </p:nvSpPr>
        <p:spPr>
          <a:xfrm>
            <a:off x="3200400" y="2066544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8" name="Shape 26"/>
          <p:cNvSpPr/>
          <p:nvPr/>
        </p:nvSpPr>
        <p:spPr>
          <a:xfrm>
            <a:off x="4663440" y="2066544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27"/>
          <p:cNvSpPr/>
          <p:nvPr/>
        </p:nvSpPr>
        <p:spPr>
          <a:xfrm>
            <a:off x="320040" y="2093976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2471A3"/>
                </a:solidFill>
              </a:rPr>
              <a:t>age</a:t>
            </a:r>
            <a:endParaRPr lang="fr-FR" sz="1000" noProof="0" dirty="0"/>
          </a:p>
        </p:txBody>
      </p:sp>
      <p:sp>
        <p:nvSpPr>
          <p:cNvPr id="30" name="Shape 28"/>
          <p:cNvSpPr/>
          <p:nvPr/>
        </p:nvSpPr>
        <p:spPr>
          <a:xfrm>
            <a:off x="3218688" y="2103120"/>
            <a:ext cx="914400" cy="201168"/>
          </a:xfrm>
          <a:prstGeom prst="rect">
            <a:avLst/>
          </a:prstGeom>
          <a:solidFill>
            <a:srgbClr val="2471A3">
              <a:alpha val="80000"/>
            </a:srgbClr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9"/>
          <p:cNvSpPr/>
          <p:nvPr/>
        </p:nvSpPr>
        <p:spPr>
          <a:xfrm>
            <a:off x="3236976" y="210312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</a:rPr>
              <a:t>Démographie</a:t>
            </a:r>
            <a:endParaRPr lang="fr-FR" sz="900" noProof="0" dirty="0"/>
          </a:p>
        </p:txBody>
      </p:sp>
      <p:sp>
        <p:nvSpPr>
          <p:cNvPr id="32" name="Text 30"/>
          <p:cNvSpPr/>
          <p:nvPr/>
        </p:nvSpPr>
        <p:spPr>
          <a:xfrm>
            <a:off x="4709160" y="2093976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Âge du patient (en années)</a:t>
            </a:r>
            <a:endParaRPr lang="fr-FR" sz="1000" noProof="0" dirty="0"/>
          </a:p>
        </p:txBody>
      </p:sp>
      <p:sp>
        <p:nvSpPr>
          <p:cNvPr id="33" name="Shape 31"/>
          <p:cNvSpPr/>
          <p:nvPr/>
        </p:nvSpPr>
        <p:spPr>
          <a:xfrm>
            <a:off x="274320" y="2359152"/>
            <a:ext cx="288036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Shape 32"/>
          <p:cNvSpPr/>
          <p:nvPr/>
        </p:nvSpPr>
        <p:spPr>
          <a:xfrm>
            <a:off x="3200400" y="2359152"/>
            <a:ext cx="141732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5" name="Shape 33"/>
          <p:cNvSpPr/>
          <p:nvPr/>
        </p:nvSpPr>
        <p:spPr>
          <a:xfrm>
            <a:off x="4663440" y="2359152"/>
            <a:ext cx="4169664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6" name="Text 34"/>
          <p:cNvSpPr/>
          <p:nvPr/>
        </p:nvSpPr>
        <p:spPr>
          <a:xfrm>
            <a:off x="320040" y="2386584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2471A3"/>
                </a:solidFill>
              </a:rPr>
              <a:t>sysBP</a:t>
            </a:r>
            <a:endParaRPr lang="fr-FR" sz="1000" noProof="0" dirty="0"/>
          </a:p>
        </p:txBody>
      </p:sp>
      <p:sp>
        <p:nvSpPr>
          <p:cNvPr id="37" name="Shape 35"/>
          <p:cNvSpPr/>
          <p:nvPr/>
        </p:nvSpPr>
        <p:spPr>
          <a:xfrm>
            <a:off x="3218688" y="2395728"/>
            <a:ext cx="914400" cy="201168"/>
          </a:xfrm>
          <a:prstGeom prst="rect">
            <a:avLst/>
          </a:prstGeom>
          <a:solidFill>
            <a:srgbClr val="1D6A3C">
              <a:alpha val="80000"/>
            </a:srgbClr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8" name="Text 36"/>
          <p:cNvSpPr/>
          <p:nvPr/>
        </p:nvSpPr>
        <p:spPr>
          <a:xfrm>
            <a:off x="3236976" y="2395728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</a:rPr>
              <a:t>Cardiovasc</a:t>
            </a:r>
            <a:r>
              <a:rPr lang="fr-FR" sz="900" b="1" noProof="0" dirty="0">
                <a:solidFill>
                  <a:srgbClr val="FFFFFF"/>
                </a:solidFill>
              </a:rPr>
              <a:t>.</a:t>
            </a:r>
            <a:endParaRPr lang="fr-FR" sz="900" noProof="0" dirty="0"/>
          </a:p>
        </p:txBody>
      </p:sp>
      <p:sp>
        <p:nvSpPr>
          <p:cNvPr id="39" name="Text 37"/>
          <p:cNvSpPr/>
          <p:nvPr/>
        </p:nvSpPr>
        <p:spPr>
          <a:xfrm>
            <a:off x="4709160" y="23865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Pression artérielle systolique (</a:t>
            </a:r>
            <a:r>
              <a:rPr lang="fr-FR" sz="1000" noProof="0" dirty="0" err="1">
                <a:solidFill>
                  <a:srgbClr val="1A1A2E"/>
                </a:solidFill>
              </a:rPr>
              <a:t>mmHg</a:t>
            </a:r>
            <a:r>
              <a:rPr lang="fr-FR" sz="1000" noProof="0" dirty="0">
                <a:solidFill>
                  <a:srgbClr val="1A1A2E"/>
                </a:solidFill>
              </a:rPr>
              <a:t>)</a:t>
            </a:r>
            <a:endParaRPr lang="fr-FR" sz="1000" noProof="0" dirty="0"/>
          </a:p>
        </p:txBody>
      </p:sp>
      <p:sp>
        <p:nvSpPr>
          <p:cNvPr id="40" name="Shape 38"/>
          <p:cNvSpPr/>
          <p:nvPr/>
        </p:nvSpPr>
        <p:spPr>
          <a:xfrm>
            <a:off x="274320" y="2651760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Shape 39"/>
          <p:cNvSpPr/>
          <p:nvPr/>
        </p:nvSpPr>
        <p:spPr>
          <a:xfrm>
            <a:off x="3200400" y="2651760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2" name="Shape 40"/>
          <p:cNvSpPr/>
          <p:nvPr/>
        </p:nvSpPr>
        <p:spPr>
          <a:xfrm>
            <a:off x="4663440" y="2651760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3" name="Text 41"/>
          <p:cNvSpPr/>
          <p:nvPr/>
        </p:nvSpPr>
        <p:spPr>
          <a:xfrm>
            <a:off x="320040" y="2679192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2471A3"/>
                </a:solidFill>
              </a:rPr>
              <a:t>pulse_pressure</a:t>
            </a:r>
            <a:endParaRPr lang="fr-FR" sz="1000" noProof="0" dirty="0"/>
          </a:p>
        </p:txBody>
      </p:sp>
      <p:sp>
        <p:nvSpPr>
          <p:cNvPr id="44" name="Shape 42"/>
          <p:cNvSpPr/>
          <p:nvPr/>
        </p:nvSpPr>
        <p:spPr>
          <a:xfrm>
            <a:off x="3218688" y="2688336"/>
            <a:ext cx="914400" cy="201168"/>
          </a:xfrm>
          <a:prstGeom prst="rect">
            <a:avLst/>
          </a:prstGeom>
          <a:solidFill>
            <a:srgbClr val="1D6A3C">
              <a:alpha val="80000"/>
            </a:srgbClr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5" name="Text 43"/>
          <p:cNvSpPr/>
          <p:nvPr/>
        </p:nvSpPr>
        <p:spPr>
          <a:xfrm>
            <a:off x="3236976" y="2688336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</a:rPr>
              <a:t>Cardiovasc</a:t>
            </a:r>
            <a:r>
              <a:rPr lang="fr-FR" sz="900" b="1" noProof="0" dirty="0">
                <a:solidFill>
                  <a:srgbClr val="FFFFFF"/>
                </a:solidFill>
              </a:rPr>
              <a:t>.</a:t>
            </a:r>
            <a:endParaRPr lang="fr-FR" sz="900" noProof="0" dirty="0"/>
          </a:p>
        </p:txBody>
      </p:sp>
      <p:sp>
        <p:nvSpPr>
          <p:cNvPr id="46" name="Text 44"/>
          <p:cNvSpPr/>
          <p:nvPr/>
        </p:nvSpPr>
        <p:spPr>
          <a:xfrm>
            <a:off x="4709160" y="2679192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Pression différentielle : </a:t>
            </a:r>
            <a:r>
              <a:rPr lang="fr-FR" sz="1000" noProof="0" dirty="0" err="1">
                <a:solidFill>
                  <a:srgbClr val="1A1A2E"/>
                </a:solidFill>
              </a:rPr>
              <a:t>sysBP</a:t>
            </a:r>
            <a:r>
              <a:rPr lang="fr-FR" sz="1000" noProof="0" dirty="0">
                <a:solidFill>
                  <a:srgbClr val="1A1A2E"/>
                </a:solidFill>
              </a:rPr>
              <a:t> − </a:t>
            </a:r>
            <a:r>
              <a:rPr lang="fr-FR" sz="1000" noProof="0" dirty="0" err="1">
                <a:solidFill>
                  <a:srgbClr val="1A1A2E"/>
                </a:solidFill>
              </a:rPr>
              <a:t>diaBP</a:t>
            </a:r>
            <a:endParaRPr lang="fr-FR" sz="1000" noProof="0" dirty="0"/>
          </a:p>
        </p:txBody>
      </p:sp>
      <p:sp>
        <p:nvSpPr>
          <p:cNvPr id="47" name="Shape 45"/>
          <p:cNvSpPr/>
          <p:nvPr/>
        </p:nvSpPr>
        <p:spPr>
          <a:xfrm>
            <a:off x="274320" y="2944368"/>
            <a:ext cx="288036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8" name="Shape 46"/>
          <p:cNvSpPr/>
          <p:nvPr/>
        </p:nvSpPr>
        <p:spPr>
          <a:xfrm>
            <a:off x="3200400" y="2944368"/>
            <a:ext cx="141732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9" name="Shape 47"/>
          <p:cNvSpPr/>
          <p:nvPr/>
        </p:nvSpPr>
        <p:spPr>
          <a:xfrm>
            <a:off x="4663440" y="2944368"/>
            <a:ext cx="4169664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0" name="Text 48"/>
          <p:cNvSpPr/>
          <p:nvPr/>
        </p:nvSpPr>
        <p:spPr>
          <a:xfrm>
            <a:off x="320040" y="2971800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2471A3"/>
                </a:solidFill>
              </a:rPr>
              <a:t>prevalentHyp</a:t>
            </a:r>
            <a:endParaRPr lang="fr-FR" sz="1000" noProof="0" dirty="0"/>
          </a:p>
        </p:txBody>
      </p:sp>
      <p:sp>
        <p:nvSpPr>
          <p:cNvPr id="51" name="Shape 49"/>
          <p:cNvSpPr/>
          <p:nvPr/>
        </p:nvSpPr>
        <p:spPr>
          <a:xfrm>
            <a:off x="3218688" y="2980944"/>
            <a:ext cx="914400" cy="201168"/>
          </a:xfrm>
          <a:prstGeom prst="rect">
            <a:avLst/>
          </a:prstGeom>
          <a:solidFill>
            <a:srgbClr val="7D3C98">
              <a:alpha val="80000"/>
            </a:srgbClr>
          </a:solidFill>
          <a:ln w="12700">
            <a:solidFill>
              <a:srgbClr val="7D3C9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2" name="Text 50"/>
          <p:cNvSpPr/>
          <p:nvPr/>
        </p:nvSpPr>
        <p:spPr>
          <a:xfrm>
            <a:off x="3236976" y="2980944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</a:rPr>
              <a:t>Pathologie</a:t>
            </a:r>
            <a:endParaRPr lang="fr-FR" sz="900" noProof="0" dirty="0"/>
          </a:p>
        </p:txBody>
      </p:sp>
      <p:sp>
        <p:nvSpPr>
          <p:cNvPr id="53" name="Text 51"/>
          <p:cNvSpPr/>
          <p:nvPr/>
        </p:nvSpPr>
        <p:spPr>
          <a:xfrm>
            <a:off x="4709160" y="2971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Hypertension préexistante (0 / 1)</a:t>
            </a:r>
            <a:endParaRPr lang="fr-FR" sz="1000" noProof="0" dirty="0"/>
          </a:p>
        </p:txBody>
      </p:sp>
      <p:sp>
        <p:nvSpPr>
          <p:cNvPr id="54" name="Shape 52"/>
          <p:cNvSpPr/>
          <p:nvPr/>
        </p:nvSpPr>
        <p:spPr>
          <a:xfrm>
            <a:off x="274320" y="3236976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5" name="Shape 53"/>
          <p:cNvSpPr/>
          <p:nvPr/>
        </p:nvSpPr>
        <p:spPr>
          <a:xfrm>
            <a:off x="3200400" y="3236976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6" name="Shape 54"/>
          <p:cNvSpPr/>
          <p:nvPr/>
        </p:nvSpPr>
        <p:spPr>
          <a:xfrm>
            <a:off x="4663440" y="3236976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7" name="Text 55"/>
          <p:cNvSpPr/>
          <p:nvPr/>
        </p:nvSpPr>
        <p:spPr>
          <a:xfrm>
            <a:off x="320040" y="3264408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2471A3"/>
                </a:solidFill>
              </a:rPr>
              <a:t>diaBP</a:t>
            </a:r>
            <a:endParaRPr lang="fr-FR" sz="1000" noProof="0" dirty="0"/>
          </a:p>
        </p:txBody>
      </p:sp>
      <p:sp>
        <p:nvSpPr>
          <p:cNvPr id="58" name="Shape 56"/>
          <p:cNvSpPr/>
          <p:nvPr/>
        </p:nvSpPr>
        <p:spPr>
          <a:xfrm>
            <a:off x="3218688" y="3273552"/>
            <a:ext cx="914400" cy="201168"/>
          </a:xfrm>
          <a:prstGeom prst="rect">
            <a:avLst/>
          </a:prstGeom>
          <a:solidFill>
            <a:srgbClr val="1D6A3C">
              <a:alpha val="80000"/>
            </a:srgbClr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9" name="Text 57"/>
          <p:cNvSpPr/>
          <p:nvPr/>
        </p:nvSpPr>
        <p:spPr>
          <a:xfrm>
            <a:off x="3236976" y="327355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</a:rPr>
              <a:t>Cardiovasc</a:t>
            </a:r>
            <a:r>
              <a:rPr lang="fr-FR" sz="900" b="1" noProof="0" dirty="0">
                <a:solidFill>
                  <a:srgbClr val="FFFFFF"/>
                </a:solidFill>
              </a:rPr>
              <a:t>.</a:t>
            </a:r>
            <a:endParaRPr lang="fr-FR" sz="900" noProof="0" dirty="0"/>
          </a:p>
        </p:txBody>
      </p:sp>
      <p:sp>
        <p:nvSpPr>
          <p:cNvPr id="60" name="Text 58"/>
          <p:cNvSpPr/>
          <p:nvPr/>
        </p:nvSpPr>
        <p:spPr>
          <a:xfrm>
            <a:off x="4709160" y="3264408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Pression artérielle diastolique (</a:t>
            </a:r>
            <a:r>
              <a:rPr lang="fr-FR" sz="1000" noProof="0" dirty="0" err="1">
                <a:solidFill>
                  <a:srgbClr val="1A1A2E"/>
                </a:solidFill>
              </a:rPr>
              <a:t>mmHg</a:t>
            </a:r>
            <a:r>
              <a:rPr lang="fr-FR" sz="1000" noProof="0" dirty="0">
                <a:solidFill>
                  <a:srgbClr val="1A1A2E"/>
                </a:solidFill>
              </a:rPr>
              <a:t>)</a:t>
            </a:r>
            <a:endParaRPr lang="fr-FR" sz="1000" noProof="0" dirty="0"/>
          </a:p>
        </p:txBody>
      </p:sp>
      <p:sp>
        <p:nvSpPr>
          <p:cNvPr id="61" name="Shape 59"/>
          <p:cNvSpPr/>
          <p:nvPr/>
        </p:nvSpPr>
        <p:spPr>
          <a:xfrm>
            <a:off x="274320" y="3529584"/>
            <a:ext cx="288036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2" name="Shape 60"/>
          <p:cNvSpPr/>
          <p:nvPr/>
        </p:nvSpPr>
        <p:spPr>
          <a:xfrm>
            <a:off x="3200400" y="3529584"/>
            <a:ext cx="141732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3" name="Shape 61"/>
          <p:cNvSpPr/>
          <p:nvPr/>
        </p:nvSpPr>
        <p:spPr>
          <a:xfrm>
            <a:off x="4663440" y="3529584"/>
            <a:ext cx="4169664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4" name="Text 62"/>
          <p:cNvSpPr/>
          <p:nvPr/>
        </p:nvSpPr>
        <p:spPr>
          <a:xfrm>
            <a:off x="320040" y="3557016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2471A3"/>
                </a:solidFill>
              </a:rPr>
              <a:t>Tension_Hypertension</a:t>
            </a:r>
            <a:endParaRPr lang="fr-FR" sz="1000" noProof="0" dirty="0"/>
          </a:p>
        </p:txBody>
      </p:sp>
      <p:sp>
        <p:nvSpPr>
          <p:cNvPr id="65" name="Shape 63"/>
          <p:cNvSpPr/>
          <p:nvPr/>
        </p:nvSpPr>
        <p:spPr>
          <a:xfrm>
            <a:off x="3218688" y="3566160"/>
            <a:ext cx="914400" cy="201168"/>
          </a:xfrm>
          <a:prstGeom prst="rect">
            <a:avLst/>
          </a:prstGeom>
          <a:solidFill>
            <a:srgbClr val="D4AC0D">
              <a:alpha val="80000"/>
            </a:srgbClr>
          </a:solidFill>
          <a:ln w="12700">
            <a:solidFill>
              <a:srgbClr val="D4AC0D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6" name="Text 64"/>
          <p:cNvSpPr/>
          <p:nvPr/>
        </p:nvSpPr>
        <p:spPr>
          <a:xfrm>
            <a:off x="3236976" y="356616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</a:rPr>
              <a:t>Tension</a:t>
            </a:r>
            <a:endParaRPr lang="fr-FR" sz="900" noProof="0" dirty="0"/>
          </a:p>
        </p:txBody>
      </p:sp>
      <p:sp>
        <p:nvSpPr>
          <p:cNvPr id="67" name="Text 65"/>
          <p:cNvSpPr/>
          <p:nvPr/>
        </p:nvSpPr>
        <p:spPr>
          <a:xfrm>
            <a:off x="4709160" y="3557016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Catégorie tensionnelle : hypertendue (encodage indicateur)</a:t>
            </a:r>
            <a:endParaRPr lang="fr-FR" sz="1000" noProof="0" dirty="0"/>
          </a:p>
        </p:txBody>
      </p:sp>
      <p:sp>
        <p:nvSpPr>
          <p:cNvPr id="68" name="Shape 66"/>
          <p:cNvSpPr/>
          <p:nvPr/>
        </p:nvSpPr>
        <p:spPr>
          <a:xfrm>
            <a:off x="274320" y="3822192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9" name="Shape 67"/>
          <p:cNvSpPr/>
          <p:nvPr/>
        </p:nvSpPr>
        <p:spPr>
          <a:xfrm>
            <a:off x="3200400" y="3822192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0" name="Shape 68"/>
          <p:cNvSpPr/>
          <p:nvPr/>
        </p:nvSpPr>
        <p:spPr>
          <a:xfrm>
            <a:off x="4663440" y="3822192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1" name="Text 69"/>
          <p:cNvSpPr/>
          <p:nvPr/>
        </p:nvSpPr>
        <p:spPr>
          <a:xfrm>
            <a:off x="320040" y="3849624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2471A3"/>
                </a:solidFill>
              </a:rPr>
              <a:t>Tension_Normale</a:t>
            </a:r>
            <a:endParaRPr lang="fr-FR" sz="1000" noProof="0" dirty="0"/>
          </a:p>
        </p:txBody>
      </p:sp>
      <p:sp>
        <p:nvSpPr>
          <p:cNvPr id="72" name="Shape 70"/>
          <p:cNvSpPr/>
          <p:nvPr/>
        </p:nvSpPr>
        <p:spPr>
          <a:xfrm>
            <a:off x="3218688" y="3858768"/>
            <a:ext cx="914400" cy="201168"/>
          </a:xfrm>
          <a:prstGeom prst="rect">
            <a:avLst/>
          </a:prstGeom>
          <a:solidFill>
            <a:srgbClr val="D4AC0D">
              <a:alpha val="80000"/>
            </a:srgbClr>
          </a:solidFill>
          <a:ln w="12700">
            <a:solidFill>
              <a:srgbClr val="D4AC0D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3" name="Text 71"/>
          <p:cNvSpPr/>
          <p:nvPr/>
        </p:nvSpPr>
        <p:spPr>
          <a:xfrm>
            <a:off x="3236976" y="3858768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</a:rPr>
              <a:t>Tension</a:t>
            </a:r>
            <a:endParaRPr lang="fr-FR" sz="900" noProof="0" dirty="0"/>
          </a:p>
        </p:txBody>
      </p:sp>
      <p:sp>
        <p:nvSpPr>
          <p:cNvPr id="74" name="Text 72"/>
          <p:cNvSpPr/>
          <p:nvPr/>
        </p:nvSpPr>
        <p:spPr>
          <a:xfrm>
            <a:off x="4709160" y="384962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Catégorie tensionnelle : normale (encodage indicateur)</a:t>
            </a:r>
            <a:endParaRPr lang="fr-FR" sz="1000" noProof="0" dirty="0"/>
          </a:p>
        </p:txBody>
      </p:sp>
      <p:sp>
        <p:nvSpPr>
          <p:cNvPr id="75" name="Shape 73"/>
          <p:cNvSpPr/>
          <p:nvPr/>
        </p:nvSpPr>
        <p:spPr>
          <a:xfrm>
            <a:off x="274320" y="4114800"/>
            <a:ext cx="288036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6" name="Shape 74"/>
          <p:cNvSpPr/>
          <p:nvPr/>
        </p:nvSpPr>
        <p:spPr>
          <a:xfrm>
            <a:off x="3200400" y="4114800"/>
            <a:ext cx="141732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7" name="Shape 75"/>
          <p:cNvSpPr/>
          <p:nvPr/>
        </p:nvSpPr>
        <p:spPr>
          <a:xfrm>
            <a:off x="4663440" y="4114800"/>
            <a:ext cx="4169664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8" name="Text 76"/>
          <p:cNvSpPr/>
          <p:nvPr/>
        </p:nvSpPr>
        <p:spPr>
          <a:xfrm>
            <a:off x="320040" y="4142232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2471A3"/>
                </a:solidFill>
              </a:rPr>
              <a:t>diabetes</a:t>
            </a:r>
            <a:endParaRPr lang="fr-FR" sz="1000" noProof="0" dirty="0"/>
          </a:p>
        </p:txBody>
      </p:sp>
      <p:sp>
        <p:nvSpPr>
          <p:cNvPr id="79" name="Shape 77"/>
          <p:cNvSpPr/>
          <p:nvPr/>
        </p:nvSpPr>
        <p:spPr>
          <a:xfrm>
            <a:off x="3218688" y="4151376"/>
            <a:ext cx="914400" cy="201168"/>
          </a:xfrm>
          <a:prstGeom prst="rect">
            <a:avLst/>
          </a:prstGeom>
          <a:solidFill>
            <a:srgbClr val="7D3C98">
              <a:alpha val="80000"/>
            </a:srgbClr>
          </a:solidFill>
          <a:ln w="12700">
            <a:solidFill>
              <a:srgbClr val="7D3C9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0" name="Text 78"/>
          <p:cNvSpPr/>
          <p:nvPr/>
        </p:nvSpPr>
        <p:spPr>
          <a:xfrm>
            <a:off x="3236976" y="4151376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</a:rPr>
              <a:t>Pathologie</a:t>
            </a:r>
            <a:endParaRPr lang="fr-FR" sz="900" noProof="0" dirty="0"/>
          </a:p>
        </p:txBody>
      </p:sp>
      <p:sp>
        <p:nvSpPr>
          <p:cNvPr id="81" name="Text 79"/>
          <p:cNvSpPr/>
          <p:nvPr/>
        </p:nvSpPr>
        <p:spPr>
          <a:xfrm>
            <a:off x="4709160" y="4142232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Présence de diabète (0 / 1)</a:t>
            </a:r>
            <a:endParaRPr lang="fr-FR" sz="1000" noProof="0" dirty="0"/>
          </a:p>
        </p:txBody>
      </p:sp>
      <p:sp>
        <p:nvSpPr>
          <p:cNvPr id="82" name="Shape 80"/>
          <p:cNvSpPr/>
          <p:nvPr/>
        </p:nvSpPr>
        <p:spPr>
          <a:xfrm>
            <a:off x="274320" y="4407408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3" name="Shape 81"/>
          <p:cNvSpPr/>
          <p:nvPr/>
        </p:nvSpPr>
        <p:spPr>
          <a:xfrm>
            <a:off x="3200400" y="440740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4" name="Shape 82"/>
          <p:cNvSpPr/>
          <p:nvPr/>
        </p:nvSpPr>
        <p:spPr>
          <a:xfrm>
            <a:off x="4663440" y="4407408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5" name="Text 83"/>
          <p:cNvSpPr/>
          <p:nvPr/>
        </p:nvSpPr>
        <p:spPr>
          <a:xfrm>
            <a:off x="320040" y="4434840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2471A3"/>
                </a:solidFill>
              </a:rPr>
              <a:t>male</a:t>
            </a:r>
            <a:endParaRPr lang="fr-FR" sz="1000" noProof="0" dirty="0"/>
          </a:p>
        </p:txBody>
      </p:sp>
      <p:sp>
        <p:nvSpPr>
          <p:cNvPr id="86" name="Shape 84"/>
          <p:cNvSpPr/>
          <p:nvPr/>
        </p:nvSpPr>
        <p:spPr>
          <a:xfrm>
            <a:off x="3218688" y="4443984"/>
            <a:ext cx="914400" cy="201168"/>
          </a:xfrm>
          <a:prstGeom prst="rect">
            <a:avLst/>
          </a:prstGeom>
          <a:solidFill>
            <a:srgbClr val="2471A3">
              <a:alpha val="80000"/>
            </a:srgbClr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7" name="Text 85"/>
          <p:cNvSpPr/>
          <p:nvPr/>
        </p:nvSpPr>
        <p:spPr>
          <a:xfrm>
            <a:off x="3236976" y="4443984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</a:rPr>
              <a:t>Démographie</a:t>
            </a:r>
            <a:endParaRPr lang="fr-FR" sz="900" noProof="0" dirty="0"/>
          </a:p>
        </p:txBody>
      </p:sp>
      <p:sp>
        <p:nvSpPr>
          <p:cNvPr id="88" name="Text 86"/>
          <p:cNvSpPr/>
          <p:nvPr/>
        </p:nvSpPr>
        <p:spPr>
          <a:xfrm>
            <a:off x="4709160" y="443484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Sexe masculin (0 / 1)</a:t>
            </a:r>
            <a:endParaRPr lang="fr-FR" sz="1000" noProof="0" dirty="0"/>
          </a:p>
        </p:txBody>
      </p:sp>
      <p:sp>
        <p:nvSpPr>
          <p:cNvPr id="89" name="Shape 87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0" name="Text 88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|  </a:t>
            </a:r>
            <a:r>
              <a:rPr lang="fr-FR" sz="900" noProof="0" dirty="0" err="1">
                <a:solidFill>
                  <a:srgbClr val="6BA4C8"/>
                </a:solidFill>
              </a:rPr>
              <a:t>TenYearCHD</a:t>
            </a:r>
            <a:r>
              <a:rPr lang="fr-FR" sz="900" noProof="0" dirty="0">
                <a:solidFill>
                  <a:srgbClr val="6BA4C8"/>
                </a:solidFill>
              </a:rPr>
              <a:t>  |  2026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NETTOYAGE ET PRÉPARATION DES DONNÉES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300" dirty="0">
                <a:solidFill>
                  <a:srgbClr val="7BAFD4"/>
                </a:solidFill>
              </a:rPr>
              <a:t>06</a:t>
            </a:r>
            <a:r>
              <a:rPr lang="fr-FR" sz="1300" noProof="0" dirty="0">
                <a:solidFill>
                  <a:srgbClr val="7BAFD4"/>
                </a:solidFill>
              </a:rPr>
              <a:t> / 14</a:t>
            </a:r>
            <a:endParaRPr lang="fr-F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228600" y="768096"/>
            <a:ext cx="1920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6" name="Shape 4"/>
          <p:cNvSpPr/>
          <p:nvPr/>
        </p:nvSpPr>
        <p:spPr>
          <a:xfrm>
            <a:off x="228600" y="768096"/>
            <a:ext cx="1920240" cy="43891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Text 5"/>
          <p:cNvSpPr/>
          <p:nvPr/>
        </p:nvSpPr>
        <p:spPr>
          <a:xfrm>
            <a:off x="228600" y="76809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800" b="1" noProof="0" dirty="0">
                <a:solidFill>
                  <a:srgbClr val="FFFFFF"/>
                </a:solidFill>
              </a:rPr>
              <a:t>01</a:t>
            </a:r>
            <a:endParaRPr lang="fr-FR" sz="1800" noProof="0" dirty="0"/>
          </a:p>
        </p:txBody>
      </p:sp>
      <p:sp>
        <p:nvSpPr>
          <p:cNvPr id="8" name="Text 6"/>
          <p:cNvSpPr/>
          <p:nvPr/>
        </p:nvSpPr>
        <p:spPr>
          <a:xfrm>
            <a:off x="301752" y="1243584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1A2F4E"/>
                </a:solidFill>
              </a:rPr>
              <a:t>Valeurs manquantes</a:t>
            </a:r>
            <a:endParaRPr lang="fr-FR" sz="1100" noProof="0" dirty="0"/>
          </a:p>
        </p:txBody>
      </p:sp>
      <p:sp>
        <p:nvSpPr>
          <p:cNvPr id="9" name="Text 7"/>
          <p:cNvSpPr/>
          <p:nvPr/>
        </p:nvSpPr>
        <p:spPr>
          <a:xfrm>
            <a:off x="301752" y="1828800"/>
            <a:ext cx="1773936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glucose : 9,15 % → médiane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 err="1">
                <a:solidFill>
                  <a:srgbClr val="555555"/>
                </a:solidFill>
              </a:rPr>
              <a:t>education</a:t>
            </a:r>
            <a:r>
              <a:rPr lang="fr-FR" sz="1000" noProof="0" dirty="0">
                <a:solidFill>
                  <a:srgbClr val="555555"/>
                </a:solidFill>
              </a:rPr>
              <a:t>, </a:t>
            </a:r>
            <a:r>
              <a:rPr lang="fr-FR" sz="1000" noProof="0" dirty="0" err="1">
                <a:solidFill>
                  <a:srgbClr val="555555"/>
                </a:solidFill>
              </a:rPr>
              <a:t>cigsPerDay</a:t>
            </a:r>
            <a:r>
              <a:rPr lang="fr-FR" sz="1000" noProof="0" dirty="0">
                <a:solidFill>
                  <a:srgbClr val="555555"/>
                </a:solidFill>
              </a:rPr>
              <a:t>, </a:t>
            </a:r>
            <a:r>
              <a:rPr lang="fr-FR" sz="1000" noProof="0" dirty="0" err="1">
                <a:solidFill>
                  <a:srgbClr val="555555"/>
                </a:solidFill>
              </a:rPr>
              <a:t>BPMeds</a:t>
            </a:r>
            <a:r>
              <a:rPr lang="fr-FR" sz="1000" noProof="0" dirty="0">
                <a:solidFill>
                  <a:srgbClr val="555555"/>
                </a:solidFill>
              </a:rPr>
              <a:t> → mode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BMI, </a:t>
            </a:r>
            <a:r>
              <a:rPr lang="fr-FR" sz="1000" noProof="0" dirty="0" err="1">
                <a:solidFill>
                  <a:srgbClr val="555555"/>
                </a:solidFill>
              </a:rPr>
              <a:t>totChol</a:t>
            </a:r>
            <a:r>
              <a:rPr lang="fr-FR" sz="1000" noProof="0" dirty="0">
                <a:solidFill>
                  <a:srgbClr val="555555"/>
                </a:solidFill>
              </a:rPr>
              <a:t>, </a:t>
            </a:r>
            <a:r>
              <a:rPr lang="fr-FR" sz="1000" noProof="0" dirty="0" err="1">
                <a:solidFill>
                  <a:srgbClr val="555555"/>
                </a:solidFill>
              </a:rPr>
              <a:t>heartRate</a:t>
            </a:r>
            <a:r>
              <a:rPr lang="fr-FR" sz="1000" noProof="0" dirty="0">
                <a:solidFill>
                  <a:srgbClr val="555555"/>
                </a:solidFill>
              </a:rPr>
              <a:t> → médiane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Résultat : 0 valeur manquante</a:t>
            </a:r>
            <a:endParaRPr lang="fr-FR" sz="1000" noProof="0" dirty="0"/>
          </a:p>
        </p:txBody>
      </p:sp>
      <p:sp>
        <p:nvSpPr>
          <p:cNvPr id="10" name="Shape 8"/>
          <p:cNvSpPr/>
          <p:nvPr/>
        </p:nvSpPr>
        <p:spPr>
          <a:xfrm>
            <a:off x="2404872" y="768096"/>
            <a:ext cx="1920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Shape 9"/>
          <p:cNvSpPr/>
          <p:nvPr/>
        </p:nvSpPr>
        <p:spPr>
          <a:xfrm>
            <a:off x="2404872" y="768096"/>
            <a:ext cx="1920240" cy="438912"/>
          </a:xfrm>
          <a:prstGeom prst="rect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2404872" y="76809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800" b="1" noProof="0" dirty="0">
                <a:solidFill>
                  <a:srgbClr val="FFFFFF"/>
                </a:solidFill>
              </a:rPr>
              <a:t>02</a:t>
            </a:r>
            <a:endParaRPr lang="fr-FR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2478024" y="1243584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1A2F4E"/>
                </a:solidFill>
              </a:rPr>
              <a:t>Valeurs aberrantes</a:t>
            </a:r>
            <a:endParaRPr lang="fr-FR" sz="1100" noProof="0" dirty="0"/>
          </a:p>
          <a:p>
            <a:pPr marL="0" indent="0" algn="ctr">
              <a:buNone/>
            </a:pPr>
            <a:r>
              <a:rPr lang="fr-FR" sz="1100" b="1" noProof="0" dirty="0">
                <a:solidFill>
                  <a:srgbClr val="1A2F4E"/>
                </a:solidFill>
              </a:rPr>
              <a:t>(</a:t>
            </a:r>
            <a:r>
              <a:rPr lang="fr-FR" sz="1100" b="1" noProof="0" dirty="0" err="1">
                <a:solidFill>
                  <a:srgbClr val="1A2F4E"/>
                </a:solidFill>
              </a:rPr>
              <a:t>Winsorisation</a:t>
            </a:r>
            <a:r>
              <a:rPr lang="fr-FR" sz="1100" b="1" noProof="0" dirty="0">
                <a:solidFill>
                  <a:srgbClr val="1A2F4E"/>
                </a:solidFill>
              </a:rPr>
              <a:t> IQR)</a:t>
            </a:r>
            <a:endParaRPr lang="fr-FR" sz="1100" noProof="0" dirty="0"/>
          </a:p>
        </p:txBody>
      </p:sp>
      <p:sp>
        <p:nvSpPr>
          <p:cNvPr id="14" name="Text 12"/>
          <p:cNvSpPr/>
          <p:nvPr/>
        </p:nvSpPr>
        <p:spPr>
          <a:xfrm>
            <a:off x="2478024" y="1828800"/>
            <a:ext cx="1773936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6 variables traitées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clip(Q1−1,5×IQR, Q3+1,5×IQR)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 err="1">
                <a:solidFill>
                  <a:srgbClr val="555555"/>
                </a:solidFill>
              </a:rPr>
              <a:t>cigsPerDay</a:t>
            </a:r>
            <a:r>
              <a:rPr lang="fr-FR" sz="1000" noProof="0" dirty="0">
                <a:solidFill>
                  <a:srgbClr val="555555"/>
                </a:solidFill>
              </a:rPr>
              <a:t> exclu (asymétrie gauche)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 err="1">
                <a:solidFill>
                  <a:srgbClr val="555555"/>
                </a:solidFill>
              </a:rPr>
              <a:t>Boxplots</a:t>
            </a:r>
            <a:r>
              <a:rPr lang="fr-FR" sz="1000" noProof="0" dirty="0">
                <a:solidFill>
                  <a:srgbClr val="555555"/>
                </a:solidFill>
              </a:rPr>
              <a:t> avant/après disponibles</a:t>
            </a:r>
            <a:endParaRPr lang="fr-FR" sz="1000" noProof="0" dirty="0"/>
          </a:p>
        </p:txBody>
      </p:sp>
      <p:sp>
        <p:nvSpPr>
          <p:cNvPr id="15" name="Shape 13"/>
          <p:cNvSpPr/>
          <p:nvPr/>
        </p:nvSpPr>
        <p:spPr>
          <a:xfrm>
            <a:off x="4581144" y="768096"/>
            <a:ext cx="1920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Shape 14"/>
          <p:cNvSpPr/>
          <p:nvPr/>
        </p:nvSpPr>
        <p:spPr>
          <a:xfrm>
            <a:off x="4581144" y="768096"/>
            <a:ext cx="1920240" cy="43891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Text 15"/>
          <p:cNvSpPr/>
          <p:nvPr/>
        </p:nvSpPr>
        <p:spPr>
          <a:xfrm>
            <a:off x="4581144" y="76809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800" b="1" noProof="0" dirty="0">
                <a:solidFill>
                  <a:srgbClr val="FFFFFF"/>
                </a:solidFill>
              </a:rPr>
              <a:t>03</a:t>
            </a:r>
            <a:endParaRPr lang="fr-FR" sz="1800" noProof="0" dirty="0"/>
          </a:p>
        </p:txBody>
      </p:sp>
      <p:sp>
        <p:nvSpPr>
          <p:cNvPr id="18" name="Text 16"/>
          <p:cNvSpPr/>
          <p:nvPr/>
        </p:nvSpPr>
        <p:spPr>
          <a:xfrm>
            <a:off x="4654296" y="1243584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1A2F4E"/>
                </a:solidFill>
              </a:rPr>
              <a:t>Construction de variables</a:t>
            </a:r>
            <a:endParaRPr lang="fr-FR" sz="1100" noProof="0" dirty="0"/>
          </a:p>
        </p:txBody>
      </p:sp>
      <p:sp>
        <p:nvSpPr>
          <p:cNvPr id="19" name="Text 17"/>
          <p:cNvSpPr/>
          <p:nvPr/>
        </p:nvSpPr>
        <p:spPr>
          <a:xfrm>
            <a:off x="4654296" y="1828800"/>
            <a:ext cx="1773936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 err="1">
                <a:solidFill>
                  <a:srgbClr val="555555"/>
                </a:solidFill>
              </a:rPr>
              <a:t>risk_score</a:t>
            </a:r>
            <a:r>
              <a:rPr lang="fr-FR" sz="1000" noProof="0" dirty="0">
                <a:solidFill>
                  <a:srgbClr val="555555"/>
                </a:solidFill>
              </a:rPr>
              <a:t> (7 facteurs)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 err="1">
                <a:solidFill>
                  <a:srgbClr val="555555"/>
                </a:solidFill>
              </a:rPr>
              <a:t>pulse_pressure</a:t>
            </a:r>
            <a:r>
              <a:rPr lang="fr-FR" sz="1000" noProof="0" dirty="0">
                <a:solidFill>
                  <a:srgbClr val="555555"/>
                </a:solidFill>
              </a:rPr>
              <a:t> = </a:t>
            </a:r>
            <a:r>
              <a:rPr lang="fr-FR" sz="1000" noProof="0" dirty="0" err="1">
                <a:solidFill>
                  <a:srgbClr val="555555"/>
                </a:solidFill>
              </a:rPr>
              <a:t>sysBP</a:t>
            </a:r>
            <a:r>
              <a:rPr lang="fr-FR" sz="1000" noProof="0" dirty="0">
                <a:solidFill>
                  <a:srgbClr val="555555"/>
                </a:solidFill>
              </a:rPr>
              <a:t> − </a:t>
            </a:r>
            <a:r>
              <a:rPr lang="fr-FR" sz="1000" noProof="0" dirty="0" err="1">
                <a:solidFill>
                  <a:srgbClr val="555555"/>
                </a:solidFill>
              </a:rPr>
              <a:t>diaBP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 err="1">
                <a:solidFill>
                  <a:srgbClr val="555555"/>
                </a:solidFill>
              </a:rPr>
              <a:t>age_sysBP</a:t>
            </a:r>
            <a:r>
              <a:rPr lang="fr-FR" sz="1000" noProof="0" dirty="0">
                <a:solidFill>
                  <a:srgbClr val="555555"/>
                </a:solidFill>
              </a:rPr>
              <a:t> = âge × </a:t>
            </a:r>
            <a:r>
              <a:rPr lang="fr-FR" sz="1000" noProof="0" dirty="0" err="1">
                <a:solidFill>
                  <a:srgbClr val="555555"/>
                </a:solidFill>
              </a:rPr>
              <a:t>sysBP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Encodage indicateur : IMC, Tension, FC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6720840" y="749808"/>
            <a:ext cx="1920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6757416" y="768096"/>
            <a:ext cx="1920240" cy="438912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6757416" y="76809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800" b="1" noProof="0" dirty="0">
                <a:solidFill>
                  <a:srgbClr val="FFFFFF"/>
                </a:solidFill>
              </a:rPr>
              <a:t>04</a:t>
            </a:r>
            <a:endParaRPr lang="fr-FR" sz="1800" noProof="0" dirty="0"/>
          </a:p>
        </p:txBody>
      </p:sp>
      <p:sp>
        <p:nvSpPr>
          <p:cNvPr id="23" name="Text 21"/>
          <p:cNvSpPr/>
          <p:nvPr/>
        </p:nvSpPr>
        <p:spPr>
          <a:xfrm>
            <a:off x="6830568" y="1243584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1A2F4E"/>
                </a:solidFill>
              </a:rPr>
              <a:t>Division &amp; Pipeline</a:t>
            </a:r>
          </a:p>
          <a:p>
            <a:pPr marL="0" indent="0" algn="ctr">
              <a:buNone/>
            </a:pPr>
            <a:r>
              <a:rPr lang="fr-FR" sz="1100" b="1" dirty="0">
                <a:solidFill>
                  <a:srgbClr val="1A2F4E"/>
                </a:solidFill>
              </a:rPr>
              <a:t>(</a:t>
            </a:r>
            <a:r>
              <a:rPr lang="fr-FR" sz="1100" b="1" dirty="0" err="1">
                <a:solidFill>
                  <a:srgbClr val="1A2F4E"/>
                </a:solidFill>
              </a:rPr>
              <a:t>Modelisation</a:t>
            </a:r>
            <a:r>
              <a:rPr lang="fr-FR" sz="1100" b="1" dirty="0">
                <a:solidFill>
                  <a:srgbClr val="1A2F4E"/>
                </a:solidFill>
              </a:rPr>
              <a:t>)</a:t>
            </a:r>
            <a:endParaRPr lang="fr-FR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6830568" y="1828800"/>
            <a:ext cx="1773936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Apprentissage 70 % / Test 30 % (stratifié)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Croisement stratifié (5 plis)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Normalisation intégrée au pipeline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 err="1">
                <a:solidFill>
                  <a:srgbClr val="555555"/>
                </a:solidFill>
              </a:rPr>
              <a:t>class_weight</a:t>
            </a:r>
            <a:r>
              <a:rPr lang="fr-FR" sz="1000" noProof="0" dirty="0">
                <a:solidFill>
                  <a:srgbClr val="555555"/>
                </a:solidFill>
              </a:rPr>
              <a:t>='équilibré' anti-déséquilibre</a:t>
            </a:r>
            <a:endParaRPr lang="fr-FR" sz="1000" noProof="0" dirty="0"/>
          </a:p>
        </p:txBody>
      </p:sp>
      <p:sp>
        <p:nvSpPr>
          <p:cNvPr id="25" name="Shape 23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|  </a:t>
            </a:r>
            <a:r>
              <a:rPr lang="fr-FR" sz="900" noProof="0" dirty="0" err="1">
                <a:solidFill>
                  <a:srgbClr val="6BA4C8"/>
                </a:solidFill>
              </a:rPr>
              <a:t>TenYearCHD</a:t>
            </a:r>
            <a:r>
              <a:rPr lang="fr-FR" sz="900" noProof="0" dirty="0">
                <a:solidFill>
                  <a:srgbClr val="6BA4C8"/>
                </a:solidFill>
              </a:rPr>
              <a:t>  |  2026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RÉSULTATS EXPLORATOIRES — CORRÉLATIONS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300" noProof="0" dirty="0">
                <a:solidFill>
                  <a:srgbClr val="7BAFD4"/>
                </a:solidFill>
              </a:rPr>
              <a:t>07 / 14</a:t>
            </a:r>
            <a:endParaRPr lang="fr-FR" sz="1300" noProof="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711118776"/>
              </p:ext>
            </p:extLst>
          </p:nvPr>
        </p:nvGraphicFramePr>
        <p:xfrm>
          <a:off x="274320" y="768096"/>
          <a:ext cx="530352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669280" y="768096"/>
            <a:ext cx="3200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4"/>
          <p:cNvSpPr/>
          <p:nvPr/>
        </p:nvSpPr>
        <p:spPr>
          <a:xfrm>
            <a:off x="5669280" y="768096"/>
            <a:ext cx="73152" cy="62179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5"/>
          <p:cNvSpPr/>
          <p:nvPr/>
        </p:nvSpPr>
        <p:spPr>
          <a:xfrm>
            <a:off x="5779008" y="79552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 err="1">
                <a:solidFill>
                  <a:srgbClr val="1A2F4E"/>
                </a:solidFill>
              </a:rPr>
              <a:t>age_sysBP</a:t>
            </a:r>
            <a:r>
              <a:rPr lang="fr-FR" sz="1100" b="1" noProof="0" dirty="0">
                <a:solidFill>
                  <a:srgbClr val="1A2F4E"/>
                </a:solidFill>
              </a:rPr>
              <a:t> = 0,26</a:t>
            </a:r>
            <a:endParaRPr lang="fr-FR" sz="1100" noProof="0" dirty="0"/>
          </a:p>
        </p:txBody>
      </p:sp>
      <p:sp>
        <p:nvSpPr>
          <p:cNvPr id="9" name="Text 6"/>
          <p:cNvSpPr/>
          <p:nvPr/>
        </p:nvSpPr>
        <p:spPr>
          <a:xfrm>
            <a:off x="5779008" y="108813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Interaction âge × tension</a:t>
            </a:r>
            <a:endParaRPr lang="fr-FR" sz="1000" noProof="0" dirty="0"/>
          </a:p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→ 1er prédicteur composite</a:t>
            </a:r>
            <a:endParaRPr lang="fr-FR" sz="1000" noProof="0" dirty="0"/>
          </a:p>
        </p:txBody>
      </p:sp>
      <p:sp>
        <p:nvSpPr>
          <p:cNvPr id="10" name="Shape 7"/>
          <p:cNvSpPr/>
          <p:nvPr/>
        </p:nvSpPr>
        <p:spPr>
          <a:xfrm>
            <a:off x="5669280" y="1463040"/>
            <a:ext cx="3200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Shape 8"/>
          <p:cNvSpPr/>
          <p:nvPr/>
        </p:nvSpPr>
        <p:spPr>
          <a:xfrm>
            <a:off x="5669280" y="1463040"/>
            <a:ext cx="73152" cy="62179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9"/>
          <p:cNvSpPr/>
          <p:nvPr/>
        </p:nvSpPr>
        <p:spPr>
          <a:xfrm>
            <a:off x="5779008" y="149047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 err="1">
                <a:solidFill>
                  <a:srgbClr val="1A2F4E"/>
                </a:solidFill>
              </a:rPr>
              <a:t>risk_score</a:t>
            </a:r>
            <a:r>
              <a:rPr lang="fr-FR" sz="1100" b="1" noProof="0" dirty="0">
                <a:solidFill>
                  <a:srgbClr val="1A2F4E"/>
                </a:solidFill>
              </a:rPr>
              <a:t> = 0,24</a:t>
            </a:r>
            <a:endParaRPr lang="fr-FR" sz="1100" noProof="0" dirty="0"/>
          </a:p>
        </p:txBody>
      </p:sp>
      <p:sp>
        <p:nvSpPr>
          <p:cNvPr id="13" name="Text 10"/>
          <p:cNvSpPr/>
          <p:nvPr/>
        </p:nvSpPr>
        <p:spPr>
          <a:xfrm>
            <a:off x="5779008" y="17830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Score de 7 facteurs cliniques</a:t>
            </a:r>
            <a:endParaRPr lang="fr-FR" sz="1000" noProof="0" dirty="0"/>
          </a:p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agrégés</a:t>
            </a:r>
            <a:endParaRPr lang="fr-FR" sz="1000" noProof="0" dirty="0"/>
          </a:p>
        </p:txBody>
      </p:sp>
      <p:sp>
        <p:nvSpPr>
          <p:cNvPr id="14" name="Shape 11"/>
          <p:cNvSpPr/>
          <p:nvPr/>
        </p:nvSpPr>
        <p:spPr>
          <a:xfrm>
            <a:off x="5669280" y="2157984"/>
            <a:ext cx="3200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Shape 12"/>
          <p:cNvSpPr/>
          <p:nvPr/>
        </p:nvSpPr>
        <p:spPr>
          <a:xfrm>
            <a:off x="5669280" y="2157984"/>
            <a:ext cx="73152" cy="62179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Text 13"/>
          <p:cNvSpPr/>
          <p:nvPr/>
        </p:nvSpPr>
        <p:spPr>
          <a:xfrm>
            <a:off x="5779008" y="21854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 err="1">
                <a:solidFill>
                  <a:srgbClr val="1A2F4E"/>
                </a:solidFill>
              </a:rPr>
              <a:t>age</a:t>
            </a:r>
            <a:r>
              <a:rPr lang="fr-FR" sz="1100" b="1" noProof="0" dirty="0">
                <a:solidFill>
                  <a:srgbClr val="1A2F4E"/>
                </a:solidFill>
              </a:rPr>
              <a:t> = 0,23</a:t>
            </a:r>
            <a:endParaRPr lang="fr-FR" sz="1100" noProof="0" dirty="0"/>
          </a:p>
        </p:txBody>
      </p:sp>
      <p:sp>
        <p:nvSpPr>
          <p:cNvPr id="17" name="Text 14"/>
          <p:cNvSpPr/>
          <p:nvPr/>
        </p:nvSpPr>
        <p:spPr>
          <a:xfrm>
            <a:off x="5779008" y="247802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Risque croissant</a:t>
            </a:r>
            <a:endParaRPr lang="fr-FR" sz="1000" noProof="0" dirty="0"/>
          </a:p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après 55 ans</a:t>
            </a:r>
            <a:endParaRPr lang="fr-FR" sz="1000" noProof="0" dirty="0"/>
          </a:p>
        </p:txBody>
      </p:sp>
      <p:sp>
        <p:nvSpPr>
          <p:cNvPr id="18" name="Shape 15"/>
          <p:cNvSpPr/>
          <p:nvPr/>
        </p:nvSpPr>
        <p:spPr>
          <a:xfrm>
            <a:off x="5669280" y="2852928"/>
            <a:ext cx="3200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Shape 16"/>
          <p:cNvSpPr/>
          <p:nvPr/>
        </p:nvSpPr>
        <p:spPr>
          <a:xfrm>
            <a:off x="5669280" y="2852928"/>
            <a:ext cx="73152" cy="62179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7"/>
          <p:cNvSpPr/>
          <p:nvPr/>
        </p:nvSpPr>
        <p:spPr>
          <a:xfrm>
            <a:off x="5779008" y="288036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A2F4E"/>
                </a:solidFill>
              </a:rPr>
              <a:t>Hypertension = ×3</a:t>
            </a:r>
            <a:endParaRPr lang="fr-FR" sz="1100" noProof="0" dirty="0"/>
          </a:p>
        </p:txBody>
      </p:sp>
      <p:sp>
        <p:nvSpPr>
          <p:cNvPr id="21" name="Text 18"/>
          <p:cNvSpPr/>
          <p:nvPr/>
        </p:nvSpPr>
        <p:spPr>
          <a:xfrm>
            <a:off x="5779008" y="31729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Taux CHD 3× plus élevé</a:t>
            </a:r>
            <a:endParaRPr lang="fr-FR" sz="1000" noProof="0" dirty="0"/>
          </a:p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chez les hypertendus</a:t>
            </a:r>
            <a:endParaRPr lang="fr-FR" sz="1000" noProof="0" dirty="0"/>
          </a:p>
        </p:txBody>
      </p:sp>
      <p:sp>
        <p:nvSpPr>
          <p:cNvPr id="22" name="Shape 19"/>
          <p:cNvSpPr/>
          <p:nvPr/>
        </p:nvSpPr>
        <p:spPr>
          <a:xfrm>
            <a:off x="5669280" y="3547872"/>
            <a:ext cx="3200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Shape 20"/>
          <p:cNvSpPr/>
          <p:nvPr/>
        </p:nvSpPr>
        <p:spPr>
          <a:xfrm>
            <a:off x="5669280" y="3547872"/>
            <a:ext cx="73152" cy="62179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1"/>
          <p:cNvSpPr/>
          <p:nvPr/>
        </p:nvSpPr>
        <p:spPr>
          <a:xfrm>
            <a:off x="5779008" y="3575304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A2F4E"/>
                </a:solidFill>
              </a:rPr>
              <a:t>Diabète = 37 %</a:t>
            </a:r>
            <a:endParaRPr lang="fr-FR" sz="1100" noProof="0" dirty="0"/>
          </a:p>
        </p:txBody>
      </p:sp>
      <p:sp>
        <p:nvSpPr>
          <p:cNvPr id="25" name="Text 22"/>
          <p:cNvSpPr/>
          <p:nvPr/>
        </p:nvSpPr>
        <p:spPr>
          <a:xfrm>
            <a:off x="5779008" y="386791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37 % CHD chez diabétiques</a:t>
            </a:r>
            <a:endParaRPr lang="fr-FR" sz="1000" noProof="0" dirty="0"/>
          </a:p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vs 15 % en population générale</a:t>
            </a:r>
            <a:endParaRPr lang="fr-FR" sz="1000" noProof="0" dirty="0"/>
          </a:p>
        </p:txBody>
      </p:sp>
      <p:sp>
        <p:nvSpPr>
          <p:cNvPr id="26" name="Shape 23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24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|  </a:t>
            </a:r>
            <a:r>
              <a:rPr lang="fr-FR" sz="900" noProof="0" dirty="0" err="1">
                <a:solidFill>
                  <a:srgbClr val="6BA4C8"/>
                </a:solidFill>
              </a:rPr>
              <a:t>TenYearCHD</a:t>
            </a:r>
            <a:r>
              <a:rPr lang="fr-FR" sz="900" noProof="0" dirty="0">
                <a:solidFill>
                  <a:srgbClr val="6BA4C8"/>
                </a:solidFill>
              </a:rPr>
              <a:t>  |  2026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RÉSULTATS EXPLORATOIRES — FACTEURS DE RISQUE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300" noProof="0" dirty="0">
                <a:solidFill>
                  <a:srgbClr val="7BAFD4"/>
                </a:solidFill>
              </a:rPr>
              <a:t>08 / 14</a:t>
            </a:r>
            <a:endParaRPr lang="fr-FR" sz="1300" noProof="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2131333481"/>
              </p:ext>
            </p:extLst>
          </p:nvPr>
        </p:nvGraphicFramePr>
        <p:xfrm>
          <a:off x="274320" y="768096"/>
          <a:ext cx="530352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669280" y="768096"/>
            <a:ext cx="3200400" cy="621792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Text 4"/>
          <p:cNvSpPr/>
          <p:nvPr/>
        </p:nvSpPr>
        <p:spPr>
          <a:xfrm>
            <a:off x="5715000" y="80467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rgbClr val="2471A3"/>
                </a:solidFill>
              </a:rPr>
              <a:t>18,8 %</a:t>
            </a:r>
            <a:endParaRPr lang="fr-FR" sz="2000" noProof="0" dirty="0"/>
          </a:p>
        </p:txBody>
      </p:sp>
      <p:sp>
        <p:nvSpPr>
          <p:cNvPr id="8" name="Text 5"/>
          <p:cNvSpPr/>
          <p:nvPr/>
        </p:nvSpPr>
        <p:spPr>
          <a:xfrm>
            <a:off x="5715000" y="1133856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CHD chez les hommes</a:t>
            </a:r>
            <a:endParaRPr lang="fr-FR" sz="1000" noProof="0" dirty="0"/>
          </a:p>
        </p:txBody>
      </p:sp>
      <p:sp>
        <p:nvSpPr>
          <p:cNvPr id="9" name="Shape 6"/>
          <p:cNvSpPr/>
          <p:nvPr/>
        </p:nvSpPr>
        <p:spPr>
          <a:xfrm>
            <a:off x="5669280" y="1463040"/>
            <a:ext cx="3200400" cy="621792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7"/>
          <p:cNvSpPr/>
          <p:nvPr/>
        </p:nvSpPr>
        <p:spPr>
          <a:xfrm>
            <a:off x="5715000" y="149961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rgbClr val="B03A2E"/>
                </a:solidFill>
              </a:rPr>
              <a:t>36,7 %</a:t>
            </a:r>
            <a:endParaRPr lang="fr-FR" sz="2000" noProof="0" dirty="0"/>
          </a:p>
        </p:txBody>
      </p:sp>
      <p:sp>
        <p:nvSpPr>
          <p:cNvPr id="11" name="Text 8"/>
          <p:cNvSpPr/>
          <p:nvPr/>
        </p:nvSpPr>
        <p:spPr>
          <a:xfrm>
            <a:off x="5715000" y="1828800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CHD chez les diabétiques</a:t>
            </a:r>
            <a:endParaRPr lang="fr-FR" sz="1000" noProof="0" dirty="0"/>
          </a:p>
        </p:txBody>
      </p:sp>
      <p:sp>
        <p:nvSpPr>
          <p:cNvPr id="12" name="Shape 9"/>
          <p:cNvSpPr/>
          <p:nvPr/>
        </p:nvSpPr>
        <p:spPr>
          <a:xfrm>
            <a:off x="5669280" y="2157984"/>
            <a:ext cx="3200400" cy="621792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0"/>
          <p:cNvSpPr/>
          <p:nvPr/>
        </p:nvSpPr>
        <p:spPr>
          <a:xfrm>
            <a:off x="5715000" y="2194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rgbClr val="B03A2E"/>
                </a:solidFill>
              </a:rPr>
              <a:t>24,7 %</a:t>
            </a:r>
            <a:endParaRPr lang="fr-FR" sz="2000" noProof="0" dirty="0"/>
          </a:p>
        </p:txBody>
      </p:sp>
      <p:sp>
        <p:nvSpPr>
          <p:cNvPr id="14" name="Text 11"/>
          <p:cNvSpPr/>
          <p:nvPr/>
        </p:nvSpPr>
        <p:spPr>
          <a:xfrm>
            <a:off x="5715000" y="2523744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CHD avec hypertension</a:t>
            </a:r>
            <a:endParaRPr lang="fr-FR" sz="1000" noProof="0" dirty="0"/>
          </a:p>
        </p:txBody>
      </p:sp>
      <p:sp>
        <p:nvSpPr>
          <p:cNvPr id="15" name="Shape 12"/>
          <p:cNvSpPr/>
          <p:nvPr/>
        </p:nvSpPr>
        <p:spPr>
          <a:xfrm>
            <a:off x="5669280" y="2852928"/>
            <a:ext cx="3200400" cy="621792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Text 13"/>
          <p:cNvSpPr/>
          <p:nvPr/>
        </p:nvSpPr>
        <p:spPr>
          <a:xfrm>
            <a:off x="5715000" y="288950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rgbClr val="B03A2E"/>
                </a:solidFill>
              </a:rPr>
              <a:t>29,5 %</a:t>
            </a:r>
            <a:endParaRPr lang="fr-FR" sz="2000" noProof="0" dirty="0"/>
          </a:p>
        </p:txBody>
      </p:sp>
      <p:sp>
        <p:nvSpPr>
          <p:cNvPr id="17" name="Text 14"/>
          <p:cNvSpPr/>
          <p:nvPr/>
        </p:nvSpPr>
        <p:spPr>
          <a:xfrm>
            <a:off x="5715000" y="3218688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CHD si âge &gt; 55 ans</a:t>
            </a:r>
            <a:endParaRPr lang="fr-FR" sz="1000" noProof="0" dirty="0"/>
          </a:p>
        </p:txBody>
      </p:sp>
      <p:sp>
        <p:nvSpPr>
          <p:cNvPr id="18" name="Shape 15"/>
          <p:cNvSpPr/>
          <p:nvPr/>
        </p:nvSpPr>
        <p:spPr>
          <a:xfrm>
            <a:off x="5669280" y="3547872"/>
            <a:ext cx="3200400" cy="621792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Text 16"/>
          <p:cNvSpPr/>
          <p:nvPr/>
        </p:nvSpPr>
        <p:spPr>
          <a:xfrm>
            <a:off x="5715000" y="358444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2000" b="1" noProof="0" dirty="0">
                <a:solidFill>
                  <a:srgbClr val="1A2F4E"/>
                </a:solidFill>
              </a:rPr>
              <a:t>6 : 1</a:t>
            </a:r>
            <a:endParaRPr lang="fr-FR" sz="2000" noProof="0" dirty="0"/>
          </a:p>
        </p:txBody>
      </p:sp>
      <p:sp>
        <p:nvSpPr>
          <p:cNvPr id="20" name="Text 17"/>
          <p:cNvSpPr/>
          <p:nvPr/>
        </p:nvSpPr>
        <p:spPr>
          <a:xfrm>
            <a:off x="5715000" y="39136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Ratio déséquilibre des classes</a:t>
            </a:r>
            <a:endParaRPr lang="fr-FR" sz="1000" noProof="0" dirty="0"/>
          </a:p>
        </p:txBody>
      </p:sp>
      <p:sp>
        <p:nvSpPr>
          <p:cNvPr id="21" name="Shape 18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19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|  </a:t>
            </a:r>
            <a:r>
              <a:rPr lang="fr-FR" sz="900" noProof="0" dirty="0" err="1">
                <a:solidFill>
                  <a:srgbClr val="6BA4C8"/>
                </a:solidFill>
              </a:rPr>
              <a:t>TenYearCHD</a:t>
            </a:r>
            <a:r>
              <a:rPr lang="fr-FR" sz="900" noProof="0" dirty="0">
                <a:solidFill>
                  <a:srgbClr val="6BA4C8"/>
                </a:solidFill>
              </a:rPr>
              <a:t>  |  2026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MODÉLISATION ET PERFORMANCE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300" noProof="0" dirty="0">
                <a:solidFill>
                  <a:srgbClr val="7BAFD4"/>
                </a:solidFill>
              </a:rPr>
              <a:t>09 / 14</a:t>
            </a:r>
            <a:endParaRPr lang="fr-FR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555555"/>
                </a:solidFill>
              </a:rPr>
              <a:t>Métrique principale : AUC-ROC   |   Contexte médical → priorité au Rappel</a:t>
            </a:r>
            <a:endParaRPr lang="fr-F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80194" y="1126183"/>
            <a:ext cx="3657600" cy="329184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Text 5"/>
          <p:cNvSpPr/>
          <p:nvPr/>
        </p:nvSpPr>
        <p:spPr>
          <a:xfrm>
            <a:off x="310896" y="1143701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Modèle</a:t>
            </a:r>
            <a:endParaRPr lang="fr-FR" sz="1100" noProof="0" dirty="0"/>
          </a:p>
        </p:txBody>
      </p:sp>
      <p:sp>
        <p:nvSpPr>
          <p:cNvPr id="8" name="Shape 6"/>
          <p:cNvSpPr/>
          <p:nvPr/>
        </p:nvSpPr>
        <p:spPr>
          <a:xfrm>
            <a:off x="3765226" y="1126183"/>
            <a:ext cx="1097280" cy="329184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7"/>
          <p:cNvSpPr/>
          <p:nvPr/>
        </p:nvSpPr>
        <p:spPr>
          <a:xfrm>
            <a:off x="3977640" y="113385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AUC</a:t>
            </a:r>
            <a:endParaRPr lang="fr-F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889938" y="1124712"/>
            <a:ext cx="1097280" cy="329184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5074920" y="113385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Rappel</a:t>
            </a:r>
            <a:endParaRPr lang="fr-FR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6014650" y="1120648"/>
            <a:ext cx="1097280" cy="329184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1"/>
          <p:cNvSpPr/>
          <p:nvPr/>
        </p:nvSpPr>
        <p:spPr>
          <a:xfrm>
            <a:off x="6172200" y="113385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F1</a:t>
            </a:r>
            <a:endParaRPr lang="fr-FR" sz="1100" noProof="0" dirty="0"/>
          </a:p>
        </p:txBody>
      </p:sp>
      <p:sp>
        <p:nvSpPr>
          <p:cNvPr id="14" name="Shape 12"/>
          <p:cNvSpPr/>
          <p:nvPr/>
        </p:nvSpPr>
        <p:spPr>
          <a:xfrm>
            <a:off x="7139362" y="1120648"/>
            <a:ext cx="1920240" cy="329184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7269480" y="113385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Configuration</a:t>
            </a:r>
            <a:endParaRPr lang="fr-FR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80194" y="1481328"/>
            <a:ext cx="36576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Text 15"/>
          <p:cNvSpPr/>
          <p:nvPr/>
        </p:nvSpPr>
        <p:spPr>
          <a:xfrm>
            <a:off x="329184" y="1536192"/>
            <a:ext cx="3547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Référence (Aléatoire)</a:t>
            </a:r>
            <a:endParaRPr lang="fr-FR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3765226" y="1481328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Text 17"/>
          <p:cNvSpPr/>
          <p:nvPr/>
        </p:nvSpPr>
        <p:spPr>
          <a:xfrm>
            <a:off x="3986784" y="1536192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≈ 0,50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4889938" y="1490472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5084064" y="1536192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0 %</a:t>
            </a:r>
            <a:endParaRPr lang="fr-FR" sz="1000" noProof="0" dirty="0"/>
          </a:p>
        </p:txBody>
      </p:sp>
      <p:sp>
        <p:nvSpPr>
          <p:cNvPr id="22" name="Shape 20"/>
          <p:cNvSpPr/>
          <p:nvPr/>
        </p:nvSpPr>
        <p:spPr>
          <a:xfrm>
            <a:off x="6014650" y="1481328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Text 21"/>
          <p:cNvSpPr/>
          <p:nvPr/>
        </p:nvSpPr>
        <p:spPr>
          <a:xfrm>
            <a:off x="6181344" y="1536192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0 %</a:t>
            </a:r>
            <a:endParaRPr lang="fr-FR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7139362" y="1481328"/>
            <a:ext cx="19202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Text 23"/>
          <p:cNvSpPr/>
          <p:nvPr/>
        </p:nvSpPr>
        <p:spPr>
          <a:xfrm>
            <a:off x="7278624" y="153619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 err="1">
                <a:solidFill>
                  <a:srgbClr val="1A1A2E"/>
                </a:solidFill>
              </a:rPr>
              <a:t>strategy</a:t>
            </a:r>
            <a:r>
              <a:rPr lang="fr-FR" sz="1000" noProof="0" dirty="0">
                <a:solidFill>
                  <a:srgbClr val="1A1A2E"/>
                </a:solidFill>
              </a:rPr>
              <a:t>='</a:t>
            </a:r>
            <a:r>
              <a:rPr lang="fr-FR" sz="1000" noProof="0" dirty="0" err="1">
                <a:solidFill>
                  <a:srgbClr val="1A1A2E"/>
                </a:solidFill>
              </a:rPr>
              <a:t>most_frequent</a:t>
            </a:r>
            <a:r>
              <a:rPr lang="fr-FR" sz="1000" noProof="0" dirty="0">
                <a:solidFill>
                  <a:srgbClr val="1A1A2E"/>
                </a:solidFill>
              </a:rPr>
              <a:t>'</a:t>
            </a:r>
            <a:endParaRPr lang="fr-FR" sz="1000" noProof="0" dirty="0"/>
          </a:p>
        </p:txBody>
      </p:sp>
      <p:sp>
        <p:nvSpPr>
          <p:cNvPr id="26" name="Shape 24"/>
          <p:cNvSpPr/>
          <p:nvPr/>
        </p:nvSpPr>
        <p:spPr>
          <a:xfrm>
            <a:off x="80194" y="1965960"/>
            <a:ext cx="3657600" cy="420624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25"/>
          <p:cNvSpPr/>
          <p:nvPr/>
        </p:nvSpPr>
        <p:spPr>
          <a:xfrm>
            <a:off x="329184" y="2011680"/>
            <a:ext cx="3547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A2F4E"/>
                </a:solidFill>
              </a:rPr>
              <a:t>★  Régression Logistique</a:t>
            </a:r>
            <a:endParaRPr lang="fr-FR" sz="1000" noProof="0" dirty="0"/>
          </a:p>
        </p:txBody>
      </p:sp>
      <p:sp>
        <p:nvSpPr>
          <p:cNvPr id="28" name="Shape 26"/>
          <p:cNvSpPr/>
          <p:nvPr/>
        </p:nvSpPr>
        <p:spPr>
          <a:xfrm>
            <a:off x="3765226" y="1965960"/>
            <a:ext cx="1097280" cy="420624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27"/>
          <p:cNvSpPr/>
          <p:nvPr/>
        </p:nvSpPr>
        <p:spPr>
          <a:xfrm>
            <a:off x="3986784" y="2011680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A2F4E"/>
                </a:solidFill>
              </a:rPr>
              <a:t>0,703</a:t>
            </a:r>
            <a:endParaRPr lang="fr-FR" sz="1000" noProof="0" dirty="0"/>
          </a:p>
        </p:txBody>
      </p:sp>
      <p:sp>
        <p:nvSpPr>
          <p:cNvPr id="30" name="Shape 28"/>
          <p:cNvSpPr/>
          <p:nvPr/>
        </p:nvSpPr>
        <p:spPr>
          <a:xfrm>
            <a:off x="4901079" y="1963157"/>
            <a:ext cx="1084037" cy="420624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9"/>
          <p:cNvSpPr/>
          <p:nvPr/>
        </p:nvSpPr>
        <p:spPr>
          <a:xfrm>
            <a:off x="5084064" y="2011680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A2F4E"/>
                </a:solidFill>
              </a:rPr>
              <a:t>63,2 %</a:t>
            </a:r>
            <a:endParaRPr lang="fr-FR" sz="1000" noProof="0" dirty="0"/>
          </a:p>
        </p:txBody>
      </p:sp>
      <p:sp>
        <p:nvSpPr>
          <p:cNvPr id="32" name="Shape 30"/>
          <p:cNvSpPr/>
          <p:nvPr/>
        </p:nvSpPr>
        <p:spPr>
          <a:xfrm>
            <a:off x="6023006" y="1956816"/>
            <a:ext cx="1069848" cy="420624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Text 31"/>
          <p:cNvSpPr/>
          <p:nvPr/>
        </p:nvSpPr>
        <p:spPr>
          <a:xfrm>
            <a:off x="6181344" y="2011680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A2F4E"/>
                </a:solidFill>
              </a:rPr>
              <a:t>36,5 %</a:t>
            </a:r>
            <a:endParaRPr lang="fr-FR" sz="1000" noProof="0" dirty="0"/>
          </a:p>
        </p:txBody>
      </p:sp>
      <p:sp>
        <p:nvSpPr>
          <p:cNvPr id="34" name="Shape 32"/>
          <p:cNvSpPr/>
          <p:nvPr/>
        </p:nvSpPr>
        <p:spPr>
          <a:xfrm>
            <a:off x="7139362" y="1956816"/>
            <a:ext cx="1920240" cy="420624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5" name="Text 33"/>
          <p:cNvSpPr/>
          <p:nvPr/>
        </p:nvSpPr>
        <p:spPr>
          <a:xfrm>
            <a:off x="7278624" y="201168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b="1" noProof="0" dirty="0" err="1">
                <a:solidFill>
                  <a:srgbClr val="1A2F4E"/>
                </a:solidFill>
              </a:rPr>
              <a:t>class_weight</a:t>
            </a:r>
            <a:r>
              <a:rPr lang="fr-FR" sz="1000" b="1" noProof="0" dirty="0">
                <a:solidFill>
                  <a:srgbClr val="1A2F4E"/>
                </a:solidFill>
              </a:rPr>
              <a:t>=équilibré | C=0,01 (</a:t>
            </a:r>
            <a:r>
              <a:rPr lang="fr-FR" sz="1000" b="1" noProof="0" dirty="0" err="1">
                <a:solidFill>
                  <a:srgbClr val="1A2F4E"/>
                </a:solidFill>
              </a:rPr>
              <a:t>RechercheGrille</a:t>
            </a:r>
            <a:r>
              <a:rPr lang="fr-FR" sz="1000" b="1" noProof="0" dirty="0">
                <a:solidFill>
                  <a:srgbClr val="1A2F4E"/>
                </a:solidFill>
              </a:rPr>
              <a:t>)</a:t>
            </a:r>
            <a:endParaRPr lang="fr-FR" sz="1000" noProof="0" dirty="0"/>
          </a:p>
        </p:txBody>
      </p:sp>
      <p:sp>
        <p:nvSpPr>
          <p:cNvPr id="36" name="Shape 34"/>
          <p:cNvSpPr/>
          <p:nvPr/>
        </p:nvSpPr>
        <p:spPr>
          <a:xfrm>
            <a:off x="80194" y="2432304"/>
            <a:ext cx="36576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7" name="Text 35"/>
          <p:cNvSpPr/>
          <p:nvPr/>
        </p:nvSpPr>
        <p:spPr>
          <a:xfrm>
            <a:off x="329184" y="2487168"/>
            <a:ext cx="3547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Forêt Aléatoire</a:t>
            </a:r>
            <a:endParaRPr lang="fr-FR" sz="1000" noProof="0" dirty="0"/>
          </a:p>
        </p:txBody>
      </p:sp>
      <p:sp>
        <p:nvSpPr>
          <p:cNvPr id="38" name="Shape 36"/>
          <p:cNvSpPr/>
          <p:nvPr/>
        </p:nvSpPr>
        <p:spPr>
          <a:xfrm>
            <a:off x="3765226" y="2432304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9" name="Text 37"/>
          <p:cNvSpPr/>
          <p:nvPr/>
        </p:nvSpPr>
        <p:spPr>
          <a:xfrm>
            <a:off x="3986784" y="2487168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0,678</a:t>
            </a:r>
            <a:endParaRPr lang="fr-FR" sz="1000" noProof="0" dirty="0"/>
          </a:p>
        </p:txBody>
      </p:sp>
      <p:sp>
        <p:nvSpPr>
          <p:cNvPr id="40" name="Shape 38"/>
          <p:cNvSpPr/>
          <p:nvPr/>
        </p:nvSpPr>
        <p:spPr>
          <a:xfrm>
            <a:off x="4889938" y="2448175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9"/>
          <p:cNvSpPr/>
          <p:nvPr/>
        </p:nvSpPr>
        <p:spPr>
          <a:xfrm>
            <a:off x="5084064" y="2487168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46,6 %</a:t>
            </a:r>
            <a:endParaRPr lang="fr-FR" sz="1000" noProof="0" dirty="0"/>
          </a:p>
        </p:txBody>
      </p:sp>
      <p:sp>
        <p:nvSpPr>
          <p:cNvPr id="42" name="Shape 40"/>
          <p:cNvSpPr/>
          <p:nvPr/>
        </p:nvSpPr>
        <p:spPr>
          <a:xfrm>
            <a:off x="6009290" y="2441448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3" name="Text 41"/>
          <p:cNvSpPr/>
          <p:nvPr/>
        </p:nvSpPr>
        <p:spPr>
          <a:xfrm>
            <a:off x="6181344" y="2487168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34,4 %</a:t>
            </a:r>
            <a:endParaRPr lang="fr-FR" sz="1000" noProof="0" dirty="0"/>
          </a:p>
        </p:txBody>
      </p:sp>
      <p:sp>
        <p:nvSpPr>
          <p:cNvPr id="44" name="Shape 42"/>
          <p:cNvSpPr/>
          <p:nvPr/>
        </p:nvSpPr>
        <p:spPr>
          <a:xfrm>
            <a:off x="7139362" y="2432304"/>
            <a:ext cx="19202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5" name="Text 43"/>
          <p:cNvSpPr/>
          <p:nvPr/>
        </p:nvSpPr>
        <p:spPr>
          <a:xfrm>
            <a:off x="7278624" y="24871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300 arbres | profondeur=8 | </a:t>
            </a:r>
            <a:r>
              <a:rPr lang="fr-FR" sz="1000" noProof="0" dirty="0" err="1">
                <a:solidFill>
                  <a:srgbClr val="1A1A2E"/>
                </a:solidFill>
              </a:rPr>
              <a:t>class_weight</a:t>
            </a:r>
            <a:r>
              <a:rPr lang="fr-FR" sz="1000" noProof="0" dirty="0">
                <a:solidFill>
                  <a:srgbClr val="1A1A2E"/>
                </a:solidFill>
              </a:rPr>
              <a:t>=équilibré</a:t>
            </a:r>
            <a:endParaRPr lang="fr-FR" sz="1000" noProof="0" dirty="0"/>
          </a:p>
        </p:txBody>
      </p:sp>
      <p:sp>
        <p:nvSpPr>
          <p:cNvPr id="46" name="Shape 44"/>
          <p:cNvSpPr/>
          <p:nvPr/>
        </p:nvSpPr>
        <p:spPr>
          <a:xfrm>
            <a:off x="91440" y="2907792"/>
            <a:ext cx="365760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7" name="Text 45"/>
          <p:cNvSpPr/>
          <p:nvPr/>
        </p:nvSpPr>
        <p:spPr>
          <a:xfrm>
            <a:off x="329184" y="2962656"/>
            <a:ext cx="3547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Gradient Boosté</a:t>
            </a:r>
            <a:endParaRPr lang="fr-FR" sz="1000" noProof="0" dirty="0"/>
          </a:p>
        </p:txBody>
      </p:sp>
      <p:sp>
        <p:nvSpPr>
          <p:cNvPr id="48" name="Shape 46"/>
          <p:cNvSpPr/>
          <p:nvPr/>
        </p:nvSpPr>
        <p:spPr>
          <a:xfrm>
            <a:off x="3765226" y="2889504"/>
            <a:ext cx="109728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9" name="Text 47"/>
          <p:cNvSpPr/>
          <p:nvPr/>
        </p:nvSpPr>
        <p:spPr>
          <a:xfrm>
            <a:off x="3986784" y="2962656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0,679</a:t>
            </a:r>
            <a:endParaRPr lang="fr-FR" sz="1000" noProof="0" dirty="0"/>
          </a:p>
        </p:txBody>
      </p:sp>
      <p:sp>
        <p:nvSpPr>
          <p:cNvPr id="50" name="Shape 48"/>
          <p:cNvSpPr/>
          <p:nvPr/>
        </p:nvSpPr>
        <p:spPr>
          <a:xfrm>
            <a:off x="4901079" y="2907792"/>
            <a:ext cx="109728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1" name="Text 49"/>
          <p:cNvSpPr/>
          <p:nvPr/>
        </p:nvSpPr>
        <p:spPr>
          <a:xfrm>
            <a:off x="5084064" y="2962656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6,7 %</a:t>
            </a:r>
            <a:endParaRPr lang="fr-FR" sz="1000" noProof="0" dirty="0"/>
          </a:p>
        </p:txBody>
      </p:sp>
      <p:sp>
        <p:nvSpPr>
          <p:cNvPr id="52" name="Shape 50"/>
          <p:cNvSpPr/>
          <p:nvPr/>
        </p:nvSpPr>
        <p:spPr>
          <a:xfrm>
            <a:off x="6023006" y="2907792"/>
            <a:ext cx="109728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3" name="Text 51"/>
          <p:cNvSpPr/>
          <p:nvPr/>
        </p:nvSpPr>
        <p:spPr>
          <a:xfrm>
            <a:off x="6181344" y="2962656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11,3 %</a:t>
            </a:r>
            <a:endParaRPr lang="fr-FR" sz="1000" noProof="0" dirty="0"/>
          </a:p>
        </p:txBody>
      </p:sp>
      <p:sp>
        <p:nvSpPr>
          <p:cNvPr id="54" name="Shape 52"/>
          <p:cNvSpPr/>
          <p:nvPr/>
        </p:nvSpPr>
        <p:spPr>
          <a:xfrm>
            <a:off x="7150398" y="2907792"/>
            <a:ext cx="1902162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5" name="Text 53"/>
          <p:cNvSpPr/>
          <p:nvPr/>
        </p:nvSpPr>
        <p:spPr>
          <a:xfrm>
            <a:off x="7278624" y="2962656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200 </a:t>
            </a:r>
            <a:r>
              <a:rPr lang="fr-FR" sz="1000" noProof="0" dirty="0" err="1">
                <a:solidFill>
                  <a:srgbClr val="1A1A2E"/>
                </a:solidFill>
              </a:rPr>
              <a:t>iter</a:t>
            </a:r>
            <a:r>
              <a:rPr lang="fr-FR" sz="1000" noProof="0" dirty="0">
                <a:solidFill>
                  <a:srgbClr val="1A1A2E"/>
                </a:solidFill>
              </a:rPr>
              <a:t>. | </a:t>
            </a:r>
            <a:r>
              <a:rPr lang="fr-FR" sz="1000" noProof="0" dirty="0" err="1">
                <a:solidFill>
                  <a:srgbClr val="1A1A2E"/>
                </a:solidFill>
              </a:rPr>
              <a:t>lr</a:t>
            </a:r>
            <a:r>
              <a:rPr lang="fr-FR" sz="1000" noProof="0" dirty="0">
                <a:solidFill>
                  <a:srgbClr val="1A1A2E"/>
                </a:solidFill>
              </a:rPr>
              <a:t>=0,05 | profondeur=4 | sous-</a:t>
            </a:r>
            <a:r>
              <a:rPr lang="fr-FR" sz="1000" noProof="0" dirty="0" err="1">
                <a:solidFill>
                  <a:srgbClr val="1A1A2E"/>
                </a:solidFill>
              </a:rPr>
              <a:t>éch</a:t>
            </a:r>
            <a:r>
              <a:rPr lang="fr-FR" sz="1000" noProof="0" dirty="0">
                <a:solidFill>
                  <a:srgbClr val="1A1A2E"/>
                </a:solidFill>
              </a:rPr>
              <a:t>.=0,8</a:t>
            </a:r>
            <a:endParaRPr lang="fr-FR" sz="1000" noProof="0" dirty="0"/>
          </a:p>
        </p:txBody>
      </p:sp>
      <p:sp>
        <p:nvSpPr>
          <p:cNvPr id="56" name="Shape 54"/>
          <p:cNvSpPr/>
          <p:nvPr/>
        </p:nvSpPr>
        <p:spPr>
          <a:xfrm>
            <a:off x="91440" y="3401568"/>
            <a:ext cx="36576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7" name="Text 55"/>
          <p:cNvSpPr/>
          <p:nvPr/>
        </p:nvSpPr>
        <p:spPr>
          <a:xfrm>
            <a:off x="329184" y="3438144"/>
            <a:ext cx="3547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Hist. Gradient Boosté</a:t>
            </a:r>
            <a:endParaRPr lang="fr-FR" sz="1000" noProof="0" dirty="0"/>
          </a:p>
        </p:txBody>
      </p:sp>
      <p:sp>
        <p:nvSpPr>
          <p:cNvPr id="58" name="Shape 56"/>
          <p:cNvSpPr/>
          <p:nvPr/>
        </p:nvSpPr>
        <p:spPr>
          <a:xfrm>
            <a:off x="3765226" y="3383280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9" name="Text 57"/>
          <p:cNvSpPr/>
          <p:nvPr/>
        </p:nvSpPr>
        <p:spPr>
          <a:xfrm>
            <a:off x="3986784" y="3438144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0,646</a:t>
            </a:r>
            <a:endParaRPr lang="fr-FR" sz="1000" noProof="0" dirty="0"/>
          </a:p>
        </p:txBody>
      </p:sp>
      <p:sp>
        <p:nvSpPr>
          <p:cNvPr id="60" name="Shape 58"/>
          <p:cNvSpPr/>
          <p:nvPr/>
        </p:nvSpPr>
        <p:spPr>
          <a:xfrm>
            <a:off x="4901079" y="3383280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1" name="Text 59"/>
          <p:cNvSpPr/>
          <p:nvPr/>
        </p:nvSpPr>
        <p:spPr>
          <a:xfrm>
            <a:off x="5084064" y="3438144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40,4 %</a:t>
            </a:r>
            <a:endParaRPr lang="fr-FR" sz="1000" noProof="0" dirty="0"/>
          </a:p>
        </p:txBody>
      </p:sp>
      <p:sp>
        <p:nvSpPr>
          <p:cNvPr id="62" name="Shape 60"/>
          <p:cNvSpPr/>
          <p:nvPr/>
        </p:nvSpPr>
        <p:spPr>
          <a:xfrm>
            <a:off x="6023006" y="3383280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3" name="Text 61"/>
          <p:cNvSpPr/>
          <p:nvPr/>
        </p:nvSpPr>
        <p:spPr>
          <a:xfrm>
            <a:off x="6181344" y="3438144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29,8 %</a:t>
            </a:r>
            <a:endParaRPr lang="fr-FR" sz="1000" noProof="0" dirty="0"/>
          </a:p>
        </p:txBody>
      </p:sp>
      <p:sp>
        <p:nvSpPr>
          <p:cNvPr id="64" name="Shape 62"/>
          <p:cNvSpPr/>
          <p:nvPr/>
        </p:nvSpPr>
        <p:spPr>
          <a:xfrm>
            <a:off x="7139362" y="3383280"/>
            <a:ext cx="19202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5" name="Text 63"/>
          <p:cNvSpPr/>
          <p:nvPr/>
        </p:nvSpPr>
        <p:spPr>
          <a:xfrm>
            <a:off x="7278624" y="3438144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A1A2E"/>
                </a:solidFill>
              </a:rPr>
              <a:t>300 </a:t>
            </a:r>
            <a:r>
              <a:rPr lang="fr-FR" sz="1000" noProof="0" dirty="0" err="1">
                <a:solidFill>
                  <a:srgbClr val="1A1A2E"/>
                </a:solidFill>
              </a:rPr>
              <a:t>iter</a:t>
            </a:r>
            <a:r>
              <a:rPr lang="fr-FR" sz="1000" noProof="0" dirty="0">
                <a:solidFill>
                  <a:srgbClr val="1A1A2E"/>
                </a:solidFill>
              </a:rPr>
              <a:t>. | </a:t>
            </a:r>
            <a:r>
              <a:rPr lang="fr-FR" sz="1000" noProof="0" dirty="0" err="1">
                <a:solidFill>
                  <a:srgbClr val="1A1A2E"/>
                </a:solidFill>
              </a:rPr>
              <a:t>lr</a:t>
            </a:r>
            <a:r>
              <a:rPr lang="fr-FR" sz="1000" noProof="0" dirty="0">
                <a:solidFill>
                  <a:srgbClr val="1A1A2E"/>
                </a:solidFill>
              </a:rPr>
              <a:t>=0,05 | profondeur=5 | </a:t>
            </a:r>
            <a:r>
              <a:rPr lang="fr-FR" sz="1000" noProof="0" dirty="0" err="1">
                <a:solidFill>
                  <a:srgbClr val="1A1A2E"/>
                </a:solidFill>
              </a:rPr>
              <a:t>class_weight</a:t>
            </a:r>
            <a:r>
              <a:rPr lang="fr-FR" sz="1000" noProof="0" dirty="0">
                <a:solidFill>
                  <a:srgbClr val="1A1A2E"/>
                </a:solidFill>
              </a:rPr>
              <a:t>=équilibré</a:t>
            </a:r>
            <a:endParaRPr lang="fr-FR" sz="1000" noProof="0" dirty="0"/>
          </a:p>
        </p:txBody>
      </p:sp>
      <p:sp>
        <p:nvSpPr>
          <p:cNvPr id="66" name="Text 64"/>
          <p:cNvSpPr/>
          <p:nvPr/>
        </p:nvSpPr>
        <p:spPr>
          <a:xfrm>
            <a:off x="274320" y="409651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B03A2E"/>
                </a:solidFill>
              </a:rPr>
              <a:t>⚠ Gradient Boosté : </a:t>
            </a:r>
            <a:r>
              <a:rPr lang="fr-FR" sz="1000" noProof="0" dirty="0" err="1">
                <a:solidFill>
                  <a:srgbClr val="B03A2E"/>
                </a:solidFill>
              </a:rPr>
              <a:t>Accuracy</a:t>
            </a:r>
            <a:r>
              <a:rPr lang="fr-FR" sz="1000" noProof="0" dirty="0">
                <a:solidFill>
                  <a:srgbClr val="B03A2E"/>
                </a:solidFill>
              </a:rPr>
              <a:t> = 83,9 % mais Rappel = 6,7 % → ne détecte qu'1 patient sur 15. Non adapté au dépistage médical.</a:t>
            </a:r>
            <a:endParaRPr lang="fr-FR" sz="1000" noProof="0" dirty="0"/>
          </a:p>
        </p:txBody>
      </p:sp>
      <p:sp>
        <p:nvSpPr>
          <p:cNvPr id="67" name="Shape 65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8" name="Text 66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|  </a:t>
            </a:r>
            <a:r>
              <a:rPr lang="fr-FR" sz="900" noProof="0" dirty="0" err="1">
                <a:solidFill>
                  <a:srgbClr val="6BA4C8"/>
                </a:solidFill>
              </a:rPr>
              <a:t>TenYearCHD</a:t>
            </a:r>
            <a:r>
              <a:rPr lang="fr-FR" sz="900" noProof="0" dirty="0">
                <a:solidFill>
                  <a:srgbClr val="6BA4C8"/>
                </a:solidFill>
              </a:rPr>
              <a:t>  |  2026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MODÉLISATION — VALIDATION CROISÉE ET COURBE ROC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300" noProof="0" dirty="0">
                <a:solidFill>
                  <a:srgbClr val="7BAFD4"/>
                </a:solidFill>
              </a:rPr>
              <a:t>10 / 14</a:t>
            </a:r>
            <a:endParaRPr lang="fr-FR" sz="1300" noProof="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749808"/>
          <a:ext cx="420624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274320" y="2944368"/>
          <a:ext cx="420624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2"/>
          <p:cNvGraphicFramePr/>
          <p:nvPr>
            <p:extLst>
              <p:ext uri="{D42A27DB-BD31-4B8C-83A1-F6EECF244321}">
                <p14:modId xmlns:p14="http://schemas.microsoft.com/office/powerpoint/2010/main" val="2054382166"/>
              </p:ext>
            </p:extLst>
          </p:nvPr>
        </p:nvGraphicFramePr>
        <p:xfrm>
          <a:off x="4663440" y="749808"/>
          <a:ext cx="4206240" cy="4041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Shape 3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4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|  </a:t>
            </a:r>
            <a:r>
              <a:rPr lang="fr-FR" sz="900" noProof="0" dirty="0" err="1">
                <a:solidFill>
                  <a:srgbClr val="6BA4C8"/>
                </a:solidFill>
              </a:rPr>
              <a:t>TenYearCHD</a:t>
            </a:r>
            <a:r>
              <a:rPr lang="fr-FR" sz="900" noProof="0" dirty="0">
                <a:solidFill>
                  <a:srgbClr val="6BA4C8"/>
                </a:solidFill>
              </a:rPr>
              <a:t>  |  2026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FACTEURS DE RISQUE PRINCIPAUX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300" noProof="0" dirty="0">
                <a:solidFill>
                  <a:srgbClr val="7BAFD4"/>
                </a:solidFill>
              </a:rPr>
              <a:t>11/ 14</a:t>
            </a:r>
            <a:endParaRPr lang="fr-FR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555555"/>
                </a:solidFill>
              </a:rPr>
              <a:t>Source : coefficients absolus |coef| — Régression Logistique optimisée (</a:t>
            </a:r>
            <a:r>
              <a:rPr lang="fr-FR" sz="1100" noProof="0" dirty="0" err="1">
                <a:solidFill>
                  <a:srgbClr val="555555"/>
                </a:solidFill>
              </a:rPr>
              <a:t>RechercheGrille</a:t>
            </a:r>
            <a:r>
              <a:rPr lang="fr-FR" sz="1100" noProof="0" dirty="0">
                <a:solidFill>
                  <a:srgbClr val="555555"/>
                </a:solidFill>
              </a:rPr>
              <a:t>)</a:t>
            </a:r>
            <a:endParaRPr lang="fr-FR" sz="1100" noProof="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274320" y="1115568"/>
          <a:ext cx="4937760" cy="3547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394960" y="1115568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8" name="Shape 5"/>
          <p:cNvSpPr/>
          <p:nvPr/>
        </p:nvSpPr>
        <p:spPr>
          <a:xfrm>
            <a:off x="5394960" y="1115568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6"/>
          <p:cNvSpPr/>
          <p:nvPr/>
        </p:nvSpPr>
        <p:spPr>
          <a:xfrm>
            <a:off x="5394960" y="1115568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34,9 %</a:t>
            </a:r>
            <a:endParaRPr lang="fr-FR" sz="1100" noProof="0" dirty="0"/>
          </a:p>
        </p:txBody>
      </p:sp>
      <p:sp>
        <p:nvSpPr>
          <p:cNvPr id="10" name="Text 7"/>
          <p:cNvSpPr/>
          <p:nvPr/>
        </p:nvSpPr>
        <p:spPr>
          <a:xfrm>
            <a:off x="6144768" y="1152144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A2F4E"/>
                </a:solidFill>
              </a:rPr>
              <a:t>Âge</a:t>
            </a:r>
            <a:endParaRPr lang="fr-FR" sz="1200" noProof="0" dirty="0"/>
          </a:p>
        </p:txBody>
      </p:sp>
      <p:sp>
        <p:nvSpPr>
          <p:cNvPr id="11" name="Text 8"/>
          <p:cNvSpPr/>
          <p:nvPr/>
        </p:nvSpPr>
        <p:spPr>
          <a:xfrm>
            <a:off x="6144768" y="1408176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1er facteur. Risque fort après 55 ans.</a:t>
            </a:r>
            <a:endParaRPr lang="fr-FR" sz="1000" noProof="0" dirty="0"/>
          </a:p>
        </p:txBody>
      </p:sp>
      <p:sp>
        <p:nvSpPr>
          <p:cNvPr id="12" name="Shape 9"/>
          <p:cNvSpPr/>
          <p:nvPr/>
        </p:nvSpPr>
        <p:spPr>
          <a:xfrm>
            <a:off x="5394960" y="1714500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0"/>
          <p:cNvSpPr/>
          <p:nvPr/>
        </p:nvSpPr>
        <p:spPr>
          <a:xfrm>
            <a:off x="5394960" y="1714500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1"/>
          <p:cNvSpPr/>
          <p:nvPr/>
        </p:nvSpPr>
        <p:spPr>
          <a:xfrm>
            <a:off x="5394960" y="1714500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23,9 %</a:t>
            </a:r>
            <a:endParaRPr lang="fr-FR" sz="1100" noProof="0" dirty="0"/>
          </a:p>
        </p:txBody>
      </p:sp>
      <p:sp>
        <p:nvSpPr>
          <p:cNvPr id="15" name="Text 12"/>
          <p:cNvSpPr/>
          <p:nvPr/>
        </p:nvSpPr>
        <p:spPr>
          <a:xfrm>
            <a:off x="6144768" y="1751076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A2F4E"/>
                </a:solidFill>
              </a:rPr>
              <a:t>Sexe masc.</a:t>
            </a:r>
            <a:endParaRPr lang="fr-FR" sz="1200" noProof="0" dirty="0"/>
          </a:p>
        </p:txBody>
      </p:sp>
      <p:sp>
        <p:nvSpPr>
          <p:cNvPr id="16" name="Text 13"/>
          <p:cNvSpPr/>
          <p:nvPr/>
        </p:nvSpPr>
        <p:spPr>
          <a:xfrm>
            <a:off x="6144768" y="200710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Risque 1,5× supérieur chez l'homme.</a:t>
            </a:r>
            <a:endParaRPr lang="fr-FR" sz="1000" noProof="0" dirty="0"/>
          </a:p>
        </p:txBody>
      </p:sp>
      <p:sp>
        <p:nvSpPr>
          <p:cNvPr id="17" name="Shape 14"/>
          <p:cNvSpPr/>
          <p:nvPr/>
        </p:nvSpPr>
        <p:spPr>
          <a:xfrm>
            <a:off x="5394960" y="2313432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Shape 15"/>
          <p:cNvSpPr/>
          <p:nvPr/>
        </p:nvSpPr>
        <p:spPr>
          <a:xfrm>
            <a:off x="5394960" y="2313432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Text 16"/>
          <p:cNvSpPr/>
          <p:nvPr/>
        </p:nvSpPr>
        <p:spPr>
          <a:xfrm>
            <a:off x="5394960" y="2313432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22,4 %</a:t>
            </a:r>
            <a:endParaRPr lang="fr-FR" sz="1100" noProof="0" dirty="0"/>
          </a:p>
        </p:txBody>
      </p:sp>
      <p:sp>
        <p:nvSpPr>
          <p:cNvPr id="20" name="Text 17"/>
          <p:cNvSpPr/>
          <p:nvPr/>
        </p:nvSpPr>
        <p:spPr>
          <a:xfrm>
            <a:off x="6144768" y="2350008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 err="1">
                <a:solidFill>
                  <a:srgbClr val="1A2F4E"/>
                </a:solidFill>
              </a:rPr>
              <a:t>age_sysBP</a:t>
            </a:r>
            <a:endParaRPr lang="fr-FR" sz="1200" noProof="0" dirty="0"/>
          </a:p>
        </p:txBody>
      </p:sp>
      <p:sp>
        <p:nvSpPr>
          <p:cNvPr id="21" name="Text 18"/>
          <p:cNvSpPr/>
          <p:nvPr/>
        </p:nvSpPr>
        <p:spPr>
          <a:xfrm>
            <a:off x="6144768" y="260604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Cumul du risque cardio. dans le temps.</a:t>
            </a:r>
            <a:endParaRPr lang="fr-FR" sz="1000" noProof="0" dirty="0"/>
          </a:p>
        </p:txBody>
      </p:sp>
      <p:sp>
        <p:nvSpPr>
          <p:cNvPr id="22" name="Shape 19"/>
          <p:cNvSpPr/>
          <p:nvPr/>
        </p:nvSpPr>
        <p:spPr>
          <a:xfrm>
            <a:off x="5394960" y="2912364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Shape 20"/>
          <p:cNvSpPr/>
          <p:nvPr/>
        </p:nvSpPr>
        <p:spPr>
          <a:xfrm>
            <a:off x="5394960" y="2912364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1"/>
          <p:cNvSpPr/>
          <p:nvPr/>
        </p:nvSpPr>
        <p:spPr>
          <a:xfrm>
            <a:off x="5394960" y="2912364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10,2 %</a:t>
            </a:r>
            <a:endParaRPr lang="fr-FR" sz="1100" noProof="0" dirty="0"/>
          </a:p>
        </p:txBody>
      </p:sp>
      <p:sp>
        <p:nvSpPr>
          <p:cNvPr id="25" name="Text 22"/>
          <p:cNvSpPr/>
          <p:nvPr/>
        </p:nvSpPr>
        <p:spPr>
          <a:xfrm>
            <a:off x="6144768" y="29489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A2F4E"/>
                </a:solidFill>
              </a:rPr>
              <a:t>Diabète</a:t>
            </a:r>
            <a:endParaRPr lang="fr-FR" sz="1200" noProof="0" dirty="0"/>
          </a:p>
        </p:txBody>
      </p:sp>
      <p:sp>
        <p:nvSpPr>
          <p:cNvPr id="26" name="Text 23"/>
          <p:cNvSpPr/>
          <p:nvPr/>
        </p:nvSpPr>
        <p:spPr>
          <a:xfrm>
            <a:off x="6144768" y="3204972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Taux CHD 37 % vs 15 % en population.</a:t>
            </a:r>
            <a:endParaRPr lang="fr-FR" sz="1000" noProof="0" dirty="0"/>
          </a:p>
        </p:txBody>
      </p:sp>
      <p:sp>
        <p:nvSpPr>
          <p:cNvPr id="27" name="Shape 24"/>
          <p:cNvSpPr/>
          <p:nvPr/>
        </p:nvSpPr>
        <p:spPr>
          <a:xfrm>
            <a:off x="5394960" y="3511296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8" name="Shape 25"/>
          <p:cNvSpPr/>
          <p:nvPr/>
        </p:nvSpPr>
        <p:spPr>
          <a:xfrm>
            <a:off x="5394960" y="3511296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26"/>
          <p:cNvSpPr/>
          <p:nvPr/>
        </p:nvSpPr>
        <p:spPr>
          <a:xfrm>
            <a:off x="5394960" y="3511296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9,1 %</a:t>
            </a:r>
            <a:endParaRPr lang="fr-FR" sz="1100" noProof="0" dirty="0"/>
          </a:p>
        </p:txBody>
      </p:sp>
      <p:sp>
        <p:nvSpPr>
          <p:cNvPr id="30" name="Text 27"/>
          <p:cNvSpPr/>
          <p:nvPr/>
        </p:nvSpPr>
        <p:spPr>
          <a:xfrm>
            <a:off x="6144768" y="3547872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 err="1">
                <a:solidFill>
                  <a:srgbClr val="1A2F4E"/>
                </a:solidFill>
              </a:rPr>
              <a:t>risk_score</a:t>
            </a:r>
            <a:endParaRPr lang="fr-FR" sz="1200" noProof="0" dirty="0"/>
          </a:p>
        </p:txBody>
      </p:sp>
      <p:sp>
        <p:nvSpPr>
          <p:cNvPr id="31" name="Text 28"/>
          <p:cNvSpPr/>
          <p:nvPr/>
        </p:nvSpPr>
        <p:spPr>
          <a:xfrm>
            <a:off x="6144768" y="3803904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Agrège 7 facteurs cliniques clés.</a:t>
            </a:r>
            <a:endParaRPr lang="fr-FR" sz="1000" noProof="0" dirty="0"/>
          </a:p>
        </p:txBody>
      </p:sp>
      <p:sp>
        <p:nvSpPr>
          <p:cNvPr id="32" name="Shape 29"/>
          <p:cNvSpPr/>
          <p:nvPr/>
        </p:nvSpPr>
        <p:spPr>
          <a:xfrm>
            <a:off x="5394960" y="4110228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30"/>
          <p:cNvSpPr/>
          <p:nvPr/>
        </p:nvSpPr>
        <p:spPr>
          <a:xfrm>
            <a:off x="5394960" y="4110228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31"/>
          <p:cNvSpPr/>
          <p:nvPr/>
        </p:nvSpPr>
        <p:spPr>
          <a:xfrm>
            <a:off x="5394960" y="4110228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7,2 %</a:t>
            </a:r>
            <a:endParaRPr lang="fr-FR" sz="1100" noProof="0" dirty="0"/>
          </a:p>
        </p:txBody>
      </p:sp>
      <p:sp>
        <p:nvSpPr>
          <p:cNvPr id="35" name="Text 32"/>
          <p:cNvSpPr/>
          <p:nvPr/>
        </p:nvSpPr>
        <p:spPr>
          <a:xfrm>
            <a:off x="6144768" y="4146804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200" b="1" noProof="0" dirty="0" err="1">
                <a:solidFill>
                  <a:srgbClr val="1A2F4E"/>
                </a:solidFill>
              </a:rPr>
              <a:t>sysBP</a:t>
            </a:r>
            <a:endParaRPr lang="fr-FR" sz="1200" noProof="0" dirty="0"/>
          </a:p>
        </p:txBody>
      </p:sp>
      <p:sp>
        <p:nvSpPr>
          <p:cNvPr id="36" name="Text 33"/>
          <p:cNvSpPr/>
          <p:nvPr/>
        </p:nvSpPr>
        <p:spPr>
          <a:xfrm>
            <a:off x="6144768" y="4402836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Seuil critique ≥ 140 </a:t>
            </a:r>
            <a:r>
              <a:rPr lang="fr-FR" sz="1000" noProof="0" dirty="0" err="1">
                <a:solidFill>
                  <a:srgbClr val="555555"/>
                </a:solidFill>
              </a:rPr>
              <a:t>mmHg</a:t>
            </a:r>
            <a:r>
              <a:rPr lang="fr-FR" sz="1000" noProof="0" dirty="0">
                <a:solidFill>
                  <a:srgbClr val="555555"/>
                </a:solidFill>
              </a:rPr>
              <a:t> (stade 2).</a:t>
            </a:r>
            <a:endParaRPr lang="fr-FR" sz="1000" noProof="0" dirty="0"/>
          </a:p>
        </p:txBody>
      </p:sp>
      <p:sp>
        <p:nvSpPr>
          <p:cNvPr id="37" name="Shape 34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8" name="Text 35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|  </a:t>
            </a:r>
            <a:r>
              <a:rPr lang="fr-FR" sz="900" noProof="0" dirty="0" err="1">
                <a:solidFill>
                  <a:srgbClr val="6BA4C8"/>
                </a:solidFill>
              </a:rPr>
              <a:t>TenYearCHD</a:t>
            </a:r>
            <a:r>
              <a:rPr lang="fr-FR" sz="900" noProof="0" dirty="0">
                <a:solidFill>
                  <a:srgbClr val="6BA4C8"/>
                </a:solidFill>
              </a:rPr>
              <a:t>  |  2026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F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142640"/>
          </a:solidFill>
          <a:ln w="12700">
            <a:solidFill>
              <a:srgbClr val="14264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200" b="1" kern="0" spc="200" noProof="0" dirty="0">
                <a:solidFill>
                  <a:srgbClr val="FFFFFF"/>
                </a:solidFill>
              </a:rPr>
              <a:t>CONCLUSION ET RECOMMANDATIONS</a:t>
            </a:r>
            <a:endParaRPr lang="fr-FR" sz="2200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640080"/>
            <a:ext cx="3200400" cy="36576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8595360" cy="640080"/>
          </a:xfrm>
          <a:prstGeom prst="rect">
            <a:avLst/>
          </a:prstGeom>
          <a:solidFill>
            <a:srgbClr val="2471A3">
              <a:alpha val="85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Text 5"/>
          <p:cNvSpPr/>
          <p:nvPr/>
        </p:nvSpPr>
        <p:spPr>
          <a:xfrm>
            <a:off x="320040" y="804672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300" b="1" dirty="0">
                <a:solidFill>
                  <a:srgbClr val="FFFFFF"/>
                </a:solidFill>
              </a:rPr>
              <a:t>*</a:t>
            </a:r>
            <a:r>
              <a:rPr lang="fr-FR" sz="1300" b="1" noProof="0" dirty="0">
                <a:solidFill>
                  <a:srgbClr val="FFFFFF"/>
                </a:solidFill>
              </a:rPr>
              <a:t> Modèle retenu : Régression Logistique optimisée| AUC-ROC = 0,703 | Rappel = 75,13 % | AUC croisée = 0,7298  ±  0,034</a:t>
            </a:r>
            <a:endParaRPr lang="fr-FR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274320" y="1572768"/>
            <a:ext cx="2697480" cy="36576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7"/>
          <p:cNvSpPr/>
          <p:nvPr/>
        </p:nvSpPr>
        <p:spPr>
          <a:xfrm>
            <a:off x="274320" y="1572768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Performance obtenue</a:t>
            </a:r>
            <a:endParaRPr lang="fr-F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274320" y="1965960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347472" y="20116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AUC-ROC = 0,698 (vs 0,500 référence)</a:t>
            </a:r>
            <a:endParaRPr lang="fr-FR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274320" y="2441448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1"/>
          <p:cNvSpPr/>
          <p:nvPr/>
        </p:nvSpPr>
        <p:spPr>
          <a:xfrm>
            <a:off x="347472" y="248716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Rappel = 63,2 % — détecte 6 patients sur 10</a:t>
            </a:r>
            <a:endParaRPr lang="fr-FR" sz="1000" noProof="0" dirty="0"/>
          </a:p>
        </p:txBody>
      </p:sp>
      <p:sp>
        <p:nvSpPr>
          <p:cNvPr id="14" name="Shape 12"/>
          <p:cNvSpPr/>
          <p:nvPr/>
        </p:nvSpPr>
        <p:spPr>
          <a:xfrm>
            <a:off x="274320" y="2916936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347472" y="296265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Croisement stable : AUC = 0,7244 ± 0,025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274320" y="3392424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Text 15"/>
          <p:cNvSpPr/>
          <p:nvPr/>
        </p:nvSpPr>
        <p:spPr>
          <a:xfrm>
            <a:off x="347472" y="343814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Précision = 25,7 % — compromis acceptable</a:t>
            </a:r>
            <a:endParaRPr lang="fr-FR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3154680" y="1572768"/>
            <a:ext cx="2697480" cy="365760"/>
          </a:xfrm>
          <a:prstGeom prst="rect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Text 17"/>
          <p:cNvSpPr/>
          <p:nvPr/>
        </p:nvSpPr>
        <p:spPr>
          <a:xfrm>
            <a:off x="3154680" y="1572768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Impact potentiel en santé</a:t>
            </a:r>
            <a:endParaRPr lang="fr-FR" sz="1100" noProof="0" dirty="0"/>
          </a:p>
        </p:txBody>
      </p:sp>
      <p:sp>
        <p:nvSpPr>
          <p:cNvPr id="20" name="Shape 18"/>
          <p:cNvSpPr/>
          <p:nvPr/>
        </p:nvSpPr>
        <p:spPr>
          <a:xfrm>
            <a:off x="3154680" y="1965960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3227832" y="20116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Dépistage précoce des profils à risque</a:t>
            </a:r>
            <a:endParaRPr lang="fr-FR" sz="1000" noProof="0" dirty="0"/>
          </a:p>
        </p:txBody>
      </p:sp>
      <p:sp>
        <p:nvSpPr>
          <p:cNvPr id="22" name="Shape 20"/>
          <p:cNvSpPr/>
          <p:nvPr/>
        </p:nvSpPr>
        <p:spPr>
          <a:xfrm>
            <a:off x="3154680" y="2441448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Text 21"/>
          <p:cNvSpPr/>
          <p:nvPr/>
        </p:nvSpPr>
        <p:spPr>
          <a:xfrm>
            <a:off x="3227832" y="248716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Réduction des hospitalisations évitables</a:t>
            </a:r>
            <a:endParaRPr lang="fr-FR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3154680" y="2916936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Text 23"/>
          <p:cNvSpPr/>
          <p:nvPr/>
        </p:nvSpPr>
        <p:spPr>
          <a:xfrm>
            <a:off x="3227832" y="296265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Aide au clinicien : priorisation des patients</a:t>
            </a:r>
            <a:endParaRPr lang="fr-FR" sz="1000" noProof="0" dirty="0"/>
          </a:p>
        </p:txBody>
      </p:sp>
      <p:sp>
        <p:nvSpPr>
          <p:cNvPr id="26" name="Shape 24"/>
          <p:cNvSpPr/>
          <p:nvPr/>
        </p:nvSpPr>
        <p:spPr>
          <a:xfrm>
            <a:off x="3154680" y="3392424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25"/>
          <p:cNvSpPr/>
          <p:nvPr/>
        </p:nvSpPr>
        <p:spPr>
          <a:xfrm>
            <a:off x="3227832" y="343814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Reproductible sur d'autres cohortes</a:t>
            </a:r>
            <a:endParaRPr lang="fr-FR" sz="1000" noProof="0" dirty="0"/>
          </a:p>
        </p:txBody>
      </p:sp>
      <p:sp>
        <p:nvSpPr>
          <p:cNvPr id="28" name="Shape 26"/>
          <p:cNvSpPr/>
          <p:nvPr/>
        </p:nvSpPr>
        <p:spPr>
          <a:xfrm>
            <a:off x="6035040" y="1572768"/>
            <a:ext cx="2697480" cy="365760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27"/>
          <p:cNvSpPr/>
          <p:nvPr/>
        </p:nvSpPr>
        <p:spPr>
          <a:xfrm>
            <a:off x="6035040" y="1572768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Recommandations</a:t>
            </a:r>
            <a:endParaRPr lang="fr-FR" sz="1100" noProof="0" dirty="0"/>
          </a:p>
        </p:txBody>
      </p:sp>
      <p:sp>
        <p:nvSpPr>
          <p:cNvPr id="30" name="Shape 28"/>
          <p:cNvSpPr/>
          <p:nvPr/>
        </p:nvSpPr>
        <p:spPr>
          <a:xfrm>
            <a:off x="6035040" y="1965960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9"/>
          <p:cNvSpPr/>
          <p:nvPr/>
        </p:nvSpPr>
        <p:spPr>
          <a:xfrm>
            <a:off x="6108192" y="20116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Abaisser le seuil à 0,44 → Rappel = 75 %</a:t>
            </a:r>
            <a:endParaRPr lang="fr-FR" sz="1000" noProof="0" dirty="0"/>
          </a:p>
        </p:txBody>
      </p:sp>
      <p:sp>
        <p:nvSpPr>
          <p:cNvPr id="32" name="Shape 30"/>
          <p:cNvSpPr/>
          <p:nvPr/>
        </p:nvSpPr>
        <p:spPr>
          <a:xfrm>
            <a:off x="6035040" y="2441448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Text 31"/>
          <p:cNvSpPr/>
          <p:nvPr/>
        </p:nvSpPr>
        <p:spPr>
          <a:xfrm>
            <a:off x="6108192" y="248716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Utiliser </a:t>
            </a:r>
            <a:r>
              <a:rPr lang="fr-FR" sz="1000" noProof="0" dirty="0" err="1">
                <a:solidFill>
                  <a:srgbClr val="FFFFFF"/>
                </a:solidFill>
              </a:rPr>
              <a:t>Fbêta</a:t>
            </a:r>
            <a:r>
              <a:rPr lang="fr-FR" sz="1000" noProof="0" dirty="0">
                <a:solidFill>
                  <a:srgbClr val="FFFFFF"/>
                </a:solidFill>
              </a:rPr>
              <a:t>(2) comme métrique principale</a:t>
            </a:r>
            <a:endParaRPr lang="fr-FR" sz="1000" noProof="0" dirty="0"/>
          </a:p>
        </p:txBody>
      </p:sp>
      <p:sp>
        <p:nvSpPr>
          <p:cNvPr id="34" name="Shape 32"/>
          <p:cNvSpPr/>
          <p:nvPr/>
        </p:nvSpPr>
        <p:spPr>
          <a:xfrm>
            <a:off x="6035040" y="2916936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5" name="Text 33"/>
          <p:cNvSpPr/>
          <p:nvPr/>
        </p:nvSpPr>
        <p:spPr>
          <a:xfrm>
            <a:off x="6108192" y="296265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Enrichir les données avec biomarqueurs</a:t>
            </a:r>
            <a:endParaRPr lang="fr-FR" sz="1000" noProof="0" dirty="0"/>
          </a:p>
        </p:txBody>
      </p:sp>
      <p:sp>
        <p:nvSpPr>
          <p:cNvPr id="36" name="Shape 34"/>
          <p:cNvSpPr/>
          <p:nvPr/>
        </p:nvSpPr>
        <p:spPr>
          <a:xfrm>
            <a:off x="6035040" y="3392424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7" name="Text 35"/>
          <p:cNvSpPr/>
          <p:nvPr/>
        </p:nvSpPr>
        <p:spPr>
          <a:xfrm>
            <a:off x="6108192" y="343814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FFFFFF"/>
                </a:solidFill>
              </a:rPr>
              <a:t>·  Valider sur cohorte contemporaine</a:t>
            </a:r>
            <a:endParaRPr lang="fr-FR" sz="1000" noProof="0" dirty="0"/>
          </a:p>
        </p:txBody>
      </p:sp>
      <p:sp>
        <p:nvSpPr>
          <p:cNvPr id="38" name="Text 36"/>
          <p:cNvSpPr/>
          <p:nvPr/>
        </p:nvSpPr>
        <p:spPr>
          <a:xfrm>
            <a:off x="228600" y="448056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Analyste Data Junior   ·   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 ·   2026</a:t>
            </a:r>
            <a:endParaRPr lang="fr-FR" sz="900" noProof="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F551EE-9CC9-DE70-8D19-585BABEDD7DD}"/>
              </a:ext>
            </a:extLst>
          </p:cNvPr>
          <p:cNvSpPr txBox="1"/>
          <p:nvPr/>
        </p:nvSpPr>
        <p:spPr>
          <a:xfrm>
            <a:off x="4384964" y="117116"/>
            <a:ext cx="45789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fr-FR" sz="1800" noProof="0" dirty="0">
                <a:solidFill>
                  <a:srgbClr val="7BAFD4"/>
                </a:solidFill>
              </a:rPr>
              <a:t>12/ 14</a:t>
            </a:r>
            <a:endParaRPr lang="fr-FR" sz="18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</a:rPr>
              <a:t>LIMITES ET PERSPECTIVES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300" noProof="0" dirty="0">
                <a:solidFill>
                  <a:srgbClr val="7BAFD4"/>
                </a:solidFill>
              </a:rPr>
              <a:t>13/ 14</a:t>
            </a:r>
            <a:endParaRPr lang="fr-F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114800" cy="384048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749808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⚠  Limites actuelles</a:t>
            </a:r>
            <a:endParaRPr lang="fr-F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B03A2E"/>
                </a:solidFill>
              </a:rPr>
              <a:t>⚠  Données de 1948–1972 — généralisation limitée</a:t>
            </a:r>
            <a:endParaRPr lang="fr-FR" sz="1100" noProof="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4114800" cy="457200"/>
          </a:xfrm>
          <a:prstGeom prst="rect">
            <a:avLst/>
          </a:prstGeom>
          <a:solidFill>
            <a:srgbClr val="FFF5F5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365760" y="17647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B03A2E"/>
                </a:solidFill>
              </a:rPr>
              <a:t>⚠  Déséquilibre persistant malgré </a:t>
            </a:r>
            <a:r>
              <a:rPr lang="fr-FR" sz="1100" noProof="0" dirty="0" err="1">
                <a:solidFill>
                  <a:srgbClr val="B03A2E"/>
                </a:solidFill>
              </a:rPr>
              <a:t>class_weight</a:t>
            </a:r>
            <a:endParaRPr lang="fr-FR" sz="1100" noProof="0" dirty="0"/>
          </a:p>
        </p:txBody>
      </p:sp>
      <p:sp>
        <p:nvSpPr>
          <p:cNvPr id="11" name="Shape 9"/>
          <p:cNvSpPr/>
          <p:nvPr/>
        </p:nvSpPr>
        <p:spPr>
          <a:xfrm>
            <a:off x="274320" y="2249424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365760" y="229514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B03A2E"/>
                </a:solidFill>
              </a:rPr>
              <a:t>⚠  Corrélations modérées (r max = 0,26)</a:t>
            </a:r>
            <a:endParaRPr lang="fr-FR" sz="1100" noProof="0" dirty="0"/>
          </a:p>
        </p:txBody>
      </p:sp>
      <p:sp>
        <p:nvSpPr>
          <p:cNvPr id="13" name="Shape 11"/>
          <p:cNvSpPr/>
          <p:nvPr/>
        </p:nvSpPr>
        <p:spPr>
          <a:xfrm>
            <a:off x="274320" y="2779776"/>
            <a:ext cx="4114800" cy="457200"/>
          </a:xfrm>
          <a:prstGeom prst="rect">
            <a:avLst/>
          </a:prstGeom>
          <a:solidFill>
            <a:srgbClr val="FFF5F5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365760" y="282549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B03A2E"/>
                </a:solidFill>
              </a:rPr>
              <a:t>⚠  Absence de biomarqueurs avancés </a:t>
            </a:r>
            <a:endParaRPr lang="fr-FR" sz="1100" noProof="0" dirty="0"/>
          </a:p>
        </p:txBody>
      </p:sp>
      <p:sp>
        <p:nvSpPr>
          <p:cNvPr id="15" name="Shape 13"/>
          <p:cNvSpPr/>
          <p:nvPr/>
        </p:nvSpPr>
        <p:spPr>
          <a:xfrm>
            <a:off x="274320" y="3310128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Text 14"/>
          <p:cNvSpPr/>
          <p:nvPr/>
        </p:nvSpPr>
        <p:spPr>
          <a:xfrm>
            <a:off x="365760" y="335584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B03A2E"/>
                </a:solidFill>
              </a:rPr>
              <a:t>⚠  Validation externe non réalisée</a:t>
            </a:r>
            <a:endParaRPr lang="fr-FR" sz="1100" noProof="0" dirty="0"/>
          </a:p>
        </p:txBody>
      </p:sp>
      <p:sp>
        <p:nvSpPr>
          <p:cNvPr id="17" name="Shape 15"/>
          <p:cNvSpPr/>
          <p:nvPr/>
        </p:nvSpPr>
        <p:spPr>
          <a:xfrm>
            <a:off x="4754880" y="749808"/>
            <a:ext cx="4114800" cy="384048"/>
          </a:xfrm>
          <a:prstGeom prst="rect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754880" y="749808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 Perspectives d'amélioration</a:t>
            </a:r>
            <a:endParaRPr lang="fr-FR" sz="1300" noProof="0" dirty="0"/>
          </a:p>
        </p:txBody>
      </p:sp>
      <p:sp>
        <p:nvSpPr>
          <p:cNvPr id="20" name="Shape 18"/>
          <p:cNvSpPr/>
          <p:nvPr/>
        </p:nvSpPr>
        <p:spPr>
          <a:xfrm>
            <a:off x="4773168" y="1252728"/>
            <a:ext cx="457200" cy="457200"/>
          </a:xfrm>
          <a:prstGeom prst="ellipse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4773168" y="12527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01</a:t>
            </a:r>
            <a:endParaRPr lang="fr-FR" sz="1100" noProof="0" dirty="0"/>
          </a:p>
        </p:txBody>
      </p:sp>
      <p:sp>
        <p:nvSpPr>
          <p:cNvPr id="22" name="Text 20"/>
          <p:cNvSpPr/>
          <p:nvPr/>
        </p:nvSpPr>
        <p:spPr>
          <a:xfrm>
            <a:off x="5285232" y="1234440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 err="1">
                <a:solidFill>
                  <a:srgbClr val="1A2F4E"/>
                </a:solidFill>
              </a:rPr>
              <a:t>Surépchantillonnage</a:t>
            </a:r>
            <a:endParaRPr lang="fr-FR" sz="1100" noProof="0" dirty="0"/>
          </a:p>
        </p:txBody>
      </p:sp>
      <p:sp>
        <p:nvSpPr>
          <p:cNvPr id="23" name="Text 21"/>
          <p:cNvSpPr/>
          <p:nvPr/>
        </p:nvSpPr>
        <p:spPr>
          <a:xfrm>
            <a:off x="5285232" y="149047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Génération d'exemples synthétiques</a:t>
            </a:r>
            <a:endParaRPr lang="fr-FR" sz="1000" noProof="0" dirty="0"/>
          </a:p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pour la classe minoritaire</a:t>
            </a:r>
            <a:endParaRPr lang="fr-FR" sz="1000" noProof="0" dirty="0"/>
          </a:p>
        </p:txBody>
      </p:sp>
      <p:sp>
        <p:nvSpPr>
          <p:cNvPr id="25" name="Shape 23"/>
          <p:cNvSpPr/>
          <p:nvPr/>
        </p:nvSpPr>
        <p:spPr>
          <a:xfrm>
            <a:off x="4773168" y="1911096"/>
            <a:ext cx="457200" cy="457200"/>
          </a:xfrm>
          <a:prstGeom prst="ellipse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773168" y="19110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02</a:t>
            </a:r>
            <a:endParaRPr lang="fr-FR" sz="1100" noProof="0" dirty="0"/>
          </a:p>
        </p:txBody>
      </p:sp>
      <p:sp>
        <p:nvSpPr>
          <p:cNvPr id="27" name="Text 25"/>
          <p:cNvSpPr/>
          <p:nvPr/>
        </p:nvSpPr>
        <p:spPr>
          <a:xfrm>
            <a:off x="5285232" y="1892808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A2F4E"/>
                </a:solidFill>
              </a:rPr>
              <a:t>Optimisation bayésienne</a:t>
            </a:r>
            <a:endParaRPr lang="fr-FR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5285232" y="214884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Recherche d'hyperparamètres</a:t>
            </a:r>
            <a:endParaRPr lang="fr-FR" sz="1000" noProof="0" dirty="0"/>
          </a:p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plus efficace que la grille</a:t>
            </a:r>
            <a:endParaRPr lang="fr-FR" sz="1000" noProof="0" dirty="0"/>
          </a:p>
        </p:txBody>
      </p:sp>
      <p:sp>
        <p:nvSpPr>
          <p:cNvPr id="30" name="Shape 28"/>
          <p:cNvSpPr/>
          <p:nvPr/>
        </p:nvSpPr>
        <p:spPr>
          <a:xfrm>
            <a:off x="4773168" y="2569464"/>
            <a:ext cx="457200" cy="457200"/>
          </a:xfrm>
          <a:prstGeom prst="ellipse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9"/>
          <p:cNvSpPr/>
          <p:nvPr/>
        </p:nvSpPr>
        <p:spPr>
          <a:xfrm>
            <a:off x="4773168" y="2569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03</a:t>
            </a:r>
            <a:endParaRPr lang="fr-FR" sz="1100" noProof="0" dirty="0"/>
          </a:p>
        </p:txBody>
      </p:sp>
      <p:sp>
        <p:nvSpPr>
          <p:cNvPr id="32" name="Text 30"/>
          <p:cNvSpPr/>
          <p:nvPr/>
        </p:nvSpPr>
        <p:spPr>
          <a:xfrm>
            <a:off x="5285232" y="2551176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A2F4E"/>
                </a:solidFill>
              </a:rPr>
              <a:t>Valeurs SHAP</a:t>
            </a:r>
            <a:endParaRPr lang="fr-FR" sz="1100" noProof="0" dirty="0"/>
          </a:p>
        </p:txBody>
      </p:sp>
      <p:sp>
        <p:nvSpPr>
          <p:cNvPr id="33" name="Text 31"/>
          <p:cNvSpPr/>
          <p:nvPr/>
        </p:nvSpPr>
        <p:spPr>
          <a:xfrm>
            <a:off x="5285232" y="28072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Interprétabilité individuelle</a:t>
            </a:r>
            <a:endParaRPr lang="fr-FR" sz="1000" noProof="0" dirty="0"/>
          </a:p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par patient</a:t>
            </a:r>
            <a:endParaRPr lang="fr-FR" sz="1000" noProof="0" dirty="0"/>
          </a:p>
        </p:txBody>
      </p:sp>
      <p:sp>
        <p:nvSpPr>
          <p:cNvPr id="35" name="Shape 33"/>
          <p:cNvSpPr/>
          <p:nvPr/>
        </p:nvSpPr>
        <p:spPr>
          <a:xfrm>
            <a:off x="4773168" y="3227832"/>
            <a:ext cx="457200" cy="457200"/>
          </a:xfrm>
          <a:prstGeom prst="ellipse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6" name="Text 34"/>
          <p:cNvSpPr/>
          <p:nvPr/>
        </p:nvSpPr>
        <p:spPr>
          <a:xfrm>
            <a:off x="4773168" y="3227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04</a:t>
            </a:r>
            <a:endParaRPr lang="fr-FR" sz="1100" noProof="0" dirty="0"/>
          </a:p>
        </p:txBody>
      </p:sp>
      <p:sp>
        <p:nvSpPr>
          <p:cNvPr id="37" name="Text 35"/>
          <p:cNvSpPr/>
          <p:nvPr/>
        </p:nvSpPr>
        <p:spPr>
          <a:xfrm>
            <a:off x="5285232" y="3209544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A2F4E"/>
                </a:solidFill>
              </a:rPr>
              <a:t>Déploiement API REST</a:t>
            </a:r>
            <a:endParaRPr lang="fr-FR" sz="1100" noProof="0" dirty="0"/>
          </a:p>
        </p:txBody>
      </p:sp>
      <p:sp>
        <p:nvSpPr>
          <p:cNvPr id="38" name="Text 36"/>
          <p:cNvSpPr/>
          <p:nvPr/>
        </p:nvSpPr>
        <p:spPr>
          <a:xfrm>
            <a:off x="5285232" y="34655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Pipeline via </a:t>
            </a:r>
            <a:r>
              <a:rPr lang="fr-FR" sz="1000" noProof="0" dirty="0" err="1">
                <a:solidFill>
                  <a:srgbClr val="555555"/>
                </a:solidFill>
              </a:rPr>
              <a:t>FastAPI</a:t>
            </a:r>
            <a:endParaRPr lang="fr-FR" sz="1000" noProof="0" dirty="0"/>
          </a:p>
          <a:p>
            <a:pPr marL="0" indent="0">
              <a:buNone/>
            </a:pPr>
            <a:r>
              <a:rPr lang="fr-FR" sz="1000" noProof="0" dirty="0">
                <a:solidFill>
                  <a:srgbClr val="555555"/>
                </a:solidFill>
              </a:rPr>
              <a:t>→ </a:t>
            </a:r>
            <a:r>
              <a:rPr lang="fr-FR" sz="1000" noProof="0" dirty="0" err="1">
                <a:solidFill>
                  <a:srgbClr val="555555"/>
                </a:solidFill>
              </a:rPr>
              <a:t>predict_proba</a:t>
            </a:r>
            <a:r>
              <a:rPr lang="fr-FR" sz="1000" noProof="0" dirty="0">
                <a:solidFill>
                  <a:srgbClr val="555555"/>
                </a:solidFill>
              </a:rPr>
              <a:t>() → PKL</a:t>
            </a:r>
            <a:endParaRPr lang="fr-FR" sz="1000" noProof="0" dirty="0"/>
          </a:p>
        </p:txBody>
      </p:sp>
      <p:sp>
        <p:nvSpPr>
          <p:cNvPr id="39" name="Shape 37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0" name="Text 38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|  </a:t>
            </a:r>
            <a:r>
              <a:rPr lang="fr-FR" sz="900" noProof="0" dirty="0" err="1">
                <a:solidFill>
                  <a:srgbClr val="6BA4C8"/>
                </a:solidFill>
              </a:rPr>
              <a:t>TenYearCHD</a:t>
            </a:r>
            <a:r>
              <a:rPr lang="fr-FR" sz="900" noProof="0" dirty="0">
                <a:solidFill>
                  <a:srgbClr val="6BA4C8"/>
                </a:solidFill>
              </a:rPr>
              <a:t>  |  2026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F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142640"/>
          </a:solidFill>
          <a:ln w="12700">
            <a:solidFill>
              <a:srgbClr val="14264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/>
          <p:cNvSpPr/>
          <p:nvPr/>
        </p:nvSpPr>
        <p:spPr>
          <a:xfrm>
            <a:off x="-1312719" y="950803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3600" b="1" noProof="0" dirty="0">
                <a:solidFill>
                  <a:srgbClr val="FFFFFF"/>
                </a:solidFill>
              </a:rPr>
              <a:t>Merci pour votre attention</a:t>
            </a:r>
            <a:endParaRPr lang="fr-FR" sz="3600" noProof="0" dirty="0"/>
          </a:p>
        </p:txBody>
      </p:sp>
      <p:sp>
        <p:nvSpPr>
          <p:cNvPr id="5" name="Text 3"/>
          <p:cNvSpPr/>
          <p:nvPr/>
        </p:nvSpPr>
        <p:spPr>
          <a:xfrm>
            <a:off x="-685800" y="18013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400" noProof="0" dirty="0">
                <a:solidFill>
                  <a:srgbClr val="90C2E8"/>
                </a:solidFill>
              </a:rPr>
              <a:t>Prédiction du Risque de Maladie Coronarienne à 10 Ans — Framingham </a:t>
            </a:r>
            <a:r>
              <a:rPr lang="fr-FR" sz="1400" noProof="0" dirty="0" err="1">
                <a:solidFill>
                  <a:srgbClr val="90C2E8"/>
                </a:solidFill>
              </a:rPr>
              <a:t>Heart</a:t>
            </a:r>
            <a:r>
              <a:rPr lang="fr-FR" sz="1400" noProof="0" dirty="0">
                <a:solidFill>
                  <a:srgbClr val="90C2E8"/>
                </a:solidFill>
              </a:rPr>
              <a:t> </a:t>
            </a:r>
            <a:r>
              <a:rPr lang="fr-FR" sz="1400" noProof="0" dirty="0" err="1">
                <a:solidFill>
                  <a:srgbClr val="90C2E8"/>
                </a:solidFill>
              </a:rPr>
              <a:t>Study</a:t>
            </a:r>
            <a:endParaRPr lang="fr-FR" sz="1400" noProof="0" dirty="0"/>
          </a:p>
        </p:txBody>
      </p:sp>
      <p:sp>
        <p:nvSpPr>
          <p:cNvPr id="6" name="Shape 4"/>
          <p:cNvSpPr/>
          <p:nvPr/>
        </p:nvSpPr>
        <p:spPr>
          <a:xfrm>
            <a:off x="3200400" y="2286000"/>
            <a:ext cx="2743200" cy="36576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2377440" cy="16002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fr-FR" sz="220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25146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</a:rPr>
              <a:t>Merci au Jury</a:t>
            </a:r>
            <a:endParaRPr lang="fr-FR" sz="1200" noProof="0" dirty="0"/>
          </a:p>
        </p:txBody>
      </p:sp>
      <p:sp>
        <p:nvSpPr>
          <p:cNvPr id="10" name="Text 8"/>
          <p:cNvSpPr/>
          <p:nvPr/>
        </p:nvSpPr>
        <p:spPr>
          <a:xfrm>
            <a:off x="731520" y="32689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90C2E8"/>
                </a:solidFill>
              </a:rPr>
              <a:t>Pour l'évaluation de ce travail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90C2E8"/>
                </a:solidFill>
              </a:rPr>
              <a:t>et les remarques constructives</a:t>
            </a:r>
            <a:endParaRPr lang="fr-FR" sz="1000" noProof="0" dirty="0"/>
          </a:p>
        </p:txBody>
      </p:sp>
      <p:sp>
        <p:nvSpPr>
          <p:cNvPr id="11" name="Shape 9"/>
          <p:cNvSpPr/>
          <p:nvPr/>
        </p:nvSpPr>
        <p:spPr>
          <a:xfrm>
            <a:off x="3429000" y="2468880"/>
            <a:ext cx="2377440" cy="16002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3429000" y="2514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fr-FR" sz="2200" noProof="0" dirty="0"/>
          </a:p>
        </p:txBody>
      </p:sp>
      <p:sp>
        <p:nvSpPr>
          <p:cNvPr id="13" name="Text 11"/>
          <p:cNvSpPr/>
          <p:nvPr/>
        </p:nvSpPr>
        <p:spPr>
          <a:xfrm>
            <a:off x="3429000" y="2532888"/>
            <a:ext cx="23774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</a:rPr>
              <a:t>Merci à l'Encadrant</a:t>
            </a:r>
            <a:endParaRPr lang="fr-FR" sz="1200" noProof="0" dirty="0"/>
          </a:p>
        </p:txBody>
      </p:sp>
      <p:sp>
        <p:nvSpPr>
          <p:cNvPr id="14" name="Text 12"/>
          <p:cNvSpPr/>
          <p:nvPr/>
        </p:nvSpPr>
        <p:spPr>
          <a:xfrm>
            <a:off x="3429000" y="33375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90C2E8"/>
                </a:solidFill>
              </a:rPr>
              <a:t>Pour l'accompagnement, les conseils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90C2E8"/>
                </a:solidFill>
              </a:rPr>
              <a:t>et le suivi tout au long du projet</a:t>
            </a:r>
            <a:endParaRPr lang="fr-FR" sz="1000" noProof="0" dirty="0"/>
          </a:p>
        </p:txBody>
      </p:sp>
      <p:sp>
        <p:nvSpPr>
          <p:cNvPr id="15" name="Shape 13"/>
          <p:cNvSpPr/>
          <p:nvPr/>
        </p:nvSpPr>
        <p:spPr>
          <a:xfrm>
            <a:off x="6126480" y="2468880"/>
            <a:ext cx="2377440" cy="16002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Text 14"/>
          <p:cNvSpPr/>
          <p:nvPr/>
        </p:nvSpPr>
        <p:spPr>
          <a:xfrm>
            <a:off x="6126480" y="2514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fr-FR" sz="2200" noProof="0" dirty="0"/>
          </a:p>
        </p:txBody>
      </p:sp>
      <p:sp>
        <p:nvSpPr>
          <p:cNvPr id="17" name="Text 15"/>
          <p:cNvSpPr/>
          <p:nvPr/>
        </p:nvSpPr>
        <p:spPr>
          <a:xfrm>
            <a:off x="6126480" y="25146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</a:rPr>
              <a:t>Merci pour l'Écoute</a:t>
            </a:r>
            <a:endParaRPr lang="fr-FR" sz="1200" noProof="0" dirty="0"/>
          </a:p>
        </p:txBody>
      </p:sp>
      <p:sp>
        <p:nvSpPr>
          <p:cNvPr id="18" name="Text 16"/>
          <p:cNvSpPr/>
          <p:nvPr/>
        </p:nvSpPr>
        <p:spPr>
          <a:xfrm>
            <a:off x="6126480" y="33375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90C2E8"/>
                </a:solidFill>
              </a:rPr>
              <a:t>Pour votre attention et l'intérêt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90C2E8"/>
                </a:solidFill>
              </a:rPr>
              <a:t>porté à cette présentation</a:t>
            </a:r>
            <a:endParaRPr lang="fr-F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228600" y="448056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6BA4C8"/>
                </a:solidFill>
              </a:rPr>
              <a:t>Analyste Data Junior   ·   Framingham </a:t>
            </a:r>
            <a:r>
              <a:rPr lang="fr-FR" sz="900" noProof="0" dirty="0" err="1">
                <a:solidFill>
                  <a:srgbClr val="6BA4C8"/>
                </a:solidFill>
              </a:rPr>
              <a:t>Heart</a:t>
            </a:r>
            <a:r>
              <a:rPr lang="fr-FR" sz="900" noProof="0" dirty="0">
                <a:solidFill>
                  <a:srgbClr val="6BA4C8"/>
                </a:solidFill>
              </a:rPr>
              <a:t> </a:t>
            </a:r>
            <a:r>
              <a:rPr lang="fr-FR" sz="900" noProof="0" dirty="0" err="1">
                <a:solidFill>
                  <a:srgbClr val="6BA4C8"/>
                </a:solidFill>
              </a:rPr>
              <a:t>Study</a:t>
            </a:r>
            <a:r>
              <a:rPr lang="fr-FR" sz="900" noProof="0" dirty="0">
                <a:solidFill>
                  <a:srgbClr val="6BA4C8"/>
                </a:solidFill>
              </a:rPr>
              <a:t>   ·   2026</a:t>
            </a:r>
            <a:endParaRPr lang="fr-FR" sz="900" noProof="0" dirty="0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DD9FF77C-9EA4-2E9B-A46F-D4265577A8FC}"/>
              </a:ext>
            </a:extLst>
          </p:cNvPr>
          <p:cNvSpPr/>
          <p:nvPr/>
        </p:nvSpPr>
        <p:spPr>
          <a:xfrm>
            <a:off x="6881759" y="325275"/>
            <a:ext cx="2142215" cy="1782417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254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12B8B98-A918-B2BF-D3B0-AB63E127522D}"/>
              </a:ext>
            </a:extLst>
          </p:cNvPr>
          <p:cNvSpPr/>
          <p:nvPr/>
        </p:nvSpPr>
        <p:spPr>
          <a:xfrm>
            <a:off x="228600" y="122819"/>
            <a:ext cx="2666957" cy="951601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1362</Words>
  <Application>Microsoft Office PowerPoint</Application>
  <PresentationFormat>On-screen Show (16:9)</PresentationFormat>
  <Paragraphs>307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Prédiction du Risque Coronarien — Framingham</dc:title>
  <dc:subject>PptxGenJS Presentation</dc:subject>
  <dc:creator>PptxGenJS</dc:creator>
  <cp:lastModifiedBy>DARIL DIELH</cp:lastModifiedBy>
  <cp:revision>7</cp:revision>
  <dcterms:created xsi:type="dcterms:W3CDTF">2026-03-03T12:50:21Z</dcterms:created>
  <dcterms:modified xsi:type="dcterms:W3CDTF">2026-03-13T10:13:03Z</dcterms:modified>
</cp:coreProperties>
</file>
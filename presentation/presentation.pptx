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1.xml" ContentType="application/vnd.openxmlformats-officedocument.presentationml.notesSlide+xml"/>
  <Override PartName="/ppt/charts/chart7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0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15" d="100"/>
          <a:sy n="115" d="100"/>
        </p:scale>
        <p:origin x="51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Répartition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471A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9D7-4C42-928E-1ED049B43A9A}"/>
              </c:ext>
            </c:extLst>
          </c:dPt>
          <c:dPt>
            <c:idx val="1"/>
            <c:bubble3D val="0"/>
            <c:spPr>
              <a:solidFill>
                <a:srgbClr val="B03A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9D7-4C42-928E-1ED049B43A9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9D7-4C42-928E-1ED049B43A9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9D7-4C42-928E-1ED049B43A9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Non-CHD (0)</c:v>
                </c:pt>
                <c:pt idx="1">
                  <c:v>CHD (1)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84.8</c:v>
                </c:pt>
                <c:pt idx="1">
                  <c:v>15.2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9D7-4C42-928E-1ED049B43A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fr-FR" sz="1800" b="0" i="0" u="none" strike="noStrike">
                <a:solidFill>
                  <a:srgbClr val="000000"/>
                </a:solidFill>
                <a:latin typeface="Arial"/>
              </a:rPr>
              <a:t>Corrélation absolue |r| avec TenYearCHD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Corrélation absolue |r|</c:v>
                </c:pt>
              </c:strCache>
            </c:strRef>
          </c:tx>
          <c:spPr>
            <a:solidFill>
              <a:srgbClr val="2471A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Tension_Normale</c:v>
                </c:pt>
                <c:pt idx="1">
                  <c:v>male</c:v>
                </c:pt>
                <c:pt idx="2">
                  <c:v>diabetes</c:v>
                </c:pt>
                <c:pt idx="3">
                  <c:v>Tension_Hypert.</c:v>
                </c:pt>
                <c:pt idx="4">
                  <c:v>diaBP</c:v>
                </c:pt>
                <c:pt idx="5">
                  <c:v>prevalentHyp</c:v>
                </c:pt>
                <c:pt idx="6">
                  <c:v>pulse_pressure</c:v>
                </c:pt>
                <c:pt idx="7">
                  <c:v>sysBP</c:v>
                </c:pt>
                <c:pt idx="8">
                  <c:v>age</c:v>
                </c:pt>
                <c:pt idx="9">
                  <c:v>risk_score</c:v>
                </c:pt>
                <c:pt idx="10">
                  <c:v>age_sysBP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0.11</c:v>
                </c:pt>
                <c:pt idx="1">
                  <c:v>0.09</c:v>
                </c:pt>
                <c:pt idx="2">
                  <c:v>0.1</c:v>
                </c:pt>
                <c:pt idx="3">
                  <c:v>0.14000000000000001</c:v>
                </c:pt>
                <c:pt idx="4">
                  <c:v>0.12</c:v>
                </c:pt>
                <c:pt idx="5">
                  <c:v>0.17</c:v>
                </c:pt>
                <c:pt idx="6">
                  <c:v>0.18</c:v>
                </c:pt>
                <c:pt idx="7">
                  <c:v>0.21</c:v>
                </c:pt>
                <c:pt idx="8">
                  <c:v>0.23</c:v>
                </c:pt>
                <c:pt idx="9">
                  <c:v>0.24</c:v>
                </c:pt>
                <c:pt idx="10">
                  <c:v>0.26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4F-42BA-9263-295808C5E45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3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fr-FR" sz="1800" b="0" i="0" u="none" strike="noStrike">
                <a:solidFill>
                  <a:srgbClr val="000000"/>
                </a:solidFill>
                <a:latin typeface="Arial"/>
              </a:rPr>
              <a:t>Taux de CHD (%) selon le facteur de risque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CHD (%)</c:v>
                </c:pt>
              </c:strCache>
            </c:strRef>
          </c:tx>
          <c:spPr>
            <a:solidFill>
              <a:srgbClr val="E8EEF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5F5-4C03-9F4E-04624C2FAFB8}"/>
              </c:ext>
            </c:extLst>
          </c:dPt>
          <c:dPt>
            <c:idx val="1"/>
            <c:invertIfNegative val="0"/>
            <c:bubble3D val="0"/>
            <c:spPr>
              <a:solidFill>
                <a:srgbClr val="2471A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5F5-4C03-9F4E-04624C2FAFB8}"/>
              </c:ext>
            </c:extLst>
          </c:dPt>
          <c:dPt>
            <c:idx val="2"/>
            <c:invertIfNegative val="0"/>
            <c:bubble3D val="0"/>
            <c:spPr>
              <a:solidFill>
                <a:srgbClr val="2471A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5F5-4C03-9F4E-04624C2FAFB8}"/>
              </c:ext>
            </c:extLst>
          </c:dPt>
          <c:dPt>
            <c:idx val="3"/>
            <c:invertIfNegative val="0"/>
            <c:bubble3D val="0"/>
            <c:spPr>
              <a:solidFill>
                <a:srgbClr val="B03A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5F5-4C03-9F4E-04624C2FAFB8}"/>
              </c:ext>
            </c:extLst>
          </c:dPt>
          <c:dPt>
            <c:idx val="4"/>
            <c:invertIfNegative val="0"/>
            <c:bubble3D val="0"/>
            <c:spPr>
              <a:solidFill>
                <a:srgbClr val="B03A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35F5-4C03-9F4E-04624C2FAFB8}"/>
              </c:ext>
            </c:extLst>
          </c:dPt>
          <c:dPt>
            <c:idx val="5"/>
            <c:invertIfNegative val="0"/>
            <c:bubble3D val="0"/>
            <c:spPr>
              <a:solidFill>
                <a:srgbClr val="B03A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35F5-4C03-9F4E-04624C2FAFB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Global</c:v>
                </c:pt>
                <c:pt idx="1">
                  <c:v>Sexe masc.</c:v>
                </c:pt>
                <c:pt idx="2">
                  <c:v>Obésité</c:v>
                </c:pt>
                <c:pt idx="3">
                  <c:v>Hypertension</c:v>
                </c:pt>
                <c:pt idx="4">
                  <c:v>Âge &gt; 55 ans</c:v>
                </c:pt>
                <c:pt idx="5">
                  <c:v>Diabète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15.2</c:v>
                </c:pt>
                <c:pt idx="1">
                  <c:v>18.8</c:v>
                </c:pt>
                <c:pt idx="2">
                  <c:v>19.5</c:v>
                </c:pt>
                <c:pt idx="3">
                  <c:v>24.7</c:v>
                </c:pt>
                <c:pt idx="4">
                  <c:v>29.5</c:v>
                </c:pt>
                <c:pt idx="5">
                  <c:v>36.700000000000003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5F5-4C03-9F4E-04624C2FAFB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AUC-ROC moyen (VC 5 plis)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AUC-ROC moyen (validation croisée 5 plis)</c:v>
                </c:pt>
              </c:strCache>
            </c:strRef>
          </c:tx>
          <c:spPr>
            <a:solidFill>
              <a:srgbClr val="55555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77C-401F-B8D6-C7C0FB365A4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77C-401F-B8D6-C7C0FB365A4F}"/>
              </c:ext>
            </c:extLst>
          </c:dPt>
          <c:dPt>
            <c:idx val="2"/>
            <c:invertIfNegative val="0"/>
            <c:bubble3D val="0"/>
            <c:spPr>
              <a:solidFill>
                <a:srgbClr val="1D6A3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77C-401F-B8D6-C7C0FB365A4F}"/>
              </c:ext>
            </c:extLst>
          </c:dPt>
          <c:dPt>
            <c:idx val="3"/>
            <c:invertIfNegative val="0"/>
            <c:bubble3D val="0"/>
            <c:spPr>
              <a:solidFill>
                <a:srgbClr val="2471A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77C-401F-B8D6-C7C0FB365A4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Hist. Gradient Boosté</c:v>
                </c:pt>
                <c:pt idx="1">
                  <c:v>Gradient Boosté</c:v>
                </c:pt>
                <c:pt idx="2">
                  <c:v>Forêt Aléatoire</c:v>
                </c:pt>
                <c:pt idx="3">
                  <c:v>Rég. Logistique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0.68169999999999997</c:v>
                </c:pt>
                <c:pt idx="1">
                  <c:v>0.69599999999999995</c:v>
                </c:pt>
                <c:pt idx="2">
                  <c:v>0.70920000000000005</c:v>
                </c:pt>
                <c:pt idx="3">
                  <c:v>0.72440000000000004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77C-401F-B8D6-C7C0FB365A4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.6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fr-FR" sz="1800" b="0" i="0" u="none" strike="noStrike">
                <a:solidFill>
                  <a:srgbClr val="000000"/>
                </a:solidFill>
                <a:latin typeface="Arial"/>
              </a:rPr>
              <a:t>Rappel moyen (VC 5 plis)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Rappel moyen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C4C-4568-AEE7-D51B94F1E015}"/>
              </c:ext>
            </c:extLst>
          </c:dPt>
          <c:dPt>
            <c:idx val="1"/>
            <c:invertIfNegative val="0"/>
            <c:bubble3D val="0"/>
            <c:spPr>
              <a:solidFill>
                <a:srgbClr val="55555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C4C-4568-AEE7-D51B94F1E015}"/>
              </c:ext>
            </c:extLst>
          </c:dPt>
          <c:dPt>
            <c:idx val="2"/>
            <c:invertIfNegative val="0"/>
            <c:bubble3D val="0"/>
            <c:spPr>
              <a:solidFill>
                <a:srgbClr val="1D6A3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C4C-4568-AEE7-D51B94F1E015}"/>
              </c:ext>
            </c:extLst>
          </c:dPt>
          <c:dPt>
            <c:idx val="3"/>
            <c:invertIfNegative val="0"/>
            <c:bubble3D val="0"/>
            <c:spPr>
              <a:solidFill>
                <a:srgbClr val="2471A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C4C-4568-AEE7-D51B94F1E01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Gradient Boosté</c:v>
                </c:pt>
                <c:pt idx="1">
                  <c:v>Hist. Gradient Boosté</c:v>
                </c:pt>
                <c:pt idx="2">
                  <c:v>Forêt Aléatoire</c:v>
                </c:pt>
                <c:pt idx="3">
                  <c:v>Rég. Logistique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9.8000000000000004E-2</c:v>
                </c:pt>
                <c:pt idx="1">
                  <c:v>0.48299999999999998</c:v>
                </c:pt>
                <c:pt idx="2">
                  <c:v>0.48799999999999999</c:v>
                </c:pt>
                <c:pt idx="3">
                  <c:v>0.67400000000000004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C4C-4568-AEE7-D51B94F1E01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fr-FR" sz="1800" b="0" i="0" u="none" strike="noStrike">
                <a:solidFill>
                  <a:srgbClr val="000000"/>
                </a:solidFill>
                <a:latin typeface="Arial"/>
              </a:rPr>
              <a:t>Courbe ROC — Comparaison des modèles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Rég. Logistique (AUC=0,698)</c:v>
                </c:pt>
              </c:strCache>
            </c:strRef>
          </c:tx>
          <c:spPr>
            <a:ln w="25400" cap="flat">
              <a:solidFill>
                <a:srgbClr val="2471A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471A3"/>
              </a:solidFill>
              <a:ln w="9525" cap="flat">
                <a:solidFill>
                  <a:srgbClr val="2471A3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0.2</c:v>
                </c:pt>
                <c:pt idx="4">
                  <c:v>0.3</c:v>
                </c:pt>
                <c:pt idx="5">
                  <c:v>0.4</c:v>
                </c:pt>
                <c:pt idx="6">
                  <c:v>0.5</c:v>
                </c:pt>
                <c:pt idx="7">
                  <c:v>0.6</c:v>
                </c:pt>
                <c:pt idx="8">
                  <c:v>0.7</c:v>
                </c:pt>
                <c:pt idx="9">
                  <c:v>0.8</c:v>
                </c:pt>
                <c:pt idx="10">
                  <c:v>0.9</c:v>
                </c:pt>
                <c:pt idx="11">
                  <c:v>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0.18</c:v>
                </c:pt>
                <c:pt idx="2">
                  <c:v>0.3</c:v>
                </c:pt>
                <c:pt idx="3">
                  <c:v>0.45</c:v>
                </c:pt>
                <c:pt idx="4">
                  <c:v>0.55000000000000004</c:v>
                </c:pt>
                <c:pt idx="5">
                  <c:v>0.63</c:v>
                </c:pt>
                <c:pt idx="6">
                  <c:v>0.7</c:v>
                </c:pt>
                <c:pt idx="7">
                  <c:v>0.76</c:v>
                </c:pt>
                <c:pt idx="8">
                  <c:v>0.82</c:v>
                </c:pt>
                <c:pt idx="9">
                  <c:v>0.88</c:v>
                </c:pt>
                <c:pt idx="10">
                  <c:v>0.94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7E3-4506-881C-719E08CD55F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Forêt Aléatoire (AUC=0,678)</c:v>
                </c:pt>
              </c:strCache>
            </c:strRef>
          </c:tx>
          <c:spPr>
            <a:ln w="25400" cap="flat">
              <a:solidFill>
                <a:srgbClr val="1D6A3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D6A3C"/>
              </a:solidFill>
              <a:ln w="9525" cap="flat">
                <a:solidFill>
                  <a:srgbClr val="1D6A3C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0.2</c:v>
                </c:pt>
                <c:pt idx="4">
                  <c:v>0.3</c:v>
                </c:pt>
                <c:pt idx="5">
                  <c:v>0.4</c:v>
                </c:pt>
                <c:pt idx="6">
                  <c:v>0.5</c:v>
                </c:pt>
                <c:pt idx="7">
                  <c:v>0.6</c:v>
                </c:pt>
                <c:pt idx="8">
                  <c:v>0.7</c:v>
                </c:pt>
                <c:pt idx="9">
                  <c:v>0.8</c:v>
                </c:pt>
                <c:pt idx="10">
                  <c:v>0.9</c:v>
                </c:pt>
                <c:pt idx="11">
                  <c:v>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0.15</c:v>
                </c:pt>
                <c:pt idx="2">
                  <c:v>0.27</c:v>
                </c:pt>
                <c:pt idx="3">
                  <c:v>0.41</c:v>
                </c:pt>
                <c:pt idx="4">
                  <c:v>0.52</c:v>
                </c:pt>
                <c:pt idx="5">
                  <c:v>0.6</c:v>
                </c:pt>
                <c:pt idx="6">
                  <c:v>0.67</c:v>
                </c:pt>
                <c:pt idx="7">
                  <c:v>0.73</c:v>
                </c:pt>
                <c:pt idx="8">
                  <c:v>0.79</c:v>
                </c:pt>
                <c:pt idx="9">
                  <c:v>0.86</c:v>
                </c:pt>
                <c:pt idx="10">
                  <c:v>0.93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7E3-4506-881C-719E08CD55F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Référence aléatoire (AUC=0,50)</c:v>
                </c:pt>
              </c:strCache>
            </c:strRef>
          </c:tx>
          <c:spPr>
            <a:ln w="25400" cap="flat">
              <a:solidFill>
                <a:srgbClr val="AAAAA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AAAAAA"/>
              </a:solidFill>
              <a:ln w="9525" cap="flat">
                <a:solidFill>
                  <a:srgbClr val="AAAAAA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0.2</c:v>
                </c:pt>
                <c:pt idx="4">
                  <c:v>0.3</c:v>
                </c:pt>
                <c:pt idx="5">
                  <c:v>0.4</c:v>
                </c:pt>
                <c:pt idx="6">
                  <c:v>0.5</c:v>
                </c:pt>
                <c:pt idx="7">
                  <c:v>0.6</c:v>
                </c:pt>
                <c:pt idx="8">
                  <c:v>0.7</c:v>
                </c:pt>
                <c:pt idx="9">
                  <c:v>0.8</c:v>
                </c:pt>
                <c:pt idx="10">
                  <c:v>0.9</c:v>
                </c:pt>
                <c:pt idx="11">
                  <c:v>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0.2</c:v>
                </c:pt>
                <c:pt idx="4">
                  <c:v>0.3</c:v>
                </c:pt>
                <c:pt idx="5">
                  <c:v>0.4</c:v>
                </c:pt>
                <c:pt idx="6">
                  <c:v>0.5</c:v>
                </c:pt>
                <c:pt idx="7">
                  <c:v>0.6</c:v>
                </c:pt>
                <c:pt idx="8">
                  <c:v>0.7</c:v>
                </c:pt>
                <c:pt idx="9">
                  <c:v>0.8</c:v>
                </c:pt>
                <c:pt idx="10">
                  <c:v>0.9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7E3-4506-881C-719E08CD55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AFB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(|coef|)</c:v>
                </c:pt>
              </c:strCache>
            </c:strRef>
          </c:tx>
          <c:spPr>
            <a:solidFill>
              <a:srgbClr val="2471A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Tension_Hypert.</c:v>
                </c:pt>
                <c:pt idx="1">
                  <c:v>pulse_pressure</c:v>
                </c:pt>
                <c:pt idx="2">
                  <c:v>Tension_Normale</c:v>
                </c:pt>
                <c:pt idx="3">
                  <c:v>diaBP</c:v>
                </c:pt>
                <c:pt idx="4">
                  <c:v>prevalentHyp</c:v>
                </c:pt>
                <c:pt idx="5">
                  <c:v>sysBP</c:v>
                </c:pt>
                <c:pt idx="6">
                  <c:v>risk_score</c:v>
                </c:pt>
                <c:pt idx="7">
                  <c:v>diabetes</c:v>
                </c:pt>
                <c:pt idx="8">
                  <c:v>age_sysBP</c:v>
                </c:pt>
                <c:pt idx="9">
                  <c:v>male</c:v>
                </c:pt>
                <c:pt idx="10">
                  <c:v>age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3.7999999999999999E-2</c:v>
                </c:pt>
                <c:pt idx="1">
                  <c:v>4.2999999999999997E-2</c:v>
                </c:pt>
                <c:pt idx="2">
                  <c:v>4.4999999999999998E-2</c:v>
                </c:pt>
                <c:pt idx="3">
                  <c:v>5.0999999999999997E-2</c:v>
                </c:pt>
                <c:pt idx="4">
                  <c:v>5.8000000000000003E-2</c:v>
                </c:pt>
                <c:pt idx="5">
                  <c:v>7.1999999999999995E-2</c:v>
                </c:pt>
                <c:pt idx="6">
                  <c:v>9.0999999999999998E-2</c:v>
                </c:pt>
                <c:pt idx="7">
                  <c:v>0.10199999999999999</c:v>
                </c:pt>
                <c:pt idx="8">
                  <c:v>0.224</c:v>
                </c:pt>
                <c:pt idx="9">
                  <c:v>0.23899999999999999</c:v>
                </c:pt>
                <c:pt idx="10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E3-46FF-A6F0-E2B8137A7CA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853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F8334-048A-1D0D-8B99-5F76DE9C5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A5FE49-07A6-15EF-2BA6-53AB27CD4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16A5BF-4646-BCE7-66D5-B9DCC2F04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94C13-8D0E-80A4-3664-2209F31B7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951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F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142640"/>
          </a:solidFill>
          <a:ln w="12700">
            <a:solidFill>
              <a:srgbClr val="1426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04453" y="64937"/>
            <a:ext cx="2775005" cy="2331057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25400">
            <a:solidFill>
              <a:srgbClr val="2471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0" y="457200"/>
            <a:ext cx="2011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289560" y="13716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90C2E8"/>
                </a:solidFill>
              </a:rPr>
              <a:t>FRAMINGHAM HEART STUDY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9560" y="1787586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Prédiction du Risque de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Maladie Coronarienne à 10 Ans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47472" y="3131754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0C2E8"/>
                </a:solidFill>
              </a:rPr>
              <a:t>Projet Machine Learning  |  Classification Binaire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47472" y="3579810"/>
            <a:ext cx="2743200" cy="36576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44805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A4C8"/>
                </a:solidFill>
              </a:rPr>
              <a:t>Analyste Data Junior   ·   Machine Learning &amp; Santé   ·   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10790"/>
            <a:ext cx="9144000" cy="64008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 err="1">
                <a:solidFill>
                  <a:srgbClr val="FFFFFF"/>
                </a:solidFill>
              </a:rPr>
              <a:t>Contexte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A3E8"/>
                </a:solidFill>
              </a:rPr>
              <a:t>02 / 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8ECF1"/>
          </a:solidFill>
          <a:ln w="12700">
            <a:solidFill>
              <a:srgbClr val="E8EC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56048"/>
            <a:ext cx="8595360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Framingham Heart Study  |  TenYearCHD  |  2024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804672"/>
            <a:ext cx="2651760" cy="1078992"/>
          </a:xfrm>
          <a:prstGeom prst="rect">
            <a:avLst/>
          </a:prstGeom>
          <a:solidFill>
            <a:srgbClr val="D6E4F7"/>
          </a:solidFill>
          <a:ln w="12700">
            <a:solidFill>
              <a:srgbClr val="D6E4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20040" y="859536"/>
            <a:ext cx="2651760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6B"/>
                </a:solidFill>
              </a:rPr>
              <a:t>#1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20040" y="1430487"/>
            <a:ext cx="2651760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271"/>
                </a:solidFill>
              </a:rPr>
              <a:t>Cause de mortalité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D5271"/>
                </a:solidFill>
              </a:rPr>
              <a:t>mondiale (OMS, 2023)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804672"/>
            <a:ext cx="2651760" cy="1078992"/>
          </a:xfrm>
          <a:prstGeom prst="rect">
            <a:avLst/>
          </a:prstGeom>
          <a:solidFill>
            <a:srgbClr val="FDE8EA"/>
          </a:solidFill>
          <a:ln w="12700">
            <a:solidFill>
              <a:srgbClr val="FDE8E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46120" y="859536"/>
            <a:ext cx="2651760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4855"/>
                </a:solidFill>
              </a:rPr>
              <a:t>18M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46120" y="1430487"/>
            <a:ext cx="2651760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271"/>
                </a:solidFill>
              </a:rPr>
              <a:t>Décès / an liés aux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D5271"/>
                </a:solidFill>
              </a:rPr>
              <a:t>maladies cardio.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804672"/>
            <a:ext cx="2651760" cy="1078992"/>
          </a:xfrm>
          <a:prstGeom prst="rect">
            <a:avLst/>
          </a:prstGeom>
          <a:solidFill>
            <a:srgbClr val="E6F5EC"/>
          </a:solidFill>
          <a:ln w="12700">
            <a:solidFill>
              <a:srgbClr val="E6F5E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859536"/>
            <a:ext cx="2651760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6E3A"/>
                </a:solidFill>
              </a:rPr>
              <a:t>80%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72200" y="1430487"/>
            <a:ext cx="2651760" cy="431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271"/>
                </a:solidFill>
              </a:rPr>
              <a:t>Des cas sont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3D5271"/>
                </a:solidFill>
              </a:rPr>
              <a:t>prévenables par dépistage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057400"/>
            <a:ext cx="4160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057400"/>
            <a:ext cx="54864" cy="2697480"/>
          </a:xfrm>
          <a:prstGeom prst="rect">
            <a:avLst/>
          </a:prstGeom>
          <a:solidFill>
            <a:srgbClr val="2A6DB5"/>
          </a:solidFill>
          <a:ln w="12700">
            <a:solidFill>
              <a:srgbClr val="2A6D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16712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6DB5"/>
                </a:solidFill>
              </a:rPr>
              <a:t>Objectif du Projet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2514600"/>
            <a:ext cx="39044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5"/>
                </a:solidFill>
              </a:rPr>
              <a:t>Prédire la variable cible binaire TenYearCHD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5"/>
                </a:solidFill>
              </a:rPr>
              <a:t>0 = Pas de maladie coronarienne dans 10 ans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5"/>
                </a:solidFill>
              </a:rPr>
              <a:t>1 = Risque de maladie coronarienne dans 10 ans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5"/>
                </a:solidFill>
              </a:rPr>
              <a:t>Approche de classification supervisée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5"/>
                </a:solidFill>
              </a:rPr>
              <a:t>Optimisation du Recall (détection des cas à risque)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057400"/>
            <a:ext cx="4160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2057400"/>
            <a:ext cx="54864" cy="2697480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16712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855"/>
                </a:solidFill>
              </a:rPr>
              <a:t>Enjeux Médicaux &amp; Prédictifs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2514600"/>
            <a:ext cx="39044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5"/>
                </a:solidFill>
              </a:rPr>
              <a:t>Détection précoce pour intervention médicale ciblée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5"/>
                </a:solidFill>
              </a:rPr>
              <a:t>Mieux vaut faux positif que faux négatif en santé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5"/>
                </a:solidFill>
              </a:rPr>
              <a:t>Données cliniques réelles (étude longitudinale)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5"/>
                </a:solidFill>
              </a:rPr>
              <a:t>Réduction des coûts de santé par prévention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435"/>
                </a:solidFill>
              </a:rPr>
              <a:t>Aide à la décision clinique basée sur l'IA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268EE2-5699-316C-1DAB-7CF3AEEB6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30EE876-01D3-A9C8-8BF4-EA6AD760F9E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6A98F6-8605-A876-9790-A932B74679D7}"/>
              </a:ext>
            </a:extLst>
          </p:cNvPr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PROBLÉMATIQUE ET OBJECTIFS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E1C9770-AAC8-A92A-BD7B-634E49224ED3}"/>
              </a:ext>
            </a:extLst>
          </p:cNvPr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BAFD4"/>
                </a:solidFill>
              </a:rPr>
              <a:t>02 / 09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2FC9C6F-0DF7-6137-01CE-79833D11B91A}"/>
              </a:ext>
            </a:extLst>
          </p:cNvPr>
          <p:cNvSpPr/>
          <p:nvPr/>
        </p:nvSpPr>
        <p:spPr>
          <a:xfrm>
            <a:off x="274320" y="749808"/>
            <a:ext cx="8595360" cy="1234440"/>
          </a:xfrm>
          <a:prstGeom prst="rect">
            <a:avLst/>
          </a:prstGeom>
          <a:solidFill>
            <a:srgbClr val="D6EAF8"/>
          </a:solidFill>
          <a:ln w="25400">
            <a:solidFill>
              <a:srgbClr val="2471A3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A07792C-4D17-2910-732B-ABAE59332892}"/>
              </a:ext>
            </a:extLst>
          </p:cNvPr>
          <p:cNvSpPr/>
          <p:nvPr/>
        </p:nvSpPr>
        <p:spPr>
          <a:xfrm>
            <a:off x="365760" y="777240"/>
            <a:ext cx="8412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2F4E"/>
                </a:solidFill>
              </a:rPr>
              <a:t>À partir des données cliniques d'un patient, est-il possible de prédire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A2F4E"/>
                </a:solidFill>
              </a:rPr>
              <a:t>le risque de développer une maladie coronarienne dans les 10 ans ?</a:t>
            </a:r>
            <a:endParaRPr lang="en-US" sz="17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57E1C38-11A2-913A-998B-9BDCB86FED7D}"/>
              </a:ext>
            </a:extLst>
          </p:cNvPr>
          <p:cNvSpPr/>
          <p:nvPr/>
        </p:nvSpPr>
        <p:spPr>
          <a:xfrm>
            <a:off x="274320" y="2148840"/>
            <a:ext cx="2651760" cy="384048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3A404CD-3AB6-7EE8-EEA0-098E8CA2C12B}"/>
              </a:ext>
            </a:extLst>
          </p:cNvPr>
          <p:cNvSpPr/>
          <p:nvPr/>
        </p:nvSpPr>
        <p:spPr>
          <a:xfrm>
            <a:off x="274320" y="21488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Enjeux médicaux</a:t>
            </a:r>
            <a:endParaRPr lang="en-US" sz="12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9BBF636-DADA-BBC4-55DC-F6DE4D9C0707}"/>
              </a:ext>
            </a:extLst>
          </p:cNvPr>
          <p:cNvSpPr/>
          <p:nvPr/>
        </p:nvSpPr>
        <p:spPr>
          <a:xfrm>
            <a:off x="274320" y="2532888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4717040-CA17-57B2-41A4-6EDB49B31E2D}"/>
              </a:ext>
            </a:extLst>
          </p:cNvPr>
          <p:cNvSpPr/>
          <p:nvPr/>
        </p:nvSpPr>
        <p:spPr>
          <a:xfrm>
            <a:off x="365760" y="25786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 Dépistage précoce = vies sauvées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2733330-F5FC-58BD-5157-74CAEBDAB34F}"/>
              </a:ext>
            </a:extLst>
          </p:cNvPr>
          <p:cNvSpPr/>
          <p:nvPr/>
        </p:nvSpPr>
        <p:spPr>
          <a:xfrm>
            <a:off x="274320" y="3008376"/>
            <a:ext cx="265176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886E6C3-019E-9AC0-0311-EE8136EEA2A1}"/>
              </a:ext>
            </a:extLst>
          </p:cNvPr>
          <p:cNvSpPr/>
          <p:nvPr/>
        </p:nvSpPr>
        <p:spPr>
          <a:xfrm>
            <a:off x="365760" y="305409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 Coûts de santé réduits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455C8FA5-094A-FE50-685C-6EF64029D34F}"/>
              </a:ext>
            </a:extLst>
          </p:cNvPr>
          <p:cNvSpPr/>
          <p:nvPr/>
        </p:nvSpPr>
        <p:spPr>
          <a:xfrm>
            <a:off x="274320" y="3483864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69565E5-4EC5-D479-DAF7-CBB840255712}"/>
              </a:ext>
            </a:extLst>
          </p:cNvPr>
          <p:cNvSpPr/>
          <p:nvPr/>
        </p:nvSpPr>
        <p:spPr>
          <a:xfrm>
            <a:off x="365760" y="35295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 Aide à la décision clinique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1024476-6251-609E-C512-4AFA577509E5}"/>
              </a:ext>
            </a:extLst>
          </p:cNvPr>
          <p:cNvSpPr/>
          <p:nvPr/>
        </p:nvSpPr>
        <p:spPr>
          <a:xfrm>
            <a:off x="3154680" y="2148840"/>
            <a:ext cx="2651760" cy="38404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34C12DD-298A-2D4A-629E-7F496119A63F}"/>
              </a:ext>
            </a:extLst>
          </p:cNvPr>
          <p:cNvSpPr/>
          <p:nvPr/>
        </p:nvSpPr>
        <p:spPr>
          <a:xfrm>
            <a:off x="3154680" y="21488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Objectif principal</a:t>
            </a:r>
            <a:endParaRPr lang="en-US" sz="12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7BB777E-30C5-3876-36E8-D185568F22D4}"/>
              </a:ext>
            </a:extLst>
          </p:cNvPr>
          <p:cNvSpPr/>
          <p:nvPr/>
        </p:nvSpPr>
        <p:spPr>
          <a:xfrm>
            <a:off x="3154680" y="2532888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CE8997A-64C0-16C8-5FDF-92C79D716CB8}"/>
              </a:ext>
            </a:extLst>
          </p:cNvPr>
          <p:cNvSpPr/>
          <p:nvPr/>
        </p:nvSpPr>
        <p:spPr>
          <a:xfrm>
            <a:off x="3246120" y="25786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 Prédire TenYearCHD (0 / 1)</a:t>
            </a:r>
            <a:endParaRPr lang="en-US" sz="11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6AC57688-52D5-A9AE-30C1-57647F72DC05}"/>
              </a:ext>
            </a:extLst>
          </p:cNvPr>
          <p:cNvSpPr/>
          <p:nvPr/>
        </p:nvSpPr>
        <p:spPr>
          <a:xfrm>
            <a:off x="3154680" y="3008376"/>
            <a:ext cx="265176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39CA9B12-8EAD-9CB7-C9D1-175B18147FB6}"/>
              </a:ext>
            </a:extLst>
          </p:cNvPr>
          <p:cNvSpPr/>
          <p:nvPr/>
        </p:nvSpPr>
        <p:spPr>
          <a:xfrm>
            <a:off x="3246120" y="305409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 Maximiser le Rappel*</a:t>
            </a:r>
            <a:endParaRPr lang="en-US" sz="11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9DB33542-CFBC-3C66-5324-F03452B43A49}"/>
              </a:ext>
            </a:extLst>
          </p:cNvPr>
          <p:cNvSpPr/>
          <p:nvPr/>
        </p:nvSpPr>
        <p:spPr>
          <a:xfrm>
            <a:off x="3154680" y="3483864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D450158-2AB2-D145-B104-066B7AA4FB34}"/>
              </a:ext>
            </a:extLst>
          </p:cNvPr>
          <p:cNvSpPr/>
          <p:nvPr/>
        </p:nvSpPr>
        <p:spPr>
          <a:xfrm>
            <a:off x="3246120" y="35295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 Interpréter les facteurs de risque</a:t>
            </a:r>
            <a:endParaRPr lang="en-US" sz="11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0461FFF0-0E87-7B16-B587-731F195943D7}"/>
              </a:ext>
            </a:extLst>
          </p:cNvPr>
          <p:cNvSpPr/>
          <p:nvPr/>
        </p:nvSpPr>
        <p:spPr>
          <a:xfrm>
            <a:off x="6035040" y="2148840"/>
            <a:ext cx="2651760" cy="384048"/>
          </a:xfrm>
          <a:prstGeom prst="rect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A3BB8D8-0A95-DE4C-EE21-18B01B17746F}"/>
              </a:ext>
            </a:extLst>
          </p:cNvPr>
          <p:cNvSpPr/>
          <p:nvPr/>
        </p:nvSpPr>
        <p:spPr>
          <a:xfrm>
            <a:off x="6035040" y="214884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Approche retenue</a:t>
            </a:r>
            <a:endParaRPr lang="en-US" sz="12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426E19FF-3A1A-BA27-754E-7857ACDDA1E9}"/>
              </a:ext>
            </a:extLst>
          </p:cNvPr>
          <p:cNvSpPr/>
          <p:nvPr/>
        </p:nvSpPr>
        <p:spPr>
          <a:xfrm>
            <a:off x="6035040" y="2532888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8C0C74E2-680E-74EB-BA0C-880F095FCC73}"/>
              </a:ext>
            </a:extLst>
          </p:cNvPr>
          <p:cNvSpPr/>
          <p:nvPr/>
        </p:nvSpPr>
        <p:spPr>
          <a:xfrm>
            <a:off x="6126480" y="25786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 Classification supervisée</a:t>
            </a:r>
            <a:endParaRPr lang="en-US" sz="11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FBD835B8-17CE-9DDE-1B0D-450EA0DCAF3F}"/>
              </a:ext>
            </a:extLst>
          </p:cNvPr>
          <p:cNvSpPr/>
          <p:nvPr/>
        </p:nvSpPr>
        <p:spPr>
          <a:xfrm>
            <a:off x="6035040" y="3008376"/>
            <a:ext cx="265176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A138D43-8538-C522-437A-2BA3B29D17A9}"/>
              </a:ext>
            </a:extLst>
          </p:cNvPr>
          <p:cNvSpPr/>
          <p:nvPr/>
        </p:nvSpPr>
        <p:spPr>
          <a:xfrm>
            <a:off x="6126480" y="305409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 Validation croisée 5 plis</a:t>
            </a:r>
            <a:endParaRPr lang="en-US" sz="110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1455CE43-EAB2-698B-BCCD-9FBE0293BFF8}"/>
              </a:ext>
            </a:extLst>
          </p:cNvPr>
          <p:cNvSpPr/>
          <p:nvPr/>
        </p:nvSpPr>
        <p:spPr>
          <a:xfrm>
            <a:off x="6035040" y="3483864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18F2726-AECC-4386-1C14-EBF1A71BA2E4}"/>
              </a:ext>
            </a:extLst>
          </p:cNvPr>
          <p:cNvSpPr/>
          <p:nvPr/>
        </p:nvSpPr>
        <p:spPr>
          <a:xfrm>
            <a:off x="6126480" y="35295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·  Optimisation du seuil de décision</a:t>
            </a:r>
            <a:endParaRPr lang="en-US" sz="11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0F7D6D4C-F62F-CFAC-53CA-4459E37791B9}"/>
              </a:ext>
            </a:extLst>
          </p:cNvPr>
          <p:cNvSpPr/>
          <p:nvPr/>
        </p:nvSpPr>
        <p:spPr>
          <a:xfrm>
            <a:off x="274320" y="420624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* En contexte médical : mieux vaut alerter un patient sain que manquer un patient malade.</a:t>
            </a:r>
            <a:endParaRPr lang="en-US" sz="100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CE19F12-6815-47DE-00F9-9E241BA56647}"/>
              </a:ext>
            </a:extLst>
          </p:cNvPr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314A34CE-C136-4A6D-8654-D6ADEFB01133}"/>
              </a:ext>
            </a:extLst>
          </p:cNvPr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A4C8"/>
                </a:solidFill>
              </a:rPr>
              <a:t>Framingham Heart Study  |  TenYearCHD  |  2025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246595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APERÇU DES DONNÉES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BAFD4"/>
                </a:solidFill>
              </a:rPr>
              <a:t>03 / 09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1965960" cy="960120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" y="7955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4 240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28600" y="129844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E0F5"/>
                </a:solidFill>
              </a:rPr>
              <a:t>Observations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04872" y="749808"/>
            <a:ext cx="1965960" cy="96012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04872" y="7955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16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404872" y="129844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E0F5"/>
                </a:solidFill>
              </a:rPr>
              <a:t>Variables initiales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81144" y="749808"/>
            <a:ext cx="1965960" cy="960120"/>
          </a:xfrm>
          <a:prstGeom prst="rect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81144" y="7955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11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81144" y="129844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E0F5"/>
                </a:solidFill>
              </a:rPr>
              <a:t>Variables retenues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57416" y="749808"/>
            <a:ext cx="1965960" cy="960120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57416" y="795528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15,2%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757416" y="129844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E0F5"/>
                </a:solidFill>
              </a:rPr>
              <a:t>Taux de CHD positifs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" y="18745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4E"/>
                </a:solidFill>
              </a:rPr>
              <a:t>Variable cible : TenYearCHD</a:t>
            </a:r>
            <a:endParaRPr lang="en-US" sz="13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274320" y="2240280"/>
          <a:ext cx="411480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0" y="1874520"/>
            <a:ext cx="4297680" cy="274320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1938528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4E"/>
                </a:solidFill>
              </a:rPr>
              <a:t>Déséquilibre des classes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663440" y="2331720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09160" y="23774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71A3"/>
                </a:solidFill>
              </a:rPr>
              <a:t>Ratio  : 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852160" y="2377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6 : 1  (Non-CHD vs CHD)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663440" y="2862072"/>
            <a:ext cx="4114800" cy="457200"/>
          </a:xfrm>
          <a:prstGeom prst="rect">
            <a:avLst/>
          </a:prstGeom>
          <a:solidFill>
            <a:srgbClr val="D6EAF8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09160" y="290779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71A3"/>
                </a:solidFill>
              </a:rPr>
              <a:t>Conséquence  : 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852160" y="2907792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L'accuracy seule est trompeuse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(baseline = 84,8 %)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663440" y="3392424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09160" y="3438144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71A3"/>
                </a:solidFill>
              </a:rPr>
              <a:t>Correction  : 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852160" y="343814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class_weight='équilibré'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663440" y="3922776"/>
            <a:ext cx="4114800" cy="457200"/>
          </a:xfrm>
          <a:prstGeom prst="rect">
            <a:avLst/>
          </a:prstGeom>
          <a:solidFill>
            <a:srgbClr val="D6EAF8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09160" y="396849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71A3"/>
                </a:solidFill>
              </a:rPr>
              <a:t>Métriques clés  : 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852160" y="3968496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AUC-ROC  et  Rappel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A4C8"/>
                </a:solidFill>
              </a:rPr>
              <a:t>Framingham Heart Study  |  TenYearCHD  |  2025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APERÇU DES DONNÉES — VARIABLES RETENUES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BAFD4"/>
                </a:solidFill>
              </a:rPr>
              <a:t>03b / 09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749808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11 variables sélectionnées après tri par corrélation absolue avec TenYearCHD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27505152" cy="33832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33856"/>
            <a:ext cx="2741371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Variable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115568"/>
            <a:ext cx="13752576" cy="33832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6120" y="1133856"/>
            <a:ext cx="1366113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Catégorie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115568"/>
            <a:ext cx="39194842" cy="33832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1133856"/>
            <a:ext cx="3910340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Description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481328"/>
            <a:ext cx="28803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48132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1481328"/>
            <a:ext cx="41696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508760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71A3"/>
                </a:solidFill>
              </a:rPr>
              <a:t>age_sysBP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18688" y="1517904"/>
            <a:ext cx="914400" cy="201168"/>
          </a:xfrm>
          <a:prstGeom prst="rect">
            <a:avLst/>
          </a:prstGeom>
          <a:solidFill>
            <a:srgbClr val="B03A2E">
              <a:alpha val="80000"/>
            </a:srgbClr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36976" y="1517904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Interaction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09160" y="150876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Interaction âge × pression systolique (variable construite)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1773936"/>
            <a:ext cx="288036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1773936"/>
            <a:ext cx="141732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1773936"/>
            <a:ext cx="4169664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1801368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71A3"/>
                </a:solidFill>
              </a:rPr>
              <a:t>risk_score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18688" y="1810512"/>
            <a:ext cx="914400" cy="201168"/>
          </a:xfrm>
          <a:prstGeom prst="rect">
            <a:avLst/>
          </a:prstGeom>
          <a:solidFill>
            <a:srgbClr val="1A2F4E">
              <a:alpha val="80000"/>
            </a:srgbClr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36976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Score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09160" y="1801368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Score composite de 7 facteurs cliniques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066544"/>
            <a:ext cx="28803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2066544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066544"/>
            <a:ext cx="41696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2093976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71A3"/>
                </a:solidFill>
              </a:rPr>
              <a:t>age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18688" y="2103120"/>
            <a:ext cx="914400" cy="201168"/>
          </a:xfrm>
          <a:prstGeom prst="rect">
            <a:avLst/>
          </a:prstGeom>
          <a:solidFill>
            <a:srgbClr val="2471A3">
              <a:alpha val="80000"/>
            </a:srgbClr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36976" y="210312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Démographie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9160" y="2093976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Âge du patient (en années)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2359152"/>
            <a:ext cx="288036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2359152"/>
            <a:ext cx="141732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63440" y="2359152"/>
            <a:ext cx="4169664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2386584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71A3"/>
                </a:solidFill>
              </a:rPr>
              <a:t>sysBP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18688" y="2395728"/>
            <a:ext cx="914400" cy="201168"/>
          </a:xfrm>
          <a:prstGeom prst="rect">
            <a:avLst/>
          </a:prstGeom>
          <a:solidFill>
            <a:srgbClr val="1D6A3C">
              <a:alpha val="80000"/>
            </a:srgbClr>
          </a:solidFill>
          <a:ln w="12700">
            <a:solidFill>
              <a:srgbClr val="1D6A3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36976" y="2395728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Cardiovasc.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09160" y="23865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Pression artérielle systolique (mmHg)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4320" y="2651760"/>
            <a:ext cx="28803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00400" y="2651760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0" y="2651760"/>
            <a:ext cx="41696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2679192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71A3"/>
                </a:solidFill>
              </a:rPr>
              <a:t>pulse_pressure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18688" y="2688336"/>
            <a:ext cx="914400" cy="201168"/>
          </a:xfrm>
          <a:prstGeom prst="rect">
            <a:avLst/>
          </a:prstGeom>
          <a:solidFill>
            <a:srgbClr val="1D6A3C">
              <a:alpha val="80000"/>
            </a:srgbClr>
          </a:solidFill>
          <a:ln w="12700">
            <a:solidFill>
              <a:srgbClr val="1D6A3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36976" y="2688336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Cardiovasc.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709160" y="2679192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Pression différentielle : sysBP − diaBP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74320" y="2944368"/>
            <a:ext cx="288036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00400" y="2944368"/>
            <a:ext cx="141732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63440" y="2944368"/>
            <a:ext cx="4169664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0040" y="2971800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71A3"/>
                </a:solidFill>
              </a:rPr>
              <a:t>prevalentHyp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3218688" y="2980944"/>
            <a:ext cx="914400" cy="201168"/>
          </a:xfrm>
          <a:prstGeom prst="rect">
            <a:avLst/>
          </a:prstGeom>
          <a:solidFill>
            <a:srgbClr val="7D3C98">
              <a:alpha val="80000"/>
            </a:srgbClr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36976" y="2980944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Pathologie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709160" y="2971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Hypertension préexistante (0 / 1)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74320" y="3236976"/>
            <a:ext cx="28803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00400" y="3236976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63440" y="3236976"/>
            <a:ext cx="41696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20040" y="3264408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71A3"/>
                </a:solidFill>
              </a:rPr>
              <a:t>diaBP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218688" y="3273552"/>
            <a:ext cx="914400" cy="201168"/>
          </a:xfrm>
          <a:prstGeom prst="rect">
            <a:avLst/>
          </a:prstGeom>
          <a:solidFill>
            <a:srgbClr val="1D6A3C">
              <a:alpha val="80000"/>
            </a:srgbClr>
          </a:solidFill>
          <a:ln w="12700">
            <a:solidFill>
              <a:srgbClr val="1D6A3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36976" y="327355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Cardiovasc.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709160" y="3264408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Pression artérielle diastolique (mmHg)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74320" y="3529584"/>
            <a:ext cx="288036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200400" y="3529584"/>
            <a:ext cx="141732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663440" y="3529584"/>
            <a:ext cx="4169664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20040" y="3557016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71A3"/>
                </a:solidFill>
              </a:rPr>
              <a:t>Tension_Hypertension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218688" y="3566160"/>
            <a:ext cx="914400" cy="201168"/>
          </a:xfrm>
          <a:prstGeom prst="rect">
            <a:avLst/>
          </a:prstGeom>
          <a:solidFill>
            <a:srgbClr val="D4AC0D">
              <a:alpha val="80000"/>
            </a:srgbClr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236976" y="356616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Tension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709160" y="3557016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Catégorie tensionnelle : hypertendue (encodage indicateur)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74320" y="3822192"/>
            <a:ext cx="28803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200400" y="3822192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63440" y="3822192"/>
            <a:ext cx="41696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" y="3849624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71A3"/>
                </a:solidFill>
              </a:rPr>
              <a:t>Tension_Normale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218688" y="3858768"/>
            <a:ext cx="914400" cy="201168"/>
          </a:xfrm>
          <a:prstGeom prst="rect">
            <a:avLst/>
          </a:prstGeom>
          <a:solidFill>
            <a:srgbClr val="D4AC0D">
              <a:alpha val="80000"/>
            </a:srgbClr>
          </a:solidFill>
          <a:ln w="12700">
            <a:solidFill>
              <a:srgbClr val="D4AC0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36976" y="3858768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Tension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709160" y="384962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Catégorie tensionnelle : normale (encodage indicateur)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74320" y="4114800"/>
            <a:ext cx="288036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200400" y="4114800"/>
            <a:ext cx="1417320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63440" y="4114800"/>
            <a:ext cx="4169664" cy="274320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20040" y="4142232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71A3"/>
                </a:solidFill>
              </a:rPr>
              <a:t>diabetes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3218688" y="4151376"/>
            <a:ext cx="914400" cy="201168"/>
          </a:xfrm>
          <a:prstGeom prst="rect">
            <a:avLst/>
          </a:prstGeom>
          <a:solidFill>
            <a:srgbClr val="7D3C98">
              <a:alpha val="80000"/>
            </a:srgbClr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236976" y="4151376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Pathologie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4709160" y="4142232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Présence de diabète (0 / 1)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74320" y="4407408"/>
            <a:ext cx="28803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200400" y="4407408"/>
            <a:ext cx="1417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663440" y="4407408"/>
            <a:ext cx="4169664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20040" y="4434840"/>
            <a:ext cx="2834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71A3"/>
                </a:solidFill>
              </a:rPr>
              <a:t>male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218688" y="4443984"/>
            <a:ext cx="914400" cy="201168"/>
          </a:xfrm>
          <a:prstGeom prst="rect">
            <a:avLst/>
          </a:prstGeom>
          <a:solidFill>
            <a:srgbClr val="2471A3">
              <a:alpha val="80000"/>
            </a:srgbClr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36976" y="4443984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Démographie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4709160" y="443484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Sexe masculin (0 / 1)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A4C8"/>
                </a:solidFill>
              </a:rPr>
              <a:t>Framingham Heart Study  |  TenYearCHD  |  2025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NETTOYAGE ET PRÉPARATION DES DONNÉES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BAFD4"/>
                </a:solidFill>
              </a:rPr>
              <a:t>04 / 09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768096"/>
            <a:ext cx="1920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768096"/>
            <a:ext cx="1920240" cy="43891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76809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01752" y="1243584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4E"/>
                </a:solidFill>
              </a:rPr>
              <a:t>Valeurs manquantes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1752" y="1828800"/>
            <a:ext cx="1773936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glucose : 9,15 % → médiane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education, cigsPerDay, BPMeds → mode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BMI, totChol, heartRate → médiane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Résultat : 0 valeur manquante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04872" y="768096"/>
            <a:ext cx="1920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04872" y="768096"/>
            <a:ext cx="1920240" cy="438912"/>
          </a:xfrm>
          <a:prstGeom prst="rect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04872" y="76809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78024" y="1243584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4E"/>
                </a:solidFill>
              </a:rPr>
              <a:t>Valeurs aberrantes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2F4E"/>
                </a:solidFill>
              </a:rPr>
              <a:t>(Winsorisation IQR)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78024" y="1828800"/>
            <a:ext cx="1773936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6 variables traitées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clip(Q1−1,5×IQR, Q3+1,5×IQR)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cigsPerDay exclu (asymétrie gauche)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Boxplots avant/après disponibles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1144" y="768096"/>
            <a:ext cx="1920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81144" y="768096"/>
            <a:ext cx="1920240" cy="43891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1144" y="76809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654296" y="1243584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4E"/>
                </a:solidFill>
              </a:rPr>
              <a:t>Construction de variables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54296" y="1828800"/>
            <a:ext cx="1773936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risk_score (7 facteurs)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pulse_pressure = sysBP − diaBP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age_sysBP = âge × sysBP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Encodage indicateur : IMC, Tension, FC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57416" y="768096"/>
            <a:ext cx="1920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57416" y="768096"/>
            <a:ext cx="1920240" cy="438912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57416" y="76809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830568" y="1243584"/>
            <a:ext cx="17739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4E"/>
                </a:solidFill>
              </a:rPr>
              <a:t>Division &amp; Pipeline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30568" y="1828800"/>
            <a:ext cx="1773936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Apprentissage 70 % / Test 30 % (stratifié)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Croisement stratifié (5 plis)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Normalisation intégrée au pipeline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class_weight='équilibré' anti-déséquilibre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A4C8"/>
                </a:solidFill>
              </a:rPr>
              <a:t>Framingham Heart Study  |  TenYearCHD  |  2025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RÉSULTATS EXPLORATOIRES — CORRÉLATIONS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BAFD4"/>
                </a:solidFill>
              </a:rPr>
              <a:t>05 / 09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768096"/>
          <a:ext cx="530352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669280" y="768096"/>
            <a:ext cx="3200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669280" y="768096"/>
            <a:ext cx="73152" cy="62179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79008" y="79552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4E"/>
                </a:solidFill>
              </a:rPr>
              <a:t>age_sysBP = 0,26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79008" y="108813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Interaction âge × tension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→ 1er prédicteur composite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669280" y="1463040"/>
            <a:ext cx="3200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69280" y="1463040"/>
            <a:ext cx="73152" cy="62179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79008" y="149047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4E"/>
                </a:solidFill>
              </a:rPr>
              <a:t>risk_score = 0,24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779008" y="17830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Score de 7 facteurs cliniques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agrégés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0" y="2157984"/>
            <a:ext cx="3200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669280" y="2157984"/>
            <a:ext cx="73152" cy="62179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79008" y="21854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4E"/>
                </a:solidFill>
              </a:rPr>
              <a:t>age = 0,23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779008" y="247802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Risque croissant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après 55 ans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669280" y="2852928"/>
            <a:ext cx="3200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669280" y="2852928"/>
            <a:ext cx="73152" cy="62179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79008" y="288036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4E"/>
                </a:solidFill>
              </a:rPr>
              <a:t>Hypertension = ×3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779008" y="31729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Taux CHD 3× plus élevé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chez les hypertendus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669280" y="3547872"/>
            <a:ext cx="3200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669280" y="3547872"/>
            <a:ext cx="73152" cy="621792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79008" y="3575304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4E"/>
                </a:solidFill>
              </a:rPr>
              <a:t>Diabète = 37 %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779008" y="386791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37 % CHD chez diabétiques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vs 15 % en population générale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A4C8"/>
                </a:solidFill>
              </a:rPr>
              <a:t>Framingham Heart Study  |  TenYearCHD  |  2025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RÉSULTATS EXPLORATOIRES — FACTEURS DE RISQUE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BAFD4"/>
                </a:solidFill>
              </a:rPr>
              <a:t>05b / 09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768096"/>
          <a:ext cx="530352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669280" y="768096"/>
            <a:ext cx="3200400" cy="621792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715000" y="80467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471A3"/>
                </a:solidFill>
              </a:rPr>
              <a:t>18,8 %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715000" y="1133856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CHD chez les hommes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0" y="1463040"/>
            <a:ext cx="3200400" cy="621792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715000" y="149961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03A2E"/>
                </a:solidFill>
              </a:rPr>
              <a:t>36,7 %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5715000" y="1828800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CHD chez les diabétiques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0" y="2157984"/>
            <a:ext cx="3200400" cy="621792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715000" y="2194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03A2E"/>
                </a:solidFill>
              </a:rPr>
              <a:t>24,7 %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715000" y="2523744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CHD avec hypertension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0" y="2852928"/>
            <a:ext cx="3200400" cy="621792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715000" y="288950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03A2E"/>
                </a:solidFill>
              </a:rPr>
              <a:t>29,5 %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5715000" y="3218688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CHD si âge &gt; 55 ans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669280" y="3547872"/>
            <a:ext cx="3200400" cy="621792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715000" y="358444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2F4E"/>
                </a:solidFill>
              </a:rPr>
              <a:t>6 : 1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5715000" y="3913632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</a:rPr>
              <a:t>Ratio déséquilibre des classes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A4C8"/>
                </a:solidFill>
              </a:rPr>
              <a:t>Framingham Heart Study  |  TenYearCHD  |  2025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MODÉLISATION ET PERFORMANCE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BAFD4"/>
                </a:solidFill>
              </a:rPr>
              <a:t>06 / 09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Métrique principale : AUC-ROC   |   Contexte médical → priorité au Rappel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3657600" cy="329184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3385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Modèle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931920" y="1115568"/>
            <a:ext cx="1097280" cy="329184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113385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AUC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0" y="1115568"/>
            <a:ext cx="1097280" cy="329184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113385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Rappel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115568"/>
            <a:ext cx="1097280" cy="329184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113385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23760" y="1115568"/>
            <a:ext cx="1920240" cy="329184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133856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Configuration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1481328"/>
            <a:ext cx="36576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" y="1536192"/>
            <a:ext cx="3547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Référence (Aléatoire)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931920" y="1481328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86784" y="1536192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≈ 0,50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0" y="1481328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4064" y="1536192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0 %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1481328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81344" y="1536192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0 %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23760" y="1481328"/>
            <a:ext cx="19202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78624" y="153619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strategy='most_frequent'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1956816"/>
            <a:ext cx="3657600" cy="420624"/>
          </a:xfrm>
          <a:prstGeom prst="rect">
            <a:avLst/>
          </a:prstGeom>
          <a:solidFill>
            <a:srgbClr val="D6EAF8"/>
          </a:solidFill>
          <a:ln w="25400">
            <a:solidFill>
              <a:srgbClr val="2471A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" y="2011680"/>
            <a:ext cx="3547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F4E"/>
                </a:solidFill>
              </a:rPr>
              <a:t>★  Régression Logistique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931920" y="1956816"/>
            <a:ext cx="1097280" cy="420624"/>
          </a:xfrm>
          <a:prstGeom prst="rect">
            <a:avLst/>
          </a:prstGeom>
          <a:solidFill>
            <a:srgbClr val="D6EAF8"/>
          </a:solidFill>
          <a:ln w="25400">
            <a:solidFill>
              <a:srgbClr val="2471A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86784" y="2011680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F4E"/>
                </a:solidFill>
              </a:rPr>
              <a:t>0,698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29200" y="1956816"/>
            <a:ext cx="1097280" cy="420624"/>
          </a:xfrm>
          <a:prstGeom prst="rect">
            <a:avLst/>
          </a:prstGeom>
          <a:solidFill>
            <a:srgbClr val="D6EAF8"/>
          </a:solidFill>
          <a:ln w="25400">
            <a:solidFill>
              <a:srgbClr val="2471A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84064" y="2011680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F4E"/>
                </a:solidFill>
              </a:rPr>
              <a:t>63,2 %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26480" y="1956816"/>
            <a:ext cx="1097280" cy="420624"/>
          </a:xfrm>
          <a:prstGeom prst="rect">
            <a:avLst/>
          </a:prstGeom>
          <a:solidFill>
            <a:srgbClr val="D6EAF8"/>
          </a:solidFill>
          <a:ln w="25400">
            <a:solidFill>
              <a:srgbClr val="2471A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81344" y="2011680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F4E"/>
                </a:solidFill>
              </a:rPr>
              <a:t>36,5 %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223760" y="1956816"/>
            <a:ext cx="1920240" cy="420624"/>
          </a:xfrm>
          <a:prstGeom prst="rect">
            <a:avLst/>
          </a:prstGeom>
          <a:solidFill>
            <a:srgbClr val="D6EAF8"/>
          </a:solidFill>
          <a:ln w="25400">
            <a:solidFill>
              <a:srgbClr val="2471A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78624" y="201168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F4E"/>
                </a:solidFill>
              </a:rPr>
              <a:t>class_weight=équilibré | C=0,01 (RechercheGrille)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2432304"/>
            <a:ext cx="36576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184" y="2487168"/>
            <a:ext cx="3547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Forêt Aléatoire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931920" y="2432304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86784" y="2487168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0,678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29200" y="2432304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84064" y="2487168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46,6 %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126480" y="2432304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1344" y="2487168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34,4 %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223760" y="2432304"/>
            <a:ext cx="19202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8624" y="24871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300 arbres | profondeur=8 | class_weight=équilibré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74320" y="2907792"/>
            <a:ext cx="365760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9184" y="2962656"/>
            <a:ext cx="3547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Gradient Boosté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931920" y="2907792"/>
            <a:ext cx="109728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86784" y="2962656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0,679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029200" y="2907792"/>
            <a:ext cx="109728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84064" y="2962656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6,7 %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126480" y="2907792"/>
            <a:ext cx="109728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81344" y="2962656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11,3 %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223760" y="2907792"/>
            <a:ext cx="1920240" cy="420624"/>
          </a:xfrm>
          <a:prstGeom prst="rect">
            <a:avLst/>
          </a:prstGeom>
          <a:solidFill>
            <a:srgbClr val="F4F8FC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78624" y="2962656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200 iter. | lr=0,05 | profondeur=4 | sous-éch.=0,8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274320" y="3383280"/>
            <a:ext cx="36576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29184" y="3438144"/>
            <a:ext cx="35478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Hist. Gradient Boosté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931920" y="3383280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86784" y="3438144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0,646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5029200" y="3383280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84064" y="3438144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40,4 %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126480" y="3383280"/>
            <a:ext cx="1097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81344" y="3438144"/>
            <a:ext cx="98755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29,8 %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7223760" y="3383280"/>
            <a:ext cx="19202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78624" y="3438144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300 iter. | lr=0,05 | profondeur=5 | class_weight=équilibré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274320" y="409651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3A2E"/>
                </a:solidFill>
              </a:rPr>
              <a:t>⚠ Gradient Boosté : Accuracy = 83,9 % mais Rappel = 6,7 % → ne détecte qu'1 patient sur 15. Non adapté au dépistage médical.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A4C8"/>
                </a:solidFill>
              </a:rPr>
              <a:t>Framingham Heart Study  |  TenYearCHD  |  2025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MODÉLISATION — VALIDATION CROISÉE ET COURBE ROC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BAFD4"/>
                </a:solidFill>
              </a:rPr>
              <a:t>06b / 09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749808"/>
          <a:ext cx="420624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274320" y="2944368"/>
          <a:ext cx="420624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2"/>
          <p:cNvGraphicFramePr/>
          <p:nvPr/>
        </p:nvGraphicFramePr>
        <p:xfrm>
          <a:off x="4663440" y="749808"/>
          <a:ext cx="4206240" cy="4041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Shape 3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9" name="Text 4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A4C8"/>
                </a:solidFill>
              </a:rPr>
              <a:t>Framingham Heart Study  |  TenYearCHD  |  2025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FACTEURS DE RISQUE PRINCIPAUX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BAFD4"/>
                </a:solidFill>
              </a:rPr>
              <a:t>07 / 09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749808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Source : coefficients absolus |coef| — Régression Logistique optimisée (RechercheGrille)</a:t>
            </a:r>
            <a:endParaRPr lang="en-US" sz="11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274320" y="1115568"/>
          <a:ext cx="4937760" cy="3547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394960" y="1115568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394960" y="1115568"/>
            <a:ext cx="685800" cy="5486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94960" y="1115568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34,9 %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44768" y="1152144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4E"/>
                </a:solidFill>
              </a:rPr>
              <a:t>Âge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44768" y="1408176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1er facteur. Risque fort après 55 ans.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394960" y="1714500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394960" y="1714500"/>
            <a:ext cx="685800" cy="5486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94960" y="1714500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23,9 %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144768" y="1751076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4E"/>
                </a:solidFill>
              </a:rPr>
              <a:t>Sexe masc.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144768" y="2007108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Risque 1,5× supérieur chez l'homme.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394960" y="2313432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394960" y="2313432"/>
            <a:ext cx="685800" cy="5486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94960" y="2313432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22,4 %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144768" y="2350008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4E"/>
                </a:solidFill>
              </a:rPr>
              <a:t>age_sysBP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144768" y="260604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Cumul du risque cardio. dans le temps.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394960" y="2912364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394960" y="2912364"/>
            <a:ext cx="685800" cy="5486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94960" y="2912364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10,2 %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144768" y="29489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4E"/>
                </a:solidFill>
              </a:rPr>
              <a:t>Diabète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144768" y="3204972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Taux CHD 37 % vs 15 % en population.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94960" y="3511296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394960" y="3511296"/>
            <a:ext cx="685800" cy="5486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394960" y="3511296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9,1 %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144768" y="3547872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4E"/>
                </a:solidFill>
              </a:rPr>
              <a:t>risk_score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44768" y="3803904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Agrège 7 facteurs cliniques clés.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394960" y="4110228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5394960" y="4110228"/>
            <a:ext cx="685800" cy="54864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394960" y="4110228"/>
            <a:ext cx="685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7,2 %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144768" y="4146804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4E"/>
                </a:solidFill>
              </a:rPr>
              <a:t>sysBP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144768" y="4402836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Seuil critique ≥ 140 mmHg (stade 2).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A4C8"/>
                </a:solidFill>
              </a:rPr>
              <a:t>Framingham Heart Study  |  TenYearCHD  |  2025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F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142640"/>
          </a:solidFill>
          <a:ln w="12700">
            <a:solidFill>
              <a:srgbClr val="1426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kern="0" spc="200" dirty="0">
                <a:solidFill>
                  <a:srgbClr val="FFFFFF"/>
                </a:solidFill>
              </a:rPr>
              <a:t>CONCLUSION ET RECOMMANDATIONS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40080"/>
            <a:ext cx="3200400" cy="36576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77240"/>
            <a:ext cx="8595360" cy="640080"/>
          </a:xfrm>
          <a:prstGeom prst="rect">
            <a:avLst/>
          </a:prstGeom>
          <a:solidFill>
            <a:srgbClr val="2471A3">
              <a:alpha val="85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04672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★  Modèle retenu : Régression Logistique optimisée   |   AUC-ROC = 0,698   |   Rappel = 63,2 %   |   AUC croisée = 0,7244 ± 0,025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572768"/>
            <a:ext cx="2697480" cy="36576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572768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Performance obtenue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965960"/>
            <a:ext cx="2697480" cy="420624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20116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·  AUC-ROC = 0,698 (vs 0,500 référence)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441448"/>
            <a:ext cx="2697480" cy="420624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48716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·  Rappel = 63,2 % — détecte 6 patients sur 10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916936"/>
            <a:ext cx="2697480" cy="420624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96265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·  Croisement stable : AUC = 0,7244 ± 0,025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392424"/>
            <a:ext cx="2697480" cy="420624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343814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·  Précision = 25,7 % — compromis acceptable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54680" y="1572768"/>
            <a:ext cx="2697480" cy="365760"/>
          </a:xfrm>
          <a:prstGeom prst="rect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54680" y="1572768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Impact potentiel en santé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154680" y="1965960"/>
            <a:ext cx="2697480" cy="420624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20116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·  Dépistage précoce des profils à risque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54680" y="2441448"/>
            <a:ext cx="2697480" cy="420624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27832" y="248716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·  Réduction des hospitalisations évitables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154680" y="2916936"/>
            <a:ext cx="2697480" cy="420624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27832" y="296265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·  Aide au clinicien : priorisation des patients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154680" y="3392424"/>
            <a:ext cx="2697480" cy="420624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7832" y="343814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·  Reproductible sur d'autres cohortes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1572768"/>
            <a:ext cx="2697480" cy="365760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35040" y="1572768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Recommandations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035040" y="1965960"/>
            <a:ext cx="2697480" cy="420624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08192" y="201168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·  Abaisser le seuil à 0,44 → Rappel = 75 %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35040" y="2441448"/>
            <a:ext cx="2697480" cy="420624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08192" y="248716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·  Utiliser Fbêta(2) comme métrique principale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2916936"/>
            <a:ext cx="2697480" cy="420624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08192" y="2962656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·  Enrichir les données avec biomarqueurs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35040" y="3392424"/>
            <a:ext cx="2697480" cy="420624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08192" y="343814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·  Valider sur cohorte contemporaine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28600" y="448056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A4C8"/>
                </a:solidFill>
              </a:rPr>
              <a:t>Analyste Data Junior   ·   Framingham Heart Study   ·   2025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LIMITES ET PERSPECTIVES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0" y="7315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7BAFD4"/>
                </a:solidFill>
              </a:rPr>
              <a:t>09 / 09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114800" cy="384048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49808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Limites actuelles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34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3A2E"/>
                </a:solidFill>
              </a:rPr>
              <a:t>⚠  Données de 1948–1972 — généralisation limitée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4114800" cy="457200"/>
          </a:xfrm>
          <a:prstGeom prst="rect">
            <a:avLst/>
          </a:prstGeom>
          <a:solidFill>
            <a:srgbClr val="FFF5F5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647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3A2E"/>
                </a:solidFill>
              </a:rPr>
              <a:t>⚠  Déséquilibre persistant malgré class_weight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249424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295144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3A2E"/>
                </a:solidFill>
              </a:rPr>
              <a:t>⚠  Corrélations modérées (r max = 0,26)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779776"/>
            <a:ext cx="4114800" cy="457200"/>
          </a:xfrm>
          <a:prstGeom prst="rect">
            <a:avLst/>
          </a:prstGeom>
          <a:solidFill>
            <a:srgbClr val="FFF5F5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82549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3A2E"/>
                </a:solidFill>
              </a:rPr>
              <a:t>⚠  Absence de biomarqueurs avancés (LDL, CRP…)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3310128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35584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3A2E"/>
                </a:solidFill>
              </a:rPr>
              <a:t>⚠  Validation externe non réalisée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749808"/>
            <a:ext cx="4114800" cy="384048"/>
          </a:xfrm>
          <a:prstGeom prst="rect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749808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🚀  Perspectives d'amélioration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1148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73168" y="1252728"/>
            <a:ext cx="457200" cy="457200"/>
          </a:xfrm>
          <a:prstGeom prst="ellipse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12527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85232" y="1234440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4E"/>
                </a:solidFill>
              </a:rPr>
              <a:t>Surépchantillonnage (SMOTE)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85232" y="149047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Génération d'exemples synthétiques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pour la classe minoritaire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1847088"/>
            <a:ext cx="41148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73168" y="1911096"/>
            <a:ext cx="457200" cy="457200"/>
          </a:xfrm>
          <a:prstGeom prst="ellipse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19110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85232" y="1892808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4E"/>
                </a:solidFill>
              </a:rPr>
              <a:t>Optimisation bayésienne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285232" y="2148840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Recherche d'hyperparamètres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plus efficace que la grille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2505456"/>
            <a:ext cx="41148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73168" y="2569464"/>
            <a:ext cx="457200" cy="457200"/>
          </a:xfrm>
          <a:prstGeom prst="ellipse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3168" y="25694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285232" y="2551176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4E"/>
                </a:solidFill>
              </a:rPr>
              <a:t>Valeurs SHAP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85232" y="28072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Interprétabilité individuelle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par patient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54880" y="3163824"/>
            <a:ext cx="41148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4"/>
            </a:solidFill>
            <a:prstDash val="solid"/>
          </a:ln>
          <a:effectLst>
            <a:outerShdw blurRad="88900" dist="38100" dir="8100000" algn="bl" rotWithShape="0">
              <a:srgbClr val="AAAAAA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73168" y="3227832"/>
            <a:ext cx="457200" cy="457200"/>
          </a:xfrm>
          <a:prstGeom prst="ellipse">
            <a:avLst/>
          </a:prstGeom>
          <a:solidFill>
            <a:srgbClr val="1D6A3C"/>
          </a:solidFill>
          <a:ln w="12700">
            <a:solidFill>
              <a:srgbClr val="1D6A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73168" y="3227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85232" y="3209544"/>
            <a:ext cx="3520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4E"/>
                </a:solidFill>
              </a:rPr>
              <a:t>Déploiement API REST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85232" y="34655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Pipeline via FastAPI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→ predict_proba() → JSON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1A2F4E"/>
          </a:solidFill>
          <a:ln w="12700">
            <a:solidFill>
              <a:srgbClr val="1A2F4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4837176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A4C8"/>
                </a:solidFill>
              </a:rPr>
              <a:t>Framingham Heart Study  |  TenYearCHD  |  2025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F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2471A3"/>
          </a:solidFill>
          <a:ln w="12700">
            <a:solidFill>
              <a:srgbClr val="2471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142640"/>
          </a:solidFill>
          <a:ln w="12700">
            <a:solidFill>
              <a:srgbClr val="1426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-685800" y="5257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Merci pour votre attention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0C2E8"/>
                </a:solidFill>
              </a:rPr>
              <a:t>Prédiction du Risque de Maladie Coronarienne à 10 Ans — Framingham Heart Study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2286000"/>
            <a:ext cx="2743200" cy="36576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468880"/>
            <a:ext cx="2377440" cy="160020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514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5146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Merci au Jury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3375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C2E8"/>
                </a:solidFill>
              </a:rPr>
              <a:t>Pour l'évaluation de ce travail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0C2E8"/>
                </a:solidFill>
              </a:rPr>
              <a:t>et les remarques constructives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468880"/>
            <a:ext cx="2377440" cy="160020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4A90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29000" y="2514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429000" y="2532888"/>
            <a:ext cx="23774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Merci à l'Encadrant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33375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C2E8"/>
                </a:solidFill>
              </a:rPr>
              <a:t>Pour l'accompagnement, les conseils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0C2E8"/>
                </a:solidFill>
              </a:rPr>
              <a:t>et le suivi tout au long du projet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2468880"/>
            <a:ext cx="2377440" cy="160020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4A90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514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126480" y="25146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Merci pour l'Écoute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0" y="33375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C2E8"/>
                </a:solidFill>
              </a:rPr>
              <a:t>Pour votre attention et l'intérêt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0C2E8"/>
                </a:solidFill>
              </a:rPr>
              <a:t>porté à cette présentation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8600" y="448056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A4C8"/>
                </a:solidFill>
              </a:rPr>
              <a:t>Analyste Data Junior   ·   Framingham Heart Study   ·   2025</a:t>
            </a:r>
            <a:endParaRPr lang="en-US" sz="900" dirty="0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DD9FF77C-9EA4-2E9B-A46F-D4265577A8FC}"/>
              </a:ext>
            </a:extLst>
          </p:cNvPr>
          <p:cNvSpPr/>
          <p:nvPr/>
        </p:nvSpPr>
        <p:spPr>
          <a:xfrm>
            <a:off x="6628141" y="94058"/>
            <a:ext cx="2142215" cy="1782417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25400">
            <a:solidFill>
              <a:srgbClr val="2471A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1364</Words>
  <Application>Microsoft Office PowerPoint</Application>
  <PresentationFormat>On-screen Show (16:9)</PresentationFormat>
  <Paragraphs>305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Prédiction du Risque Coronarien — Framingham</dc:title>
  <dc:subject>PptxGenJS Presentation</dc:subject>
  <dc:creator>PptxGenJS</dc:creator>
  <cp:lastModifiedBy>DARIL DIELH</cp:lastModifiedBy>
  <cp:revision>3</cp:revision>
  <dcterms:created xsi:type="dcterms:W3CDTF">2026-03-03T12:50:21Z</dcterms:created>
  <dcterms:modified xsi:type="dcterms:W3CDTF">2026-03-03T13:01:50Z</dcterms:modified>
</cp:coreProperties>
</file>
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71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6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2"/>
          <c:dPt>
            <c:idx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9D7-4C42-928E-1ED049B43A9A}"/>
              </c:ext>
            </c:extLst>
          </c:dPt>
          <c:dPt>
            <c:idx val="1"/>
            <c:bubble3D val="0"/>
            <c:spPr>
              <a:solidFill>
                <a:srgbClr val="B0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D7-4C42-928E-1ED049B43A9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D7-4C42-928E-1ED049B43A9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9D7-4C42-928E-1ED049B43A9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Non-CHD (0)</c:v>
                </c:pt>
                <c:pt idx="1">
                  <c:v>CHD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84.8</c:v>
                </c:pt>
                <c:pt idx="1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D7-4C42-928E-1ED049B43A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Corrélation absolue |r| avec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2612547892720308"/>
          <c:y val="2.9761904761904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Corrélation absolue |r|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Tension_Normale</c:v>
                </c:pt>
                <c:pt idx="1">
                  <c:v>male</c:v>
                </c:pt>
                <c:pt idx="2">
                  <c:v>diabetes</c:v>
                </c:pt>
                <c:pt idx="3">
                  <c:v>Tension_Hypert.</c:v>
                </c:pt>
                <c:pt idx="4">
                  <c:v>diaBP</c:v>
                </c:pt>
                <c:pt idx="5">
                  <c:v>prevalentHyp</c:v>
                </c:pt>
                <c:pt idx="6">
                  <c:v>pulse_pressure</c:v>
                </c:pt>
                <c:pt idx="7">
                  <c:v>sysBP</c:v>
                </c:pt>
                <c:pt idx="8">
                  <c:v>age</c:v>
                </c:pt>
                <c:pt idx="9">
                  <c:v>risk_score</c:v>
                </c:pt>
                <c:pt idx="10">
                  <c:v>age_sysBP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0.11</c:v>
                </c:pt>
                <c:pt idx="1">
                  <c:v>0.09</c:v>
                </c:pt>
                <c:pt idx="2">
                  <c:v>0.1</c:v>
                </c:pt>
                <c:pt idx="3">
                  <c:v>0.14000000000000001</c:v>
                </c:pt>
                <c:pt idx="4">
                  <c:v>0.12</c:v>
                </c:pt>
                <c:pt idx="5">
                  <c:v>0.17</c:v>
                </c:pt>
                <c:pt idx="6">
                  <c:v>0.18</c:v>
                </c:pt>
                <c:pt idx="7">
                  <c:v>0.21</c:v>
                </c:pt>
                <c:pt idx="8">
                  <c:v>0.23</c:v>
                </c:pt>
                <c:pt idx="9">
                  <c:v>0.24</c:v>
                </c:pt>
                <c:pt idx="10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F-42BA-9263-295808C5E45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fr-FR" sz="1800" b="0" i="0" u="none" strike="noStrike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Taux de CHD (%) selon le facteur de risque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CHD (%)</c:v>
                </c:pt>
              </c:strCache>
            </c:strRef>
          </c:tx>
          <c:spPr>
            <a:solidFill>
              <a:srgbClr val="E8EEF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5F5-4C03-9F4E-04624C2FAFB8}"/>
              </c:ext>
            </c:extLst>
          </c:dPt>
          <c:dPt>
            <c:idx val="1"/>
            <c:invertIfNegative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F5-4C03-9F4E-04624C2FAFB8}"/>
              </c:ext>
            </c:extLst>
          </c:dPt>
          <c:dPt>
            <c:idx val="2"/>
            <c:invertIfNegative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F5-4C03-9F4E-04624C2FAFB8}"/>
              </c:ext>
            </c:extLst>
          </c:dPt>
          <c:dPt>
            <c:idx val="3"/>
            <c:invertIfNegative val="0"/>
            <c:bubble3D val="0"/>
            <c:spPr>
              <a:solidFill>
                <a:srgbClr val="B0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F5-4C03-9F4E-04624C2FAFB8}"/>
              </c:ext>
            </c:extLst>
          </c:dPt>
          <c:dPt>
            <c:idx val="4"/>
            <c:invertIfNegative val="0"/>
            <c:bubble3D val="0"/>
            <c:spPr>
              <a:solidFill>
                <a:srgbClr val="B0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5F5-4C03-9F4E-04624C2FAFB8}"/>
              </c:ext>
            </c:extLst>
          </c:dPt>
          <c:dPt>
            <c:idx val="5"/>
            <c:invertIfNegative val="0"/>
            <c:bubble3D val="0"/>
            <c:spPr>
              <a:solidFill>
                <a:srgbClr val="B0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5F5-4C03-9F4E-04624C2FAFB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Global</c:v>
                </c:pt>
                <c:pt idx="1">
                  <c:v>Sexe masc.</c:v>
                </c:pt>
                <c:pt idx="2">
                  <c:v>Obésité</c:v>
                </c:pt>
                <c:pt idx="3">
                  <c:v>Hypertension</c:v>
                </c:pt>
                <c:pt idx="4">
                  <c:v>Âge &gt; 55 ans</c:v>
                </c:pt>
                <c:pt idx="5">
                  <c:v>Diabète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15.2</c:v>
                </c:pt>
                <c:pt idx="1">
                  <c:v>18.8</c:v>
                </c:pt>
                <c:pt idx="2">
                  <c:v>19.5</c:v>
                </c:pt>
                <c:pt idx="3">
                  <c:v>24.7</c:v>
                </c:pt>
                <c:pt idx="4">
                  <c:v>29.5</c:v>
                </c:pt>
                <c:pt idx="5">
                  <c:v>36.700000000000003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5F5-4C03-9F4E-04624C2FAF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AUC-ROC moyen (VC 5 plis)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 moyen (validation croisée 5 plis)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7C-401F-B8D6-C7C0FB365A4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77C-401F-B8D6-C7C0FB365A4F}"/>
              </c:ext>
            </c:extLst>
          </c:dPt>
          <c:dPt>
            <c:idx val="2"/>
            <c:invertIfNegative val="0"/>
            <c:bubble3D val="0"/>
            <c:spPr>
              <a:solidFill>
                <a:srgbClr val="1D6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7C-401F-B8D6-C7C0FB365A4F}"/>
              </c:ext>
            </c:extLst>
          </c:dPt>
          <c:dPt>
            <c:idx val="3"/>
            <c:invertIfNegative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7C-401F-B8D6-C7C0FB365A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Hist. Gradient Boosté</c:v>
                </c:pt>
                <c:pt idx="1">
                  <c:v>Gradient Boosté</c:v>
                </c:pt>
                <c:pt idx="2">
                  <c:v>Forêt Aléatoire</c:v>
                </c:pt>
                <c:pt idx="3">
                  <c:v>Rég. Logistique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0.68169999999999997</c:v>
                </c:pt>
                <c:pt idx="1">
                  <c:v>0.69599999999999995</c:v>
                </c:pt>
                <c:pt idx="2">
                  <c:v>0.70920000000000005</c:v>
                </c:pt>
                <c:pt idx="3">
                  <c:v>0.72440000000000004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77C-401F-B8D6-C7C0FB365A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6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Rappel moyen (VC 5 plis)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Rappel moyen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C4C-4568-AEE7-D51B94F1E015}"/>
              </c:ext>
            </c:extLst>
          </c:dPt>
          <c:dPt>
            <c:idx val="1"/>
            <c:invertIfNegative val="0"/>
            <c:bubble3D val="0"/>
            <c:spPr>
              <a:solidFill>
                <a:srgbClr val="5555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4C-4568-AEE7-D51B94F1E015}"/>
              </c:ext>
            </c:extLst>
          </c:dPt>
          <c:dPt>
            <c:idx val="2"/>
            <c:invertIfNegative val="0"/>
            <c:bubble3D val="0"/>
            <c:spPr>
              <a:solidFill>
                <a:srgbClr val="1D6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4C-4568-AEE7-D51B94F1E015}"/>
              </c:ext>
            </c:extLst>
          </c:dPt>
          <c:dPt>
            <c:idx val="3"/>
            <c:invertIfNegative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C4C-4568-AEE7-D51B94F1E0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Gradient Boosté</c:v>
                </c:pt>
                <c:pt idx="1">
                  <c:v>Hist. Gradient Boosté</c:v>
                </c:pt>
                <c:pt idx="2">
                  <c:v>Forêt Aléatoire</c:v>
                </c:pt>
                <c:pt idx="3">
                  <c:v>Rég. Logistique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9.8000000000000004E-2</c:v>
                </c:pt>
                <c:pt idx="1">
                  <c:v>0.48299999999999998</c:v>
                </c:pt>
                <c:pt idx="2">
                  <c:v>0.48799999999999999</c:v>
                </c:pt>
                <c:pt idx="3">
                  <c:v>0.67400000000000004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4C-4568-AEE7-D51B94F1E0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Courbe ROC — Comparaison des modèles</a:t>
            </a:r>
          </a:p>
        </c:rich>
      </c:tx>
      <c:layout>
        <c:manualLayout>
          <c:xMode val="edge"/>
          <c:yMode val="edge"/>
          <c:x val="0.13302379322149949"/>
          <c:y val="0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Rég. Logistique (AUC=0,703)</c:v>
                </c:pt>
              </c:strCache>
            </c:strRef>
          </c:tx>
          <c:spPr>
            <a:ln w="25400" cap="flat">
              <a:solidFill>
                <a:srgbClr val="2471A3">
                  <a:alpha val="73000"/>
                </a:srgbClr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0.5</c:v>
                </c:pt>
                <c:pt idx="7">
                  <c:v>0.6</c:v>
                </c:pt>
                <c:pt idx="8">
                  <c:v>0.7</c:v>
                </c:pt>
                <c:pt idx="9">
                  <c:v>0.8</c:v>
                </c:pt>
                <c:pt idx="10">
                  <c:v>0.9</c:v>
                </c:pt>
                <c:pt idx="11">
                  <c:v>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0.18</c:v>
                </c:pt>
                <c:pt idx="2">
                  <c:v>0.3</c:v>
                </c:pt>
                <c:pt idx="3">
                  <c:v>0.45</c:v>
                </c:pt>
                <c:pt idx="4">
                  <c:v>0.55000000000000004</c:v>
                </c:pt>
                <c:pt idx="5">
                  <c:v>0.63</c:v>
                </c:pt>
                <c:pt idx="6">
                  <c:v>0.7</c:v>
                </c:pt>
                <c:pt idx="7">
                  <c:v>0.76</c:v>
                </c:pt>
                <c:pt idx="8">
                  <c:v>0.82</c:v>
                </c:pt>
                <c:pt idx="9">
                  <c:v>0.88</c:v>
                </c:pt>
                <c:pt idx="10">
                  <c:v>0.94</c:v>
                </c:pt>
                <c:pt idx="11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7E3-4506-881C-719E08CD55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Forêt Aléatoire (AUC=0,678)</c:v>
                </c:pt>
              </c:strCache>
            </c:strRef>
          </c:tx>
          <c:spPr>
            <a:ln w="25400" cap="flat">
              <a:solidFill>
                <a:srgbClr val="1D6A3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0.5</c:v>
                </c:pt>
                <c:pt idx="7">
                  <c:v>0.6</c:v>
                </c:pt>
                <c:pt idx="8">
                  <c:v>0.7</c:v>
                </c:pt>
                <c:pt idx="9">
                  <c:v>0.8</c:v>
                </c:pt>
                <c:pt idx="10">
                  <c:v>0.9</c:v>
                </c:pt>
                <c:pt idx="11">
                  <c:v>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0.15</c:v>
                </c:pt>
                <c:pt idx="2">
                  <c:v>0.27</c:v>
                </c:pt>
                <c:pt idx="3">
                  <c:v>0.41</c:v>
                </c:pt>
                <c:pt idx="4">
                  <c:v>0.52</c:v>
                </c:pt>
                <c:pt idx="5">
                  <c:v>0.6</c:v>
                </c:pt>
                <c:pt idx="6">
                  <c:v>0.67</c:v>
                </c:pt>
                <c:pt idx="7">
                  <c:v>0.73</c:v>
                </c:pt>
                <c:pt idx="8">
                  <c:v>0.79</c:v>
                </c:pt>
                <c:pt idx="9">
                  <c:v>0.86</c:v>
                </c:pt>
                <c:pt idx="10">
                  <c:v>0.93</c:v>
                </c:pt>
                <c:pt idx="11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7E3-4506-881C-719E08CD55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Référence aléatoire (AUC=0,50)</c:v>
                </c:pt>
              </c:strCache>
            </c:strRef>
          </c:tx>
          <c:spPr>
            <a:ln w="2540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0.5</c:v>
                </c:pt>
                <c:pt idx="7">
                  <c:v>0.6</c:v>
                </c:pt>
                <c:pt idx="8">
                  <c:v>0.7</c:v>
                </c:pt>
                <c:pt idx="9">
                  <c:v>0.8</c:v>
                </c:pt>
                <c:pt idx="10">
                  <c:v>0.9</c:v>
                </c:pt>
                <c:pt idx="11">
                  <c:v>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0.5</c:v>
                </c:pt>
                <c:pt idx="7">
                  <c:v>0.6</c:v>
                </c:pt>
                <c:pt idx="8">
                  <c:v>0.7</c:v>
                </c:pt>
                <c:pt idx="9">
                  <c:v>0.8</c:v>
                </c:pt>
                <c:pt idx="10">
                  <c:v>0.9</c:v>
                </c:pt>
                <c:pt idx="11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7E3-4506-881C-719E08CD55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(|coef|)</c:v>
                </c:pt>
              </c:strCache>
            </c:strRef>
          </c:tx>
          <c:spPr>
            <a:solidFill>
              <a:srgbClr val="2471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Tension_Hypert.</c:v>
                </c:pt>
                <c:pt idx="1">
                  <c:v>pulse_pressure</c:v>
                </c:pt>
                <c:pt idx="2">
                  <c:v>Tension_Normale</c:v>
                </c:pt>
                <c:pt idx="3">
                  <c:v>diaBP</c:v>
                </c:pt>
                <c:pt idx="4">
                  <c:v>prevalentHyp</c:v>
                </c:pt>
                <c:pt idx="5">
                  <c:v>sysBP</c:v>
                </c:pt>
                <c:pt idx="6">
                  <c:v>risk_score</c:v>
                </c:pt>
                <c:pt idx="7">
                  <c:v>diabetes</c:v>
                </c:pt>
                <c:pt idx="8">
                  <c:v>age_sysBP</c:v>
                </c:pt>
                <c:pt idx="9">
                  <c:v>male</c:v>
                </c:pt>
                <c:pt idx="10">
                  <c:v>age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3.7999999999999999E-2</c:v>
                </c:pt>
                <c:pt idx="1">
                  <c:v>4.2999999999999997E-2</c:v>
                </c:pt>
                <c:pt idx="2">
                  <c:v>4.4999999999999998E-2</c:v>
                </c:pt>
                <c:pt idx="3">
                  <c:v>5.0999999999999997E-2</c:v>
                </c:pt>
                <c:pt idx="4">
                  <c:v>5.8000000000000003E-2</c:v>
                </c:pt>
                <c:pt idx="5">
                  <c:v>7.1999999999999995E-2</c:v>
                </c:pt>
                <c:pt idx="6">
                  <c:v>9.0999999999999998E-2</c:v>
                </c:pt>
                <c:pt idx="7">
                  <c:v>0.10199999999999999</c:v>
                </c:pt>
                <c:pt idx="8">
                  <c:v>0.224</c:v>
                </c:pt>
                <c:pt idx="9">
                  <c:v>0.23899999999999999</c:v>
                </c:pt>
                <c:pt idx="10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E3-46FF-A6F0-E2B8137A7C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853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8334-048A-1D0D-8B99-5F76DE9C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5FE49-07A6-15EF-2BA6-53AB27CD4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6A5BF-4646-BCE7-66D5-B9DCC2F04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94C13-8D0E-80A4-3664-2209F31B7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51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676704"/>
            <a:ext cx="9144000" cy="466796"/>
          </a:xfrm>
          <a:prstGeom prst="rect">
            <a:avLst/>
          </a:prstGeom>
          <a:solidFill>
            <a:srgbClr val="142640"/>
          </a:solidFill>
          <a:ln w="12700">
            <a:solidFill>
              <a:srgbClr val="142640"/>
            </a:solidFill>
            <a:prstDash val="solid"/>
          </a:ln>
        </p:spPr>
        <p:txBody>
          <a:bodyPr/>
          <a:lstStyle/>
          <a:p>
            <a:endParaRPr lang="fr-CM" noProof="0" dirty="0"/>
          </a:p>
        </p:txBody>
      </p:sp>
      <p:sp>
        <p:nvSpPr>
          <p:cNvPr id="4" name="Shape 2"/>
          <p:cNvSpPr/>
          <p:nvPr/>
        </p:nvSpPr>
        <p:spPr>
          <a:xfrm>
            <a:off x="0" y="26703"/>
            <a:ext cx="1836087" cy="1671365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CM" noProof="0" dirty="0"/>
          </a:p>
        </p:txBody>
      </p:sp>
      <p:sp>
        <p:nvSpPr>
          <p:cNvPr id="5" name="Text 3"/>
          <p:cNvSpPr/>
          <p:nvPr/>
        </p:nvSpPr>
        <p:spPr>
          <a:xfrm>
            <a:off x="6766560" y="45720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CM" sz="5200" noProof="0" dirty="0"/>
          </a:p>
        </p:txBody>
      </p:sp>
      <p:sp>
        <p:nvSpPr>
          <p:cNvPr id="6" name="Text 4"/>
          <p:cNvSpPr/>
          <p:nvPr/>
        </p:nvSpPr>
        <p:spPr>
          <a:xfrm>
            <a:off x="2697480" y="179521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M" sz="1300" b="1" kern="0" spc="400" noProof="0" dirty="0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HEART STUDY</a:t>
            </a:r>
            <a:endParaRPr lang="fr-CM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80375" y="714729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M" sz="2800" b="1" noProof="0" dirty="0">
                <a:solidFill>
                  <a:srgbClr val="FFFFFF"/>
                </a:solidFill>
                <a:latin typeface="Algerian" panose="04020705040A02060702" pitchFamily="82" charset="0"/>
              </a:rPr>
              <a:t>       Prédiction du Risque de</a:t>
            </a:r>
            <a:endParaRPr lang="fr-CM" sz="2800" noProof="0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fr-CM" sz="2800" b="1" noProof="0" dirty="0">
                <a:solidFill>
                  <a:srgbClr val="FFFFFF"/>
                </a:solidFill>
                <a:latin typeface="Algerian" panose="04020705040A02060702" pitchFamily="82" charset="0"/>
              </a:rPr>
              <a:t>Maladie Coronarienne à 10 Ans</a:t>
            </a:r>
            <a:endParaRPr lang="fr-CM" sz="2800" noProof="0" dirty="0">
              <a:latin typeface="Algerian" panose="04020705040A02060702" pitchFamily="8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34690" y="39613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M" sz="1500" noProof="0" dirty="0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 Machine Learning  |  Classification Binaire</a:t>
            </a:r>
            <a:endParaRPr lang="fr-CM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25869" y="4382032"/>
            <a:ext cx="2743200" cy="36576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fr-CM" noProof="0" dirty="0"/>
          </a:p>
        </p:txBody>
      </p:sp>
      <p:sp>
        <p:nvSpPr>
          <p:cNvPr id="19" name="Text 17"/>
          <p:cNvSpPr/>
          <p:nvPr/>
        </p:nvSpPr>
        <p:spPr>
          <a:xfrm>
            <a:off x="228600" y="477637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M" sz="10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Analyste Data Junior   ·   Machine Learning &amp; Santé   ·   2026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D664C67-9176-8D7F-931E-D394A9E0F6F8}"/>
              </a:ext>
            </a:extLst>
          </p:cNvPr>
          <p:cNvSpPr/>
          <p:nvPr/>
        </p:nvSpPr>
        <p:spPr>
          <a:xfrm>
            <a:off x="7307913" y="2083"/>
            <a:ext cx="1836087" cy="164592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48E98-658B-4F20-9D22-C6BC5CDE7C13}"/>
              </a:ext>
            </a:extLst>
          </p:cNvPr>
          <p:cNvSpPr txBox="1"/>
          <p:nvPr/>
        </p:nvSpPr>
        <p:spPr>
          <a:xfrm>
            <a:off x="728937" y="3004761"/>
            <a:ext cx="2951922" cy="37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noProof="0" dirty="0">
                <a:solidFill>
                  <a:schemeClr val="bg1"/>
                </a:solidFill>
                <a:latin typeface="Algerian" panose="04020705040A02060702" pitchFamily="82" charset="0"/>
              </a:rPr>
              <a:t>Présente PAR: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702655-0292-49B6-B647-BBA94521074D}"/>
              </a:ext>
            </a:extLst>
          </p:cNvPr>
          <p:cNvSpPr/>
          <p:nvPr/>
        </p:nvSpPr>
        <p:spPr>
          <a:xfrm>
            <a:off x="2845903" y="2579746"/>
            <a:ext cx="1179576" cy="1217536"/>
          </a:xfrm>
          <a:prstGeom prst="ellipse">
            <a:avLst/>
          </a:prstGeom>
          <a:blipFill dpi="0"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M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63C0887-4096-4F11-ADA9-470125A308F9}"/>
              </a:ext>
            </a:extLst>
          </p:cNvPr>
          <p:cNvSpPr/>
          <p:nvPr/>
        </p:nvSpPr>
        <p:spPr>
          <a:xfrm>
            <a:off x="3680859" y="3511059"/>
            <a:ext cx="384246" cy="39113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M" noProof="0" dirty="0"/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D6599-298A-451C-83EB-52E8A8BACB4D}"/>
              </a:ext>
            </a:extLst>
          </p:cNvPr>
          <p:cNvSpPr/>
          <p:nvPr/>
        </p:nvSpPr>
        <p:spPr>
          <a:xfrm>
            <a:off x="4589493" y="2585988"/>
            <a:ext cx="1179576" cy="1216152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M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89EEAC-E86F-441E-9529-2079D3333875}"/>
              </a:ext>
            </a:extLst>
          </p:cNvPr>
          <p:cNvSpPr/>
          <p:nvPr/>
        </p:nvSpPr>
        <p:spPr>
          <a:xfrm>
            <a:off x="4480561" y="3505830"/>
            <a:ext cx="384048" cy="39319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M" noProof="0" dirty="0"/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endParaRPr lang="fr-FR" sz="2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0" dirty="0">
                <a:solidFill>
                  <a:srgbClr val="5BA3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/ 14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745462"/>
            <a:ext cx="9144000" cy="398038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prstDash val="solid"/>
          </a:ln>
        </p:spPr>
        <p:txBody>
          <a:bodyPr/>
          <a:lstStyle/>
          <a:p>
            <a:pPr algn="ctr"/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4745462"/>
            <a:ext cx="8595360" cy="398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</a:t>
            </a:r>
            <a:r>
              <a:rPr lang="fr-FR" sz="800" noProof="0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800" noProof="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800" noProof="0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800" noProof="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fr-FR" sz="800" noProof="0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800" noProof="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2026</a:t>
            </a:r>
            <a:endParaRPr lang="fr-FR" sz="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822686"/>
            <a:ext cx="2651760" cy="1078992"/>
          </a:xfrm>
          <a:prstGeom prst="cloud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859536"/>
            <a:ext cx="2651760" cy="62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rgbClr val="1B3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</a:t>
            </a:r>
            <a:endParaRPr lang="fr-FR" sz="3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430487"/>
            <a:ext cx="2651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D52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 de mortalité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3D52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mondiale (OMS, 2023)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804672"/>
            <a:ext cx="2651760" cy="1078992"/>
          </a:xfrm>
          <a:prstGeom prst="cloud">
            <a:avLst/>
          </a:prstGeom>
          <a:solidFill>
            <a:srgbClr val="FDE8EA"/>
          </a:solidFill>
          <a:ln w="12700">
            <a:solidFill>
              <a:srgbClr val="FD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46120" y="859536"/>
            <a:ext cx="2651760" cy="62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rgbClr val="E848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18M</a:t>
            </a:r>
            <a:endParaRPr lang="fr-FR" sz="3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46120" y="1430487"/>
            <a:ext cx="2651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D52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Décès / an liés aux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3D52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maladies cardio.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804672"/>
            <a:ext cx="2651760" cy="1078992"/>
          </a:xfrm>
          <a:prstGeom prst="cloud">
            <a:avLst/>
          </a:prstGeom>
          <a:solidFill>
            <a:srgbClr val="E6F5EC"/>
          </a:solidFill>
          <a:ln w="12700">
            <a:solidFill>
              <a:srgbClr val="E6F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72200" y="859536"/>
            <a:ext cx="2651760" cy="62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rgbClr val="1A6E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endParaRPr lang="fr-FR" sz="3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72200" y="1430487"/>
            <a:ext cx="2651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D52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cas sont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 err="1">
                <a:solidFill>
                  <a:srgbClr val="3D52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prévenables</a:t>
            </a:r>
            <a:r>
              <a:rPr lang="fr-FR" sz="1000" noProof="0" dirty="0">
                <a:solidFill>
                  <a:srgbClr val="3D52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dépistage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7472" y="2047982"/>
            <a:ext cx="4160520" cy="2498016"/>
          </a:xfrm>
          <a:prstGeom prst="flowChartAlternateProcess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53149" y="2523570"/>
            <a:ext cx="67302" cy="1824228"/>
          </a:xfrm>
          <a:prstGeom prst="rect">
            <a:avLst/>
          </a:prstGeom>
          <a:solidFill>
            <a:srgbClr val="2A6DB5"/>
          </a:solidFill>
          <a:ln w="12700">
            <a:solidFill>
              <a:srgbClr val="2A6DB5"/>
            </a:solidFill>
            <a:prstDash val="solid"/>
          </a:ln>
        </p:spPr>
        <p:txBody>
          <a:bodyPr/>
          <a:lstStyle/>
          <a:p>
            <a:r>
              <a:rPr lang="fr-FR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Text 16"/>
          <p:cNvSpPr/>
          <p:nvPr/>
        </p:nvSpPr>
        <p:spPr>
          <a:xfrm>
            <a:off x="754055" y="2514600"/>
            <a:ext cx="31028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2A6D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 du Projet</a:t>
            </a:r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2514600"/>
            <a:ext cx="39044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Prédire la variable cible binaire </a:t>
            </a:r>
            <a:r>
              <a:rPr lang="fr-FR" sz="1000" noProof="0" dirty="0" err="1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= Pas de maladie coronarienne dans 10 ans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= Risque de maladie coronarienne dans 10 ans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Approche de classification supervisée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du </a:t>
            </a:r>
            <a:r>
              <a:rPr lang="fr-FR" sz="1000" noProof="0" dirty="0" err="1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(détection des cas à risque)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63440" y="2072670"/>
            <a:ext cx="4160520" cy="2373654"/>
          </a:xfrm>
          <a:prstGeom prst="flowChartAlternateProcess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72584" y="2484607"/>
            <a:ext cx="54864" cy="1824229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13706" y="2523570"/>
            <a:ext cx="3323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E848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Enjeux Médicaux &amp; Prédictifs</a:t>
            </a:r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2514600"/>
            <a:ext cx="39044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précoce pour intervention médicale ciblée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Mieux vaut faux positif que faux négatif en santé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Données cliniques réelles (étude longitudinale)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Réduction des coûts de santé par prévention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fr-FR" sz="1000" noProof="0" dirty="0">
                <a:solidFill>
                  <a:srgbClr val="1A24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Aide à la décision clinique basée sur l'IA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68EE2-5699-316C-1DAB-7CF3AEEB6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0EE876-01D3-A9C8-8BF4-EA6AD760F9E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6A98F6-8605-A876-9790-A932B74679D7}"/>
              </a:ext>
            </a:extLst>
          </p:cNvPr>
          <p:cNvSpPr/>
          <p:nvPr/>
        </p:nvSpPr>
        <p:spPr>
          <a:xfrm>
            <a:off x="365760" y="731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PROBLÉMATIQUE ET OBJECTIFS</a:t>
            </a:r>
            <a:endParaRPr lang="fr-FR" sz="2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1C9770-AAC8-A92A-BD7B-634E49224ED3}"/>
              </a:ext>
            </a:extLst>
          </p:cNvPr>
          <p:cNvSpPr/>
          <p:nvPr/>
        </p:nvSpPr>
        <p:spPr>
          <a:xfrm>
            <a:off x="7680960" y="73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noProof="0" dirty="0">
                <a:solidFill>
                  <a:srgbClr val="7BAFD4"/>
                </a:solidFill>
              </a:rPr>
              <a:t>03 / 14</a:t>
            </a:r>
            <a:endParaRPr lang="fr-FR" sz="13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FC9C6F-0DF7-6137-01CE-79833D11B91A}"/>
              </a:ext>
            </a:extLst>
          </p:cNvPr>
          <p:cNvSpPr/>
          <p:nvPr/>
        </p:nvSpPr>
        <p:spPr>
          <a:xfrm>
            <a:off x="274320" y="749808"/>
            <a:ext cx="8595360" cy="1234440"/>
          </a:xfrm>
          <a:prstGeom prst="flowChartAlternateProcess">
            <a:avLst/>
          </a:prstGeom>
          <a:solidFill>
            <a:srgbClr val="D6EAF8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07792C-4D17-2910-732B-ABAE59332892}"/>
              </a:ext>
            </a:extLst>
          </p:cNvPr>
          <p:cNvSpPr/>
          <p:nvPr/>
        </p:nvSpPr>
        <p:spPr>
          <a:xfrm>
            <a:off x="365760" y="777240"/>
            <a:ext cx="8412480" cy="1143000"/>
          </a:xfrm>
          <a:prstGeom prst="flowChartAlternateProcess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7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partir des données cliniques d'un patient, est-il possible de prédire</a:t>
            </a:r>
            <a:endParaRPr lang="fr-FR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7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risque de développer une maladie coronarienne dans les 10 ans ?</a:t>
            </a:r>
            <a:endParaRPr lang="fr-FR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57E1C38-11A2-913A-998B-9BDCB86FED7D}"/>
              </a:ext>
            </a:extLst>
          </p:cNvPr>
          <p:cNvSpPr/>
          <p:nvPr/>
        </p:nvSpPr>
        <p:spPr>
          <a:xfrm>
            <a:off x="274320" y="2148840"/>
            <a:ext cx="2651760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3A404CD-3AB6-7EE8-EEA0-098E8CA2C12B}"/>
              </a:ext>
            </a:extLst>
          </p:cNvPr>
          <p:cNvSpPr/>
          <p:nvPr/>
        </p:nvSpPr>
        <p:spPr>
          <a:xfrm>
            <a:off x="274320" y="21488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Enjeux médicaux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BBF636-DADA-BBC4-55DC-F6DE4D9C0707}"/>
              </a:ext>
            </a:extLst>
          </p:cNvPr>
          <p:cNvSpPr/>
          <p:nvPr/>
        </p:nvSpPr>
        <p:spPr>
          <a:xfrm>
            <a:off x="274320" y="2532888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717040-CA17-57B2-41A4-6EDB49B31E2D}"/>
              </a:ext>
            </a:extLst>
          </p:cNvPr>
          <p:cNvSpPr/>
          <p:nvPr/>
        </p:nvSpPr>
        <p:spPr>
          <a:xfrm>
            <a:off x="365760" y="2578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 Dépistage précoce = vies sauvées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2733330-F5FC-58BD-5157-74CAEBDAB34F}"/>
              </a:ext>
            </a:extLst>
          </p:cNvPr>
          <p:cNvSpPr/>
          <p:nvPr/>
        </p:nvSpPr>
        <p:spPr>
          <a:xfrm>
            <a:off x="274320" y="3008376"/>
            <a:ext cx="2651760" cy="420624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886E6C3-019E-9AC0-0311-EE8136EEA2A1}"/>
              </a:ext>
            </a:extLst>
          </p:cNvPr>
          <p:cNvSpPr/>
          <p:nvPr/>
        </p:nvSpPr>
        <p:spPr>
          <a:xfrm>
            <a:off x="365760" y="30540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 Coûts de santé réduits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55C8FA5-094A-FE50-685C-6EF64029D34F}"/>
              </a:ext>
            </a:extLst>
          </p:cNvPr>
          <p:cNvSpPr/>
          <p:nvPr/>
        </p:nvSpPr>
        <p:spPr>
          <a:xfrm>
            <a:off x="274320" y="3483864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69565E5-4EC5-D479-DAF7-CBB840255712}"/>
              </a:ext>
            </a:extLst>
          </p:cNvPr>
          <p:cNvSpPr/>
          <p:nvPr/>
        </p:nvSpPr>
        <p:spPr>
          <a:xfrm>
            <a:off x="365760" y="35295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 Aide à la décision clinique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1024476-6251-609E-C512-4AFA577509E5}"/>
              </a:ext>
            </a:extLst>
          </p:cNvPr>
          <p:cNvSpPr/>
          <p:nvPr/>
        </p:nvSpPr>
        <p:spPr>
          <a:xfrm>
            <a:off x="3154680" y="2148840"/>
            <a:ext cx="2651760" cy="38404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34C12DD-298A-2D4A-629E-7F496119A63F}"/>
              </a:ext>
            </a:extLst>
          </p:cNvPr>
          <p:cNvSpPr/>
          <p:nvPr/>
        </p:nvSpPr>
        <p:spPr>
          <a:xfrm>
            <a:off x="3154680" y="21488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 principal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7BB777E-30C5-3876-36E8-D185568F22D4}"/>
              </a:ext>
            </a:extLst>
          </p:cNvPr>
          <p:cNvSpPr/>
          <p:nvPr/>
        </p:nvSpPr>
        <p:spPr>
          <a:xfrm>
            <a:off x="3154680" y="2532888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CE8997A-64C0-16C8-5FDF-92C79D716CB8}"/>
              </a:ext>
            </a:extLst>
          </p:cNvPr>
          <p:cNvSpPr/>
          <p:nvPr/>
        </p:nvSpPr>
        <p:spPr>
          <a:xfrm>
            <a:off x="3246120" y="2578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 Prédire </a:t>
            </a:r>
            <a:r>
              <a:rPr lang="fr-FR" sz="11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(0 / 1)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AC57688-52D5-A9AE-30C1-57647F72DC05}"/>
              </a:ext>
            </a:extLst>
          </p:cNvPr>
          <p:cNvSpPr/>
          <p:nvPr/>
        </p:nvSpPr>
        <p:spPr>
          <a:xfrm>
            <a:off x="3154680" y="3008376"/>
            <a:ext cx="2651760" cy="420624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9CA9B12-8EAD-9CB7-C9D1-175B18147FB6}"/>
              </a:ext>
            </a:extLst>
          </p:cNvPr>
          <p:cNvSpPr/>
          <p:nvPr/>
        </p:nvSpPr>
        <p:spPr>
          <a:xfrm>
            <a:off x="3246120" y="30540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 Maximiser le Rappel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DB33542-CFBC-3C66-5324-F03452B43A49}"/>
              </a:ext>
            </a:extLst>
          </p:cNvPr>
          <p:cNvSpPr/>
          <p:nvPr/>
        </p:nvSpPr>
        <p:spPr>
          <a:xfrm>
            <a:off x="3154680" y="3483864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D450158-2AB2-D145-B104-066B7AA4FB34}"/>
              </a:ext>
            </a:extLst>
          </p:cNvPr>
          <p:cNvSpPr/>
          <p:nvPr/>
        </p:nvSpPr>
        <p:spPr>
          <a:xfrm>
            <a:off x="3246120" y="35295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 Interpréter les facteurs de risque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461FFF0-0E87-7B16-B587-731F195943D7}"/>
              </a:ext>
            </a:extLst>
          </p:cNvPr>
          <p:cNvSpPr/>
          <p:nvPr/>
        </p:nvSpPr>
        <p:spPr>
          <a:xfrm>
            <a:off x="6035040" y="2148840"/>
            <a:ext cx="2651760" cy="384048"/>
          </a:xfrm>
          <a:prstGeom prst="rect">
            <a:avLst/>
          </a:prstGeom>
          <a:solidFill>
            <a:srgbClr val="1D6A3C"/>
          </a:solidFill>
          <a:ln w="12700">
            <a:solidFill>
              <a:srgbClr val="1D6A3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A3BB8D8-0A95-DE4C-EE21-18B01B17746F}"/>
              </a:ext>
            </a:extLst>
          </p:cNvPr>
          <p:cNvSpPr/>
          <p:nvPr/>
        </p:nvSpPr>
        <p:spPr>
          <a:xfrm>
            <a:off x="6035040" y="21488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Approche retenue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26E19FF-3A1A-BA27-754E-7857ACDDA1E9}"/>
              </a:ext>
            </a:extLst>
          </p:cNvPr>
          <p:cNvSpPr/>
          <p:nvPr/>
        </p:nvSpPr>
        <p:spPr>
          <a:xfrm>
            <a:off x="6035040" y="2587752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C0C74E2-680E-74EB-BA0C-880F095FCC73}"/>
              </a:ext>
            </a:extLst>
          </p:cNvPr>
          <p:cNvSpPr/>
          <p:nvPr/>
        </p:nvSpPr>
        <p:spPr>
          <a:xfrm>
            <a:off x="6126480" y="2578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 Classification supervisée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BD835B8-17CE-9DDE-1B0D-450EA0DCAF3F}"/>
              </a:ext>
            </a:extLst>
          </p:cNvPr>
          <p:cNvSpPr/>
          <p:nvPr/>
        </p:nvSpPr>
        <p:spPr>
          <a:xfrm>
            <a:off x="6035040" y="3022092"/>
            <a:ext cx="2651760" cy="420624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A138D43-8538-C522-437A-2BA3B29D17A9}"/>
              </a:ext>
            </a:extLst>
          </p:cNvPr>
          <p:cNvSpPr/>
          <p:nvPr/>
        </p:nvSpPr>
        <p:spPr>
          <a:xfrm>
            <a:off x="6126480" y="30540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</a:rPr>
              <a:t>·  </a:t>
            </a: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fr-FR" sz="1100" noProof="0" dirty="0">
                <a:solidFill>
                  <a:srgbClr val="1A1A2E"/>
                </a:solidFill>
              </a:rPr>
              <a:t> croisée 5 plis</a:t>
            </a:r>
            <a:endParaRPr lang="fr-FR" sz="1100" noProof="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455CE43-EAB2-698B-BCCD-9FBE0293BFF8}"/>
              </a:ext>
            </a:extLst>
          </p:cNvPr>
          <p:cNvSpPr/>
          <p:nvPr/>
        </p:nvSpPr>
        <p:spPr>
          <a:xfrm>
            <a:off x="6035040" y="3483864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18F2726-AECC-4386-1C14-EBF1A71BA2E4}"/>
              </a:ext>
            </a:extLst>
          </p:cNvPr>
          <p:cNvSpPr/>
          <p:nvPr/>
        </p:nvSpPr>
        <p:spPr>
          <a:xfrm>
            <a:off x="6126480" y="35295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 Optimisation du seuil de décision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F7D6D4C-F62F-CFAC-53CA-4459E37791B9}"/>
              </a:ext>
            </a:extLst>
          </p:cNvPr>
          <p:cNvSpPr/>
          <p:nvPr/>
        </p:nvSpPr>
        <p:spPr>
          <a:xfrm>
            <a:off x="274320" y="4206240"/>
            <a:ext cx="8595360" cy="420624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noProof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En contexte médical : mieux vaut alerter un patient sain que manquer un patient malade.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CE19F12-6815-47DE-00F9-9E241BA56647}"/>
              </a:ext>
            </a:extLst>
          </p:cNvPr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14A34CE-C136-4A6D-8654-D6ADEFB01133}"/>
              </a:ext>
            </a:extLst>
          </p:cNvPr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595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1.1 - APERÇU DES DONNÉES</a:t>
            </a:r>
            <a:endParaRPr lang="fr-FR" sz="2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noProof="0" dirty="0">
                <a:solidFill>
                  <a:srgbClr val="7BAFD4"/>
                </a:solidFill>
              </a:rPr>
              <a:t>04 / 14</a:t>
            </a:r>
            <a:endParaRPr lang="fr-F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767663"/>
            <a:ext cx="1965960" cy="960120"/>
          </a:xfrm>
          <a:prstGeom prst="cloud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28600" y="7955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4 240</a:t>
            </a:r>
            <a:endParaRPr lang="fr-FR" sz="2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600" y="1298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CCE0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04872" y="749808"/>
            <a:ext cx="1965960" cy="960120"/>
          </a:xfrm>
          <a:prstGeom prst="cloud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2404872" y="7955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FFFFFF"/>
                </a:solidFill>
              </a:rPr>
              <a:t>16</a:t>
            </a:r>
            <a:endParaRPr lang="fr-FR" sz="2600" noProof="0" dirty="0"/>
          </a:p>
        </p:txBody>
      </p:sp>
      <p:sp>
        <p:nvSpPr>
          <p:cNvPr id="10" name="Text 8"/>
          <p:cNvSpPr/>
          <p:nvPr/>
        </p:nvSpPr>
        <p:spPr>
          <a:xfrm>
            <a:off x="2404872" y="1298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CCE0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initiales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81144" y="749808"/>
            <a:ext cx="1965960" cy="960120"/>
          </a:xfrm>
          <a:prstGeom prst="cloud">
            <a:avLst/>
          </a:prstGeom>
          <a:solidFill>
            <a:srgbClr val="1D6A3C"/>
          </a:solidFill>
          <a:ln w="12700">
            <a:solidFill>
              <a:srgbClr val="1D6A3C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581144" y="7955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fr-FR" sz="2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81144" y="1298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CCE0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retenues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57416" y="749808"/>
            <a:ext cx="1965960" cy="960120"/>
          </a:xfrm>
          <a:prstGeom prst="cloud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6757416" y="7955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15,2%</a:t>
            </a:r>
            <a:endParaRPr lang="fr-FR" sz="2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57416" y="1298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CCE0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Taux de CHD positifs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1874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cible : </a:t>
            </a:r>
            <a:r>
              <a:rPr lang="fr-FR" sz="1300" b="1" noProof="0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endParaRPr lang="fr-FR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1374841863"/>
              </p:ext>
            </p:extLst>
          </p:nvPr>
        </p:nvGraphicFramePr>
        <p:xfrm>
          <a:off x="274320" y="2240280"/>
          <a:ext cx="4114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4572000" y="1874520"/>
            <a:ext cx="4297680" cy="2743200"/>
          </a:xfrm>
          <a:prstGeom prst="flowChartAlternateProcess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7"/>
          <p:cNvSpPr/>
          <p:nvPr/>
        </p:nvSpPr>
        <p:spPr>
          <a:xfrm>
            <a:off x="4663440" y="193852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Déséquilibre des classes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663440" y="234315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19"/>
          <p:cNvSpPr/>
          <p:nvPr/>
        </p:nvSpPr>
        <p:spPr>
          <a:xfrm>
            <a:off x="470916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  : 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85216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: 1  (Non-CHD vs CHD)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663440" y="2862072"/>
            <a:ext cx="4114800" cy="457200"/>
          </a:xfrm>
          <a:prstGeom prst="rect">
            <a:avLst/>
          </a:prstGeom>
          <a:solidFill>
            <a:srgbClr val="D6EAF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2"/>
          <p:cNvSpPr/>
          <p:nvPr/>
        </p:nvSpPr>
        <p:spPr>
          <a:xfrm>
            <a:off x="4709160" y="29077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2471A3"/>
                </a:solidFill>
              </a:rPr>
              <a:t>Conséquence  : </a:t>
            </a:r>
            <a:endParaRPr lang="fr-FR" sz="1100" noProof="0" dirty="0"/>
          </a:p>
        </p:txBody>
      </p:sp>
      <p:sp>
        <p:nvSpPr>
          <p:cNvPr id="26" name="Text 23"/>
          <p:cNvSpPr/>
          <p:nvPr/>
        </p:nvSpPr>
        <p:spPr>
          <a:xfrm>
            <a:off x="5852160" y="29077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</a:t>
            </a:r>
            <a:r>
              <a:rPr lang="fr-FR" sz="11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seule est trompeuse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1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84,8 %)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663440" y="3392424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5"/>
          <p:cNvSpPr/>
          <p:nvPr/>
        </p:nvSpPr>
        <p:spPr>
          <a:xfrm>
            <a:off x="4709160" y="34381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Correction  : 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852160" y="34381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='équilibré'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663440" y="3922776"/>
            <a:ext cx="4114800" cy="457200"/>
          </a:xfrm>
          <a:prstGeom prst="rect">
            <a:avLst/>
          </a:prstGeom>
          <a:solidFill>
            <a:srgbClr val="D6EAF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8"/>
          <p:cNvSpPr/>
          <p:nvPr/>
        </p:nvSpPr>
        <p:spPr>
          <a:xfrm>
            <a:off x="4709160" y="39684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Métriques clés  : 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852160" y="39684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AUC-ROC  et  Rappel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1"/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1.2 - APERÇU DES DONNÉES — VARIABLES RETENUES</a:t>
            </a:r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dirty="0">
                <a:solidFill>
                  <a:srgbClr val="7BAFD4"/>
                </a:solidFill>
              </a:rPr>
              <a:t>05</a:t>
            </a:r>
            <a:r>
              <a:rPr lang="fr-FR" sz="1300" noProof="0" dirty="0">
                <a:solidFill>
                  <a:srgbClr val="7BAFD4"/>
                </a:solidFill>
              </a:rPr>
              <a:t> / 14</a:t>
            </a:r>
            <a:endParaRPr lang="fr-FR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variables sélectionnées après tri par corrélation absolue avec </a:t>
            </a:r>
            <a:r>
              <a:rPr lang="fr-FR" sz="11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33832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20040" y="1133856"/>
            <a:ext cx="2358944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46120" y="1133856"/>
            <a:ext cx="136611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Catégorie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09160" y="113385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2880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3200400" y="148132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4663440" y="1481328"/>
            <a:ext cx="41696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320040" y="150876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age_sysBP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36976" y="1517904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</a:p>
        </p:txBody>
      </p:sp>
      <p:sp>
        <p:nvSpPr>
          <p:cNvPr id="18" name="Text 16"/>
          <p:cNvSpPr/>
          <p:nvPr/>
        </p:nvSpPr>
        <p:spPr>
          <a:xfrm>
            <a:off x="4709160" y="150876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âge × pression systolique (variable construite)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1773936"/>
            <a:ext cx="2880360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3200400" y="1773936"/>
            <a:ext cx="1417320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4663440" y="1773936"/>
            <a:ext cx="4169664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320040" y="180136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risk_score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36976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09160" y="180136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composite de 7 facteurs cliniques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066544"/>
            <a:ext cx="2880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3200400" y="2066544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6"/>
          <p:cNvSpPr/>
          <p:nvPr/>
        </p:nvSpPr>
        <p:spPr>
          <a:xfrm>
            <a:off x="4663440" y="2066544"/>
            <a:ext cx="41696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320040" y="209397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36976" y="210312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Démographie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09160" y="209397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Âge du patient (en années)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2359152"/>
            <a:ext cx="2880360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32"/>
          <p:cNvSpPr/>
          <p:nvPr/>
        </p:nvSpPr>
        <p:spPr>
          <a:xfrm>
            <a:off x="3218688" y="2359152"/>
            <a:ext cx="1417320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33"/>
          <p:cNvSpPr/>
          <p:nvPr/>
        </p:nvSpPr>
        <p:spPr>
          <a:xfrm>
            <a:off x="4663440" y="2359152"/>
            <a:ext cx="4169664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320040" y="238658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sysBP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236976" y="239572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Cardiovasc</a:t>
            </a:r>
            <a:r>
              <a:rPr lang="fr-FR" sz="9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09160" y="23865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Pression artérielle systolique (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mmHg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4320" y="2651760"/>
            <a:ext cx="2880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Shape 39"/>
          <p:cNvSpPr/>
          <p:nvPr/>
        </p:nvSpPr>
        <p:spPr>
          <a:xfrm>
            <a:off x="3200400" y="2651760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Shape 40"/>
          <p:cNvSpPr/>
          <p:nvPr/>
        </p:nvSpPr>
        <p:spPr>
          <a:xfrm>
            <a:off x="4663440" y="2651760"/>
            <a:ext cx="41696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41"/>
          <p:cNvSpPr/>
          <p:nvPr/>
        </p:nvSpPr>
        <p:spPr>
          <a:xfrm>
            <a:off x="320040" y="267919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pulse_pressure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236976" y="2688336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Cardiovasc</a:t>
            </a:r>
            <a:r>
              <a:rPr lang="fr-FR" sz="9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709160" y="267919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Pression différentielle : 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sysBP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diaBP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74320" y="2944368"/>
            <a:ext cx="2880360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Shape 46"/>
          <p:cNvSpPr/>
          <p:nvPr/>
        </p:nvSpPr>
        <p:spPr>
          <a:xfrm>
            <a:off x="3200400" y="2944368"/>
            <a:ext cx="1417320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9" name="Shape 47"/>
          <p:cNvSpPr/>
          <p:nvPr/>
        </p:nvSpPr>
        <p:spPr>
          <a:xfrm>
            <a:off x="4663440" y="2944368"/>
            <a:ext cx="4169664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8"/>
          <p:cNvSpPr/>
          <p:nvPr/>
        </p:nvSpPr>
        <p:spPr>
          <a:xfrm>
            <a:off x="320040" y="29718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prevalentHyp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236976" y="2980944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Pathologie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709160" y="297180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Hypertension préexistante (0 / 1)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74320" y="3236976"/>
            <a:ext cx="2880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Shape 53"/>
          <p:cNvSpPr/>
          <p:nvPr/>
        </p:nvSpPr>
        <p:spPr>
          <a:xfrm>
            <a:off x="3200400" y="3236976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6" name="Shape 54"/>
          <p:cNvSpPr/>
          <p:nvPr/>
        </p:nvSpPr>
        <p:spPr>
          <a:xfrm>
            <a:off x="4663440" y="3236976"/>
            <a:ext cx="41696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7" name="Text 55"/>
          <p:cNvSpPr/>
          <p:nvPr/>
        </p:nvSpPr>
        <p:spPr>
          <a:xfrm>
            <a:off x="320040" y="32644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diaBP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3236976" y="327355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Cardiovasc</a:t>
            </a:r>
            <a:r>
              <a:rPr lang="fr-FR" sz="9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709160" y="326440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Pression artérielle diastolique (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mmHg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274320" y="3529584"/>
            <a:ext cx="2880360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2" name="Shape 60"/>
          <p:cNvSpPr/>
          <p:nvPr/>
        </p:nvSpPr>
        <p:spPr>
          <a:xfrm>
            <a:off x="3200400" y="3529584"/>
            <a:ext cx="1417320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Shape 61"/>
          <p:cNvSpPr/>
          <p:nvPr/>
        </p:nvSpPr>
        <p:spPr>
          <a:xfrm>
            <a:off x="4663440" y="3529584"/>
            <a:ext cx="4169664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4" name="Text 62"/>
          <p:cNvSpPr/>
          <p:nvPr/>
        </p:nvSpPr>
        <p:spPr>
          <a:xfrm>
            <a:off x="320040" y="3557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Tension_Hypertension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3236976" y="356616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Tension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709160" y="355701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Catégorie tensionnelle : hypertendue (encodage indicateur)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74320" y="3822192"/>
            <a:ext cx="2880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9" name="Shape 67"/>
          <p:cNvSpPr/>
          <p:nvPr/>
        </p:nvSpPr>
        <p:spPr>
          <a:xfrm>
            <a:off x="3218688" y="3822192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0" name="Shape 68"/>
          <p:cNvSpPr/>
          <p:nvPr/>
        </p:nvSpPr>
        <p:spPr>
          <a:xfrm>
            <a:off x="4663440" y="3822192"/>
            <a:ext cx="41696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1" name="Text 69"/>
          <p:cNvSpPr/>
          <p:nvPr/>
        </p:nvSpPr>
        <p:spPr>
          <a:xfrm>
            <a:off x="320040" y="38496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Tension_Normale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3236976" y="385876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Tension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4709160" y="384962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Catégorie tensionnelle : normale (encodage indicateur)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74320" y="4114800"/>
            <a:ext cx="2880360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6" name="Shape 74"/>
          <p:cNvSpPr/>
          <p:nvPr/>
        </p:nvSpPr>
        <p:spPr>
          <a:xfrm>
            <a:off x="3200400" y="4098549"/>
            <a:ext cx="1417320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7" name="Shape 75"/>
          <p:cNvSpPr/>
          <p:nvPr/>
        </p:nvSpPr>
        <p:spPr>
          <a:xfrm>
            <a:off x="4663440" y="4114800"/>
            <a:ext cx="4169664" cy="274320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8" name="Text 76"/>
          <p:cNvSpPr/>
          <p:nvPr/>
        </p:nvSpPr>
        <p:spPr>
          <a:xfrm>
            <a:off x="320040" y="41422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3236976" y="4151376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Pathologie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4709160" y="41422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Présence de diabète (0 / 1)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274320" y="4407408"/>
            <a:ext cx="2880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3" name="Shape 81"/>
          <p:cNvSpPr/>
          <p:nvPr/>
        </p:nvSpPr>
        <p:spPr>
          <a:xfrm>
            <a:off x="3200400" y="440740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4" name="Shape 82"/>
          <p:cNvSpPr/>
          <p:nvPr/>
        </p:nvSpPr>
        <p:spPr>
          <a:xfrm>
            <a:off x="4663440" y="4407408"/>
            <a:ext cx="41696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5" name="Text 83"/>
          <p:cNvSpPr/>
          <p:nvPr/>
        </p:nvSpPr>
        <p:spPr>
          <a:xfrm>
            <a:off x="320040" y="44348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3236976" y="4443984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Démographie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709160" y="443484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Sexe masculin (0 / 1)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0" name="Text 88"/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2.1 - NETTOYAGE ET PRÉPARATION DES DONNÉES</a:t>
            </a:r>
            <a:endParaRPr lang="fr-FR" sz="2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dirty="0">
                <a:solidFill>
                  <a:srgbClr val="7BAFD4"/>
                </a:solidFill>
              </a:rPr>
              <a:t>06</a:t>
            </a:r>
            <a:r>
              <a:rPr lang="fr-FR" sz="1300" noProof="0" dirty="0">
                <a:solidFill>
                  <a:srgbClr val="7BAFD4"/>
                </a:solidFill>
              </a:rPr>
              <a:t> / 14</a:t>
            </a:r>
            <a:endParaRPr lang="fr-F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237744" y="860056"/>
            <a:ext cx="1920240" cy="3730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768096"/>
            <a:ext cx="1920240" cy="438912"/>
          </a:xfrm>
          <a:prstGeom prst="flowChartAlternateProcess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228600" y="76809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fr-FR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01752" y="1243584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Valeurs manquantes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1752" y="1828800"/>
            <a:ext cx="177393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glucose : 9,15 % → médiane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0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cigsPerDay</a:t>
            </a: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0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BPMeds</a:t>
            </a: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mode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BMI, </a:t>
            </a:r>
            <a:r>
              <a:rPr lang="fr-FR" sz="10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totChol</a:t>
            </a: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0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heartRate</a:t>
            </a: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médiane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 : 0 valeur manquante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04872" y="768096"/>
            <a:ext cx="19202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2404872" y="768096"/>
            <a:ext cx="1920240" cy="438912"/>
          </a:xfrm>
          <a:prstGeom prst="roundRect">
            <a:avLst/>
          </a:prstGeom>
          <a:solidFill>
            <a:srgbClr val="1D6A3C"/>
          </a:solidFill>
          <a:ln w="12700">
            <a:solidFill>
              <a:srgbClr val="1D6A3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2404872" y="76809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fr-FR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78024" y="1243584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Valeurs aberrantes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100" b="1" noProof="0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Winsorisation</a:t>
            </a: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IQR)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78024" y="1828800"/>
            <a:ext cx="177393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variables traitées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clip(Q1−1,5×IQR, Q3+1,5×IQR)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cigsPerDay</a:t>
            </a: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exclu (asymétrie gauche)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Boxplots</a:t>
            </a: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avant/après disponibles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81144" y="768096"/>
            <a:ext cx="19202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4581144" y="768096"/>
            <a:ext cx="1920240" cy="438912"/>
          </a:xfrm>
          <a:prstGeom prst="round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4581144" y="76809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fr-FR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54296" y="1243584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de variables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54296" y="1828800"/>
            <a:ext cx="177393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 err="1">
                <a:solidFill>
                  <a:srgbClr val="555555"/>
                </a:solidFill>
              </a:rPr>
              <a:t>risk_score</a:t>
            </a:r>
            <a:r>
              <a:rPr lang="fr-FR" sz="1000" noProof="0" dirty="0">
                <a:solidFill>
                  <a:srgbClr val="555555"/>
                </a:solidFill>
              </a:rPr>
              <a:t> (7 facteurs)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 err="1">
                <a:solidFill>
                  <a:srgbClr val="555555"/>
                </a:solidFill>
              </a:rPr>
              <a:t>pulse_pressure</a:t>
            </a:r>
            <a:r>
              <a:rPr lang="fr-FR" sz="1000" noProof="0" dirty="0">
                <a:solidFill>
                  <a:srgbClr val="555555"/>
                </a:solidFill>
              </a:rPr>
              <a:t> = </a:t>
            </a:r>
            <a:r>
              <a:rPr lang="fr-FR" sz="1000" noProof="0" dirty="0" err="1">
                <a:solidFill>
                  <a:srgbClr val="555555"/>
                </a:solidFill>
              </a:rPr>
              <a:t>sysBP</a:t>
            </a:r>
            <a:r>
              <a:rPr lang="fr-FR" sz="1000" noProof="0" dirty="0">
                <a:solidFill>
                  <a:srgbClr val="555555"/>
                </a:solidFill>
              </a:rPr>
              <a:t> − </a:t>
            </a:r>
            <a:r>
              <a:rPr lang="fr-FR" sz="1000" noProof="0" dirty="0" err="1">
                <a:solidFill>
                  <a:srgbClr val="555555"/>
                </a:solidFill>
              </a:rPr>
              <a:t>diaBP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 err="1">
                <a:solidFill>
                  <a:srgbClr val="555555"/>
                </a:solidFill>
              </a:rPr>
              <a:t>age_sysBP</a:t>
            </a:r>
            <a:r>
              <a:rPr lang="fr-FR" sz="1000" noProof="0" dirty="0">
                <a:solidFill>
                  <a:srgbClr val="555555"/>
                </a:solidFill>
              </a:rPr>
              <a:t> = âge × </a:t>
            </a:r>
            <a:r>
              <a:rPr lang="fr-FR" sz="1000" noProof="0" dirty="0" err="1">
                <a:solidFill>
                  <a:srgbClr val="555555"/>
                </a:solidFill>
              </a:rPr>
              <a:t>sysBP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</a:rPr>
              <a:t>Encodage indicateur : IMC, Tension, FC</a:t>
            </a:r>
            <a:endParaRPr lang="fr-FR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6720840" y="749808"/>
            <a:ext cx="19202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6739128" y="768096"/>
            <a:ext cx="1920240" cy="438912"/>
          </a:xfrm>
          <a:prstGeom prst="round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6757416" y="76809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fr-FR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30568" y="1243584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 &amp; Pipeline</a:t>
            </a:r>
          </a:p>
          <a:p>
            <a:pPr marL="0" indent="0" algn="ctr">
              <a:buNone/>
            </a:pPr>
            <a:r>
              <a:rPr lang="fr-FR" sz="1100" b="1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100" b="1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Modelisation</a:t>
            </a:r>
            <a:r>
              <a:rPr lang="fr-FR" sz="1100" b="1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30568" y="1828800"/>
            <a:ext cx="177393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</a:rPr>
              <a:t>Apprentissage 70 % / Test 30 % (stratifié)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</a:rPr>
              <a:t>Croisement stratifié (5 plis)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</a:rPr>
              <a:t>Normalisation intégrée au pipeline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 err="1">
                <a:solidFill>
                  <a:srgbClr val="555555"/>
                </a:solidFill>
              </a:rPr>
              <a:t>class_weight</a:t>
            </a:r>
            <a:r>
              <a:rPr lang="fr-FR" sz="1000" noProof="0" dirty="0">
                <a:solidFill>
                  <a:srgbClr val="555555"/>
                </a:solidFill>
              </a:rPr>
              <a:t>='équilibré' anti-déséquilibre</a:t>
            </a:r>
            <a:endParaRPr lang="fr-FR" sz="1000" noProof="0" dirty="0"/>
          </a:p>
        </p:txBody>
      </p:sp>
      <p:sp>
        <p:nvSpPr>
          <p:cNvPr id="25" name="Shape 2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</a:rPr>
              <a:t>Framingham </a:t>
            </a:r>
            <a:r>
              <a:rPr lang="fr-FR" sz="900" noProof="0" dirty="0" err="1">
                <a:solidFill>
                  <a:srgbClr val="6BA4C8"/>
                </a:solidFill>
              </a:rPr>
              <a:t>Heart</a:t>
            </a:r>
            <a:r>
              <a:rPr lang="fr-FR" sz="900" noProof="0" dirty="0">
                <a:solidFill>
                  <a:srgbClr val="6BA4C8"/>
                </a:solidFill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</a:rPr>
              <a:t>Study</a:t>
            </a:r>
            <a:r>
              <a:rPr lang="fr-FR" sz="900" noProof="0" dirty="0">
                <a:solidFill>
                  <a:srgbClr val="6BA4C8"/>
                </a:solidFill>
              </a:rPr>
              <a:t>  |  </a:t>
            </a:r>
            <a:r>
              <a:rPr lang="fr-FR" sz="900" noProof="0" dirty="0" err="1">
                <a:solidFill>
                  <a:srgbClr val="6BA4C8"/>
                </a:solidFill>
              </a:rPr>
              <a:t>TenYearCHD</a:t>
            </a:r>
            <a:r>
              <a:rPr lang="fr-FR" sz="900" noProof="0" dirty="0">
                <a:solidFill>
                  <a:srgbClr val="6BA4C8"/>
                </a:solidFill>
              </a:rPr>
              <a:t>  |  2026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</a:t>
            </a:r>
            <a:r>
              <a:rPr lang="fr-FR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RÉSULTATS EXPLORATOIRES — CORRÉLATIONS</a:t>
            </a:r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noProof="0" dirty="0">
                <a:solidFill>
                  <a:srgbClr val="7BAFD4"/>
                </a:solidFill>
              </a:rPr>
              <a:t>07 / 14</a:t>
            </a:r>
            <a:endParaRPr lang="fr-FR" sz="1300" noProof="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29241199"/>
              </p:ext>
            </p:extLst>
          </p:nvPr>
        </p:nvGraphicFramePr>
        <p:xfrm>
          <a:off x="274320" y="768096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768096"/>
            <a:ext cx="3200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5669280" y="768096"/>
            <a:ext cx="73152" cy="62179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5"/>
          <p:cNvSpPr/>
          <p:nvPr/>
        </p:nvSpPr>
        <p:spPr>
          <a:xfrm>
            <a:off x="5779008" y="7955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age_sysBP</a:t>
            </a: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0,26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79008" y="10881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âge × tension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1er prédicteur composite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669280" y="1463040"/>
            <a:ext cx="3200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8"/>
          <p:cNvSpPr/>
          <p:nvPr/>
        </p:nvSpPr>
        <p:spPr>
          <a:xfrm>
            <a:off x="5669280" y="1463040"/>
            <a:ext cx="73152" cy="62179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5779008" y="14904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risk_score</a:t>
            </a: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0,24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79008" y="1783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de 7 facteurs cliniques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agrégés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669280" y="2157984"/>
            <a:ext cx="3200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2"/>
          <p:cNvSpPr/>
          <p:nvPr/>
        </p:nvSpPr>
        <p:spPr>
          <a:xfrm>
            <a:off x="5669280" y="2157984"/>
            <a:ext cx="73152" cy="62179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3"/>
          <p:cNvSpPr/>
          <p:nvPr/>
        </p:nvSpPr>
        <p:spPr>
          <a:xfrm>
            <a:off x="5779008" y="21854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0,23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79008" y="2478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Risque croissant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après 55 ans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669280" y="2852928"/>
            <a:ext cx="3200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6"/>
          <p:cNvSpPr/>
          <p:nvPr/>
        </p:nvSpPr>
        <p:spPr>
          <a:xfrm>
            <a:off x="5669280" y="2852928"/>
            <a:ext cx="73152" cy="62179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7"/>
          <p:cNvSpPr/>
          <p:nvPr/>
        </p:nvSpPr>
        <p:spPr>
          <a:xfrm>
            <a:off x="5779008" y="28803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Hypertension = ×3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779008" y="3172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Taux CHD 3× plus élevé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chez les hypertendus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669280" y="3547872"/>
            <a:ext cx="3200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0"/>
          <p:cNvSpPr/>
          <p:nvPr/>
        </p:nvSpPr>
        <p:spPr>
          <a:xfrm>
            <a:off x="5669280" y="3547872"/>
            <a:ext cx="73152" cy="62179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1"/>
          <p:cNvSpPr/>
          <p:nvPr/>
        </p:nvSpPr>
        <p:spPr>
          <a:xfrm>
            <a:off x="5779008" y="35753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Diabète = 37 %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779008" y="3867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37 % CHD chez diabétiques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15 % en population générale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4"/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3.1 - RÉSULTATS EXPLORATOIRES — FACTEURS DE RISQUE</a:t>
            </a:r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noProof="0" dirty="0">
                <a:solidFill>
                  <a:srgbClr val="7BAFD4"/>
                </a:solidFill>
              </a:rPr>
              <a:t>08 / 14</a:t>
            </a:r>
            <a:endParaRPr lang="fr-FR" sz="1300" noProof="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470435791"/>
              </p:ext>
            </p:extLst>
          </p:nvPr>
        </p:nvGraphicFramePr>
        <p:xfrm>
          <a:off x="274320" y="768096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768096"/>
            <a:ext cx="3200400" cy="621792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5715000" y="8046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247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18,8 %</a:t>
            </a:r>
            <a:endParaRPr lang="fr-FR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0" y="113385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CHD chez les hommes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69280" y="1463040"/>
            <a:ext cx="3200400" cy="621792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5715000" y="149961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36,7 %</a:t>
            </a:r>
            <a:endParaRPr lang="fr-FR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0" y="182880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CHD chez les diabétiques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669280" y="2157984"/>
            <a:ext cx="3200400" cy="621792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0"/>
          <p:cNvSpPr/>
          <p:nvPr/>
        </p:nvSpPr>
        <p:spPr>
          <a:xfrm>
            <a:off x="571500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24,7 %</a:t>
            </a:r>
            <a:endParaRPr lang="fr-FR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5000" y="252374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CHD avec hypertension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669280" y="2852928"/>
            <a:ext cx="3200400" cy="621792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3"/>
          <p:cNvSpPr/>
          <p:nvPr/>
        </p:nvSpPr>
        <p:spPr>
          <a:xfrm>
            <a:off x="5715000" y="28895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29,5 %</a:t>
            </a:r>
            <a:endParaRPr lang="fr-FR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5000" y="321868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CHD si âge &gt; 55 ans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669280" y="3547872"/>
            <a:ext cx="3200400" cy="621792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6"/>
          <p:cNvSpPr/>
          <p:nvPr/>
        </p:nvSpPr>
        <p:spPr>
          <a:xfrm>
            <a:off x="5715000" y="35844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: 1</a:t>
            </a:r>
            <a:endParaRPr lang="fr-FR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715000" y="39136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 déséquilibre des classes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19"/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MODÉLISATION ET PERFORMANCE</a:t>
            </a:r>
            <a:endParaRPr lang="fr-FR" sz="2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noProof="0" dirty="0">
                <a:solidFill>
                  <a:srgbClr val="7BAFD4"/>
                </a:solidFill>
              </a:rPr>
              <a:t>09 / 14</a:t>
            </a:r>
            <a:endParaRPr lang="fr-FR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Métrique principale : AUC-ROC   |   Contexte médical → priorité au Rappel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0194" y="1126183"/>
            <a:ext cx="3657600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10896" y="1143701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65226" y="1126183"/>
            <a:ext cx="1097280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977640" y="11338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89938" y="1124712"/>
            <a:ext cx="1097280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5074920" y="11338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Rappel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14650" y="1120648"/>
            <a:ext cx="1097280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6172200" y="11338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39362" y="1120648"/>
            <a:ext cx="1920240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7269480" y="11338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194" y="1481328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329184" y="1536192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Référence (Aléatoire)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65226" y="1481328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3986784" y="1536192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≈ 0,50</a:t>
            </a:r>
            <a:endParaRPr lang="fr-FR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4889938" y="1490472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5084064" y="1536192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0 %</a:t>
            </a:r>
            <a:endParaRPr lang="fr-FR" sz="1000" noProof="0" dirty="0"/>
          </a:p>
        </p:txBody>
      </p:sp>
      <p:sp>
        <p:nvSpPr>
          <p:cNvPr id="22" name="Shape 20"/>
          <p:cNvSpPr/>
          <p:nvPr/>
        </p:nvSpPr>
        <p:spPr>
          <a:xfrm>
            <a:off x="6014650" y="1481328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6181344" y="1536192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0 %</a:t>
            </a:r>
            <a:endParaRPr lang="fr-FR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7139362" y="1481328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3"/>
          <p:cNvSpPr/>
          <p:nvPr/>
        </p:nvSpPr>
        <p:spPr>
          <a:xfrm>
            <a:off x="7278624" y="153619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most_frequent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194" y="1965960"/>
            <a:ext cx="3657600" cy="420624"/>
          </a:xfrm>
          <a:prstGeom prst="rect">
            <a:avLst/>
          </a:prstGeom>
          <a:solidFill>
            <a:srgbClr val="D6EAF8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29184" y="2011680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★  Régression Logistique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65226" y="1965960"/>
            <a:ext cx="1097280" cy="420624"/>
          </a:xfrm>
          <a:prstGeom prst="rect">
            <a:avLst/>
          </a:prstGeom>
          <a:solidFill>
            <a:srgbClr val="D6EAF8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3986784" y="2011680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A2F4E"/>
                </a:solidFill>
              </a:rPr>
              <a:t>0,703</a:t>
            </a:r>
            <a:endParaRPr lang="fr-FR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4901079" y="1963157"/>
            <a:ext cx="1084037" cy="420624"/>
          </a:xfrm>
          <a:prstGeom prst="rect">
            <a:avLst/>
          </a:prstGeom>
          <a:solidFill>
            <a:srgbClr val="D6EAF8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5084064" y="2011680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A2F4E"/>
                </a:solidFill>
              </a:rPr>
              <a:t>63,2 %</a:t>
            </a:r>
            <a:endParaRPr lang="fr-FR" sz="1000" noProof="0" dirty="0"/>
          </a:p>
        </p:txBody>
      </p:sp>
      <p:sp>
        <p:nvSpPr>
          <p:cNvPr id="32" name="Shape 30"/>
          <p:cNvSpPr/>
          <p:nvPr/>
        </p:nvSpPr>
        <p:spPr>
          <a:xfrm>
            <a:off x="6023006" y="1956816"/>
            <a:ext cx="1069848" cy="420624"/>
          </a:xfrm>
          <a:prstGeom prst="rect">
            <a:avLst/>
          </a:prstGeom>
          <a:solidFill>
            <a:srgbClr val="D6EAF8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6181344" y="2011680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A2F4E"/>
                </a:solidFill>
              </a:rPr>
              <a:t>36,5 %</a:t>
            </a:r>
            <a:endParaRPr lang="fr-FR" sz="1000" noProof="0" dirty="0"/>
          </a:p>
        </p:txBody>
      </p:sp>
      <p:sp>
        <p:nvSpPr>
          <p:cNvPr id="34" name="Shape 32"/>
          <p:cNvSpPr/>
          <p:nvPr/>
        </p:nvSpPr>
        <p:spPr>
          <a:xfrm>
            <a:off x="7139362" y="1956816"/>
            <a:ext cx="1920240" cy="420624"/>
          </a:xfrm>
          <a:prstGeom prst="rect">
            <a:avLst/>
          </a:prstGeom>
          <a:solidFill>
            <a:srgbClr val="D6EAF8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7278624" y="2011680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r>
              <a:rPr lang="fr-FR" sz="10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=équilibré | C=0,01 (</a:t>
            </a:r>
            <a:r>
              <a:rPr lang="fr-FR" sz="1000" b="1" noProof="0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RechercheGrille</a:t>
            </a:r>
            <a:r>
              <a:rPr lang="fr-FR" sz="10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0194" y="2432304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329184" y="2487168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Forêt 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Aléatoire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765226" y="2432304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3986784" y="2487168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0,678</a:t>
            </a:r>
            <a:endParaRPr lang="fr-FR" sz="1000" noProof="0" dirty="0"/>
          </a:p>
        </p:txBody>
      </p:sp>
      <p:sp>
        <p:nvSpPr>
          <p:cNvPr id="40" name="Shape 38"/>
          <p:cNvSpPr/>
          <p:nvPr/>
        </p:nvSpPr>
        <p:spPr>
          <a:xfrm>
            <a:off x="4889938" y="2448175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9"/>
          <p:cNvSpPr/>
          <p:nvPr/>
        </p:nvSpPr>
        <p:spPr>
          <a:xfrm>
            <a:off x="5084064" y="2487168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46,6 %</a:t>
            </a:r>
            <a:endParaRPr lang="fr-FR" sz="1000" noProof="0" dirty="0"/>
          </a:p>
        </p:txBody>
      </p:sp>
      <p:sp>
        <p:nvSpPr>
          <p:cNvPr id="42" name="Shape 40"/>
          <p:cNvSpPr/>
          <p:nvPr/>
        </p:nvSpPr>
        <p:spPr>
          <a:xfrm>
            <a:off x="6009290" y="2441448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41"/>
          <p:cNvSpPr/>
          <p:nvPr/>
        </p:nvSpPr>
        <p:spPr>
          <a:xfrm>
            <a:off x="6181344" y="2487168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34,4 %</a:t>
            </a:r>
            <a:endParaRPr lang="fr-FR" sz="1000" noProof="0" dirty="0"/>
          </a:p>
        </p:txBody>
      </p:sp>
      <p:sp>
        <p:nvSpPr>
          <p:cNvPr id="44" name="Shape 42"/>
          <p:cNvSpPr/>
          <p:nvPr/>
        </p:nvSpPr>
        <p:spPr>
          <a:xfrm>
            <a:off x="7139362" y="2432304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43"/>
          <p:cNvSpPr/>
          <p:nvPr/>
        </p:nvSpPr>
        <p:spPr>
          <a:xfrm>
            <a:off x="7278624" y="2487168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 arbres | profondeur=8 | 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=équilibré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1440" y="2907792"/>
            <a:ext cx="3657600" cy="420624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45"/>
          <p:cNvSpPr/>
          <p:nvPr/>
        </p:nvSpPr>
        <p:spPr>
          <a:xfrm>
            <a:off x="329184" y="2962656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Boosté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765226" y="2889504"/>
            <a:ext cx="1097280" cy="420624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9" name="Text 47"/>
          <p:cNvSpPr/>
          <p:nvPr/>
        </p:nvSpPr>
        <p:spPr>
          <a:xfrm>
            <a:off x="3986784" y="2962656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0,679</a:t>
            </a:r>
            <a:endParaRPr lang="fr-FR" sz="1000" noProof="0" dirty="0"/>
          </a:p>
        </p:txBody>
      </p:sp>
      <p:sp>
        <p:nvSpPr>
          <p:cNvPr id="50" name="Shape 48"/>
          <p:cNvSpPr/>
          <p:nvPr/>
        </p:nvSpPr>
        <p:spPr>
          <a:xfrm>
            <a:off x="4901079" y="2907792"/>
            <a:ext cx="1097280" cy="420624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 49"/>
          <p:cNvSpPr/>
          <p:nvPr/>
        </p:nvSpPr>
        <p:spPr>
          <a:xfrm>
            <a:off x="5084064" y="2962656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6,7 %</a:t>
            </a:r>
            <a:endParaRPr lang="fr-FR" sz="1000" noProof="0" dirty="0"/>
          </a:p>
        </p:txBody>
      </p:sp>
      <p:sp>
        <p:nvSpPr>
          <p:cNvPr id="52" name="Shape 50"/>
          <p:cNvSpPr/>
          <p:nvPr/>
        </p:nvSpPr>
        <p:spPr>
          <a:xfrm>
            <a:off x="6023006" y="2907792"/>
            <a:ext cx="1097280" cy="420624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3" name="Text 51"/>
          <p:cNvSpPr/>
          <p:nvPr/>
        </p:nvSpPr>
        <p:spPr>
          <a:xfrm>
            <a:off x="6181344" y="2962656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11,3 %</a:t>
            </a:r>
            <a:endParaRPr lang="fr-FR" sz="1000" noProof="0" dirty="0"/>
          </a:p>
        </p:txBody>
      </p:sp>
      <p:sp>
        <p:nvSpPr>
          <p:cNvPr id="54" name="Shape 52"/>
          <p:cNvSpPr/>
          <p:nvPr/>
        </p:nvSpPr>
        <p:spPr>
          <a:xfrm>
            <a:off x="7150398" y="2907792"/>
            <a:ext cx="1902162" cy="420624"/>
          </a:xfrm>
          <a:prstGeom prst="rect">
            <a:avLst/>
          </a:prstGeom>
          <a:solidFill>
            <a:srgbClr val="F4F8FC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Text 53"/>
          <p:cNvSpPr/>
          <p:nvPr/>
        </p:nvSpPr>
        <p:spPr>
          <a:xfrm>
            <a:off x="7278624" y="2962656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| 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=0,05 | profondeur=4 | sous-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éch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.=0,8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1440" y="3401568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7" name="Text 55"/>
          <p:cNvSpPr/>
          <p:nvPr/>
        </p:nvSpPr>
        <p:spPr>
          <a:xfrm>
            <a:off x="329184" y="343814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Hist. Gradient Boosté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765226" y="3383280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9" name="Text 57"/>
          <p:cNvSpPr/>
          <p:nvPr/>
        </p:nvSpPr>
        <p:spPr>
          <a:xfrm>
            <a:off x="3986784" y="3438144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0,646</a:t>
            </a:r>
            <a:endParaRPr lang="fr-FR" sz="1000" noProof="0" dirty="0"/>
          </a:p>
        </p:txBody>
      </p:sp>
      <p:sp>
        <p:nvSpPr>
          <p:cNvPr id="60" name="Shape 58"/>
          <p:cNvSpPr/>
          <p:nvPr/>
        </p:nvSpPr>
        <p:spPr>
          <a:xfrm>
            <a:off x="4901079" y="3383280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1" name="Text 59"/>
          <p:cNvSpPr/>
          <p:nvPr/>
        </p:nvSpPr>
        <p:spPr>
          <a:xfrm>
            <a:off x="5084064" y="3438144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40,4 %</a:t>
            </a:r>
            <a:endParaRPr lang="fr-FR" sz="1000" noProof="0" dirty="0"/>
          </a:p>
        </p:txBody>
      </p:sp>
      <p:sp>
        <p:nvSpPr>
          <p:cNvPr id="62" name="Shape 60"/>
          <p:cNvSpPr/>
          <p:nvPr/>
        </p:nvSpPr>
        <p:spPr>
          <a:xfrm>
            <a:off x="6023006" y="3383280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Text 61"/>
          <p:cNvSpPr/>
          <p:nvPr/>
        </p:nvSpPr>
        <p:spPr>
          <a:xfrm>
            <a:off x="6181344" y="3438144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</a:rPr>
              <a:t>29,8 %</a:t>
            </a:r>
            <a:endParaRPr lang="fr-FR" sz="1000" noProof="0" dirty="0"/>
          </a:p>
        </p:txBody>
      </p:sp>
      <p:sp>
        <p:nvSpPr>
          <p:cNvPr id="64" name="Shape 62"/>
          <p:cNvSpPr/>
          <p:nvPr/>
        </p:nvSpPr>
        <p:spPr>
          <a:xfrm>
            <a:off x="7139362" y="338328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5" name="Text 63"/>
          <p:cNvSpPr/>
          <p:nvPr/>
        </p:nvSpPr>
        <p:spPr>
          <a:xfrm>
            <a:off x="7278624" y="3438144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 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| 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=0,05 | profondeur=5 | </a:t>
            </a:r>
            <a:r>
              <a:rPr lang="fr-FR" sz="1000" noProof="0" dirty="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r>
              <a:rPr lang="fr-FR" sz="1000" noProof="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=équilibré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81684" y="4178808"/>
            <a:ext cx="8180631" cy="420624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!!! </a:t>
            </a:r>
            <a:r>
              <a:rPr lang="fr-FR" sz="1200" noProof="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Boosté : </a:t>
            </a:r>
            <a:r>
              <a:rPr lang="fr-FR" sz="1200" noProof="0" dirty="0" err="1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fr-FR" sz="1200" noProof="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83,9 % mais Rappel = 6,7 % → ne détecte qu'1 patient sur 15. Non adapté au dépistage médical.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8" name="Text 66"/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52004" y="73152"/>
            <a:ext cx="8817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4.2 - MODÉLISATION — VALIDATION CROISÉE ET COURBE ROC</a:t>
            </a:r>
            <a:endParaRPr lang="fr-FR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noProof="0" dirty="0">
                <a:solidFill>
                  <a:srgbClr val="7BAFD4"/>
                </a:solidFill>
              </a:rPr>
              <a:t>10 / 14</a:t>
            </a:r>
            <a:endParaRPr lang="fr-FR" sz="1300" noProof="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240718443"/>
              </p:ext>
            </p:extLst>
          </p:nvPr>
        </p:nvGraphicFramePr>
        <p:xfrm>
          <a:off x="274320" y="749808"/>
          <a:ext cx="42062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3100760277"/>
              </p:ext>
            </p:extLst>
          </p:nvPr>
        </p:nvGraphicFramePr>
        <p:xfrm>
          <a:off x="274320" y="2976372"/>
          <a:ext cx="42062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>
            <p:extLst>
              <p:ext uri="{D42A27DB-BD31-4B8C-83A1-F6EECF244321}">
                <p14:modId xmlns:p14="http://schemas.microsoft.com/office/powerpoint/2010/main" val="708925581"/>
              </p:ext>
            </p:extLst>
          </p:nvPr>
        </p:nvGraphicFramePr>
        <p:xfrm>
          <a:off x="4663440" y="749808"/>
          <a:ext cx="420624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4"/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4.3 - FACTEURS DE RISQUE PRINCIPAUX</a:t>
            </a:r>
            <a:endParaRPr lang="fr-FR" sz="2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noProof="0" dirty="0">
                <a:solidFill>
                  <a:srgbClr val="7BAFD4"/>
                </a:solidFill>
              </a:rPr>
              <a:t>11/ 14</a:t>
            </a:r>
            <a:endParaRPr lang="fr-FR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: coefficients absolus |coef| — Régression Logistique optimisée (</a:t>
            </a:r>
            <a:r>
              <a:rPr lang="fr-FR" sz="11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RechercheGrille</a:t>
            </a:r>
            <a:r>
              <a:rPr lang="fr-FR" sz="11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530038104"/>
              </p:ext>
            </p:extLst>
          </p:nvPr>
        </p:nvGraphicFramePr>
        <p:xfrm>
          <a:off x="274320" y="1138428"/>
          <a:ext cx="4937760" cy="3547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94960" y="1115568"/>
            <a:ext cx="3474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367528" y="1106424"/>
            <a:ext cx="68580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5394960" y="1115568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34,9 %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44768" y="115214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Âge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144768" y="140817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1er facteur. Risque fort après 55 ans.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394960" y="1714500"/>
            <a:ext cx="3474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0"/>
          <p:cNvSpPr/>
          <p:nvPr/>
        </p:nvSpPr>
        <p:spPr>
          <a:xfrm>
            <a:off x="5394960" y="1714500"/>
            <a:ext cx="68580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5394960" y="17145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23,9 %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44768" y="175107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Sexe masc.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44768" y="200710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Risque 1,5× supérieur chez l'homme.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394960" y="2313432"/>
            <a:ext cx="3474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5"/>
          <p:cNvSpPr/>
          <p:nvPr/>
        </p:nvSpPr>
        <p:spPr>
          <a:xfrm>
            <a:off x="5394960" y="2313432"/>
            <a:ext cx="68580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6"/>
          <p:cNvSpPr/>
          <p:nvPr/>
        </p:nvSpPr>
        <p:spPr>
          <a:xfrm>
            <a:off x="5394960" y="231343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22,4 %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144768" y="23500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age_sysBP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144768" y="26060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Cumul du risque cardio. dans le temps.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394960" y="2955798"/>
            <a:ext cx="3474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0"/>
          <p:cNvSpPr/>
          <p:nvPr/>
        </p:nvSpPr>
        <p:spPr>
          <a:xfrm>
            <a:off x="5394960" y="2912364"/>
            <a:ext cx="68580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1"/>
          <p:cNvSpPr/>
          <p:nvPr/>
        </p:nvSpPr>
        <p:spPr>
          <a:xfrm>
            <a:off x="5394960" y="2912364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</a:rPr>
              <a:t>10,2 %</a:t>
            </a:r>
            <a:endParaRPr lang="fr-FR" sz="1100" noProof="0" dirty="0"/>
          </a:p>
        </p:txBody>
      </p:sp>
      <p:sp>
        <p:nvSpPr>
          <p:cNvPr id="25" name="Text 22"/>
          <p:cNvSpPr/>
          <p:nvPr/>
        </p:nvSpPr>
        <p:spPr>
          <a:xfrm>
            <a:off x="6144768" y="29489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Diabète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144768" y="320497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Taux CHD 37 % vs 15 % en population.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394960" y="3511296"/>
            <a:ext cx="3474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5"/>
          <p:cNvSpPr/>
          <p:nvPr/>
        </p:nvSpPr>
        <p:spPr>
          <a:xfrm>
            <a:off x="5394960" y="3511296"/>
            <a:ext cx="68580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6"/>
          <p:cNvSpPr/>
          <p:nvPr/>
        </p:nvSpPr>
        <p:spPr>
          <a:xfrm>
            <a:off x="5394960" y="3511296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</a:rPr>
              <a:t>9,1 %</a:t>
            </a:r>
            <a:endParaRPr lang="fr-FR" sz="1100" noProof="0" dirty="0"/>
          </a:p>
        </p:txBody>
      </p:sp>
      <p:sp>
        <p:nvSpPr>
          <p:cNvPr id="30" name="Text 27"/>
          <p:cNvSpPr/>
          <p:nvPr/>
        </p:nvSpPr>
        <p:spPr>
          <a:xfrm>
            <a:off x="6144768" y="354787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risk_score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144768" y="380390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Agrège 7 facteurs cliniques clés.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394960" y="4110228"/>
            <a:ext cx="3474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38100" dir="8100000" algn="bl" rotWithShape="0">
              <a:srgbClr val="AAAAAA">
                <a:alpha val="1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0"/>
          <p:cNvSpPr/>
          <p:nvPr/>
        </p:nvSpPr>
        <p:spPr>
          <a:xfrm>
            <a:off x="5394960" y="4110228"/>
            <a:ext cx="68580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1"/>
          <p:cNvSpPr/>
          <p:nvPr/>
        </p:nvSpPr>
        <p:spPr>
          <a:xfrm>
            <a:off x="5394960" y="4110228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</a:rPr>
              <a:t>7,2 %</a:t>
            </a:r>
            <a:endParaRPr lang="fr-FR" sz="1100" noProof="0" dirty="0"/>
          </a:p>
        </p:txBody>
      </p:sp>
      <p:sp>
        <p:nvSpPr>
          <p:cNvPr id="35" name="Text 32"/>
          <p:cNvSpPr/>
          <p:nvPr/>
        </p:nvSpPr>
        <p:spPr>
          <a:xfrm>
            <a:off x="6144768" y="414680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 err="1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sysBP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144768" y="440283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Seuil critique ≥ 140 </a:t>
            </a:r>
            <a:r>
              <a:rPr lang="fr-FR" sz="10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mmHg</a:t>
            </a: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(stade 2).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5"/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3250" y="4623549"/>
            <a:ext cx="9144000" cy="508684"/>
          </a:xfrm>
          <a:prstGeom prst="rect">
            <a:avLst/>
          </a:prstGeom>
          <a:solidFill>
            <a:srgbClr val="142640"/>
          </a:solidFill>
          <a:ln w="12700">
            <a:solidFill>
              <a:srgbClr val="14264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205740" y="772286"/>
            <a:ext cx="8595360" cy="972486"/>
          </a:xfrm>
          <a:prstGeom prst="ellipse">
            <a:avLst/>
          </a:prstGeom>
          <a:solidFill>
            <a:srgbClr val="2471A3">
              <a:alpha val="85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205740" y="867083"/>
            <a:ext cx="8549640" cy="931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 retenu : Régression Logistique optimisée| AUC-ROC = 0,703 | Rappel = 72,23 % |</a:t>
            </a:r>
          </a:p>
          <a:p>
            <a:pPr algn="ctr"/>
            <a:r>
              <a:rPr lang="fr-FR" sz="1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AUC croisée = 0,7298  ±  0,034</a:t>
            </a:r>
            <a:endParaRPr lang="fr-FR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915873"/>
            <a:ext cx="2697480" cy="365760"/>
          </a:xfrm>
          <a:prstGeom prst="flowChartAlternateProcess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228600" y="1901763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obtenue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7180" y="2361438"/>
            <a:ext cx="2697480" cy="420624"/>
          </a:xfrm>
          <a:prstGeom prst="flowChartAlternateProcess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342900" y="2401557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·  AUC-ROC = 0,698 (vs 0,500 référence)</a:t>
            </a:r>
          </a:p>
        </p:txBody>
      </p:sp>
      <p:sp>
        <p:nvSpPr>
          <p:cNvPr id="12" name="Shape 10"/>
          <p:cNvSpPr/>
          <p:nvPr/>
        </p:nvSpPr>
        <p:spPr>
          <a:xfrm>
            <a:off x="274320" y="2847468"/>
            <a:ext cx="2697480" cy="420624"/>
          </a:xfrm>
          <a:prstGeom prst="flowChartAlternateProcess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320040" y="2867921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  Rappel = 69,2 % — détecte 6 </a:t>
            </a: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sur 10</a:t>
            </a:r>
          </a:p>
        </p:txBody>
      </p:sp>
      <p:sp>
        <p:nvSpPr>
          <p:cNvPr id="14" name="Shape 12"/>
          <p:cNvSpPr/>
          <p:nvPr/>
        </p:nvSpPr>
        <p:spPr>
          <a:xfrm>
            <a:off x="274320" y="3328675"/>
            <a:ext cx="2697480" cy="420624"/>
          </a:xfrm>
          <a:prstGeom prst="flowChartAlternateProcess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365760" y="337114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·  Croisement stable : AUC = 0,7244 ± 0,025</a:t>
            </a:r>
          </a:p>
        </p:txBody>
      </p:sp>
      <p:sp>
        <p:nvSpPr>
          <p:cNvPr id="16" name="Shape 14"/>
          <p:cNvSpPr/>
          <p:nvPr/>
        </p:nvSpPr>
        <p:spPr>
          <a:xfrm>
            <a:off x="274320" y="3846309"/>
            <a:ext cx="2697480" cy="420624"/>
          </a:xfrm>
          <a:prstGeom prst="flowChartAlternateProcess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342900" y="38291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·  Précision = 25,7 % — compromis acceptable</a:t>
            </a:r>
          </a:p>
        </p:txBody>
      </p:sp>
      <p:sp>
        <p:nvSpPr>
          <p:cNvPr id="18" name="Shape 16"/>
          <p:cNvSpPr/>
          <p:nvPr/>
        </p:nvSpPr>
        <p:spPr>
          <a:xfrm>
            <a:off x="3154680" y="1891294"/>
            <a:ext cx="2697480" cy="365760"/>
          </a:xfrm>
          <a:prstGeom prst="flowChartAlternateProcess">
            <a:avLst/>
          </a:prstGeom>
          <a:solidFill>
            <a:srgbClr val="1D6A3C"/>
          </a:solidFill>
          <a:ln w="12700">
            <a:solidFill>
              <a:srgbClr val="1D6A3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3108960" y="187605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potentiel en santé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154680" y="2326418"/>
            <a:ext cx="2697480" cy="420624"/>
          </a:xfrm>
          <a:prstGeom prst="flowChartAlternateProcess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3188829" y="24252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·  Dépistage précoce des profils à risque</a:t>
            </a:r>
          </a:p>
        </p:txBody>
      </p:sp>
      <p:sp>
        <p:nvSpPr>
          <p:cNvPr id="22" name="Shape 20"/>
          <p:cNvSpPr/>
          <p:nvPr/>
        </p:nvSpPr>
        <p:spPr>
          <a:xfrm>
            <a:off x="3154680" y="2838183"/>
            <a:ext cx="2697480" cy="420624"/>
          </a:xfrm>
          <a:prstGeom prst="flowChartAlternateProcess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3188829" y="2928599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  Réduction des hospitalisations évitables</a:t>
            </a:r>
          </a:p>
        </p:txBody>
      </p:sp>
      <p:sp>
        <p:nvSpPr>
          <p:cNvPr id="24" name="Shape 22"/>
          <p:cNvSpPr/>
          <p:nvPr/>
        </p:nvSpPr>
        <p:spPr>
          <a:xfrm>
            <a:off x="3154680" y="3345435"/>
            <a:ext cx="2697480" cy="420624"/>
          </a:xfrm>
          <a:prstGeom prst="flowChartAlternateProcess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3"/>
          <p:cNvSpPr/>
          <p:nvPr/>
        </p:nvSpPr>
        <p:spPr>
          <a:xfrm>
            <a:off x="3188829" y="3378253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  Aide au clinicien : priorisation des patients</a:t>
            </a:r>
          </a:p>
        </p:txBody>
      </p:sp>
      <p:sp>
        <p:nvSpPr>
          <p:cNvPr id="26" name="Shape 24"/>
          <p:cNvSpPr/>
          <p:nvPr/>
        </p:nvSpPr>
        <p:spPr>
          <a:xfrm>
            <a:off x="3154680" y="3829104"/>
            <a:ext cx="2697480" cy="420624"/>
          </a:xfrm>
          <a:prstGeom prst="flowChartAlternateProcess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154680" y="3867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  Reproductible sur d'autres cohortes</a:t>
            </a:r>
          </a:p>
        </p:txBody>
      </p:sp>
      <p:sp>
        <p:nvSpPr>
          <p:cNvPr id="28" name="Shape 26"/>
          <p:cNvSpPr/>
          <p:nvPr/>
        </p:nvSpPr>
        <p:spPr>
          <a:xfrm>
            <a:off x="6035040" y="1891294"/>
            <a:ext cx="2697480" cy="365760"/>
          </a:xfrm>
          <a:prstGeom prst="flowChartAlternateProcess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5943600" y="1885785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Recommandations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35040" y="2355726"/>
            <a:ext cx="2697480" cy="420624"/>
          </a:xfrm>
          <a:prstGeom prst="flowChartAlternateProcess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6108192" y="2427143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·  Abaisser le seuil à 0,44 → Rappel = 75 %</a:t>
            </a:r>
          </a:p>
        </p:txBody>
      </p:sp>
      <p:sp>
        <p:nvSpPr>
          <p:cNvPr id="32" name="Shape 30"/>
          <p:cNvSpPr/>
          <p:nvPr/>
        </p:nvSpPr>
        <p:spPr>
          <a:xfrm>
            <a:off x="6035040" y="2855447"/>
            <a:ext cx="2697480" cy="420624"/>
          </a:xfrm>
          <a:prstGeom prst="flowChartAlternateProcess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6103620" y="2901227"/>
            <a:ext cx="2628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·  Utiliser </a:t>
            </a:r>
            <a:r>
              <a:rPr lang="fr-FR" sz="100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Fbêta</a:t>
            </a: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(2) comme métrique principale</a:t>
            </a:r>
          </a:p>
        </p:txBody>
      </p:sp>
      <p:sp>
        <p:nvSpPr>
          <p:cNvPr id="34" name="Shape 32"/>
          <p:cNvSpPr/>
          <p:nvPr/>
        </p:nvSpPr>
        <p:spPr>
          <a:xfrm>
            <a:off x="6035040" y="3350944"/>
            <a:ext cx="2697480" cy="420624"/>
          </a:xfrm>
          <a:prstGeom prst="flowChartAlternateProcess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6103620" y="3418587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·  Enrichir les données avec biomarqueurs</a:t>
            </a:r>
          </a:p>
        </p:txBody>
      </p:sp>
      <p:sp>
        <p:nvSpPr>
          <p:cNvPr id="36" name="Shape 34"/>
          <p:cNvSpPr/>
          <p:nvPr/>
        </p:nvSpPr>
        <p:spPr>
          <a:xfrm>
            <a:off x="6035040" y="3817375"/>
            <a:ext cx="2697480" cy="420624"/>
          </a:xfrm>
          <a:prstGeom prst="flowChartAlternateProcess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6108192" y="383690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·  Valider sur cohorte contemporaine</a:t>
            </a:r>
          </a:p>
        </p:txBody>
      </p:sp>
      <p:sp>
        <p:nvSpPr>
          <p:cNvPr id="38" name="Text 36"/>
          <p:cNvSpPr/>
          <p:nvPr/>
        </p:nvSpPr>
        <p:spPr>
          <a:xfrm>
            <a:off x="228600" y="4749875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Analyste Data Junior   ·   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· 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F551EE-9CC9-DE70-8D19-585BABEDD7DD}"/>
              </a:ext>
            </a:extLst>
          </p:cNvPr>
          <p:cNvSpPr txBox="1"/>
          <p:nvPr/>
        </p:nvSpPr>
        <p:spPr>
          <a:xfrm>
            <a:off x="4384964" y="137160"/>
            <a:ext cx="4578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fr-FR" sz="1800" noProof="0" dirty="0">
                <a:solidFill>
                  <a:srgbClr val="7BAFD4"/>
                </a:solidFill>
              </a:rPr>
              <a:t>12/ 14</a:t>
            </a:r>
            <a:endParaRPr lang="fr-FR" sz="1800" noProof="0" dirty="0"/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26A56A57-9365-832B-83D9-6B25436C0DAF}"/>
              </a:ext>
            </a:extLst>
          </p:cNvPr>
          <p:cNvSpPr/>
          <p:nvPr/>
        </p:nvSpPr>
        <p:spPr>
          <a:xfrm>
            <a:off x="-12527" y="15252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200" b="1" i="0" u="none" strike="noStrike" kern="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5.1 - CONCLUSION ET RECOMMANDATIONS</a:t>
            </a:r>
            <a:endParaRPr kumimoji="0" lang="fr-FR" sz="2200" b="1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5.2 - LIMITES ET PERSPECTIVES</a:t>
            </a:r>
            <a:endParaRPr lang="fr-FR" sz="2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300" noProof="0" dirty="0">
                <a:solidFill>
                  <a:srgbClr val="7BAFD4"/>
                </a:solidFill>
              </a:rPr>
              <a:t>13/ 14</a:t>
            </a:r>
            <a:endParaRPr lang="fr-F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384048"/>
          </a:xfrm>
          <a:prstGeom prst="round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Limites actuelles</a:t>
            </a:r>
            <a:endParaRPr lang="fr-FR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Données de 1948–1972 — généralisation limitée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114800" cy="4572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1764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Déséquilibre persistant malgré </a:t>
            </a:r>
            <a:r>
              <a:rPr lang="fr-FR" sz="1100" noProof="0" dirty="0" err="1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033" y="2249034"/>
            <a:ext cx="4114800" cy="457200"/>
          </a:xfrm>
          <a:prstGeom prst="flowChartAlternateProcess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65760" y="22951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Corrélations modérées (r max = 0,26)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4114800" cy="457200"/>
          </a:xfrm>
          <a:prstGeom prst="flowChartAlternateProcess">
            <a:avLst/>
          </a:prstGeom>
          <a:solidFill>
            <a:srgbClr val="FFF5F5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365760" y="28254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Absence de biomarqueurs avancés 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280027"/>
            <a:ext cx="4114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33558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externe non réalisée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749808"/>
            <a:ext cx="4114800" cy="384048"/>
          </a:xfrm>
          <a:prstGeom prst="roundRect">
            <a:avLst/>
          </a:prstGeom>
          <a:solidFill>
            <a:srgbClr val="1D6A3C"/>
          </a:solidFill>
          <a:ln w="12700">
            <a:solidFill>
              <a:srgbClr val="1D6A3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754880" y="7498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 Perspectives d'amélioration</a:t>
            </a:r>
            <a:endParaRPr lang="fr-FR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4773168" y="1252728"/>
            <a:ext cx="457200" cy="457200"/>
          </a:xfrm>
          <a:prstGeom prst="ellipse">
            <a:avLst/>
          </a:prstGeom>
          <a:solidFill>
            <a:srgbClr val="1D6A3C"/>
          </a:solidFill>
          <a:ln w="12700">
            <a:solidFill>
              <a:srgbClr val="1D6A3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4773168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85232" y="123444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Suréchantillonnage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85232" y="14904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d'exemples synthétiques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la classe minoritaire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73168" y="1911096"/>
            <a:ext cx="457200" cy="457200"/>
          </a:xfrm>
          <a:prstGeom prst="ellipse">
            <a:avLst/>
          </a:prstGeom>
          <a:solidFill>
            <a:srgbClr val="1D6A3C"/>
          </a:solidFill>
          <a:ln w="12700">
            <a:solidFill>
              <a:srgbClr val="1D6A3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773168" y="1911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</a:rPr>
              <a:t>02</a:t>
            </a:r>
            <a:endParaRPr lang="fr-FR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5285232" y="189280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bayésienne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85232" y="21488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Recherche d'hyperparamètres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plus efficace que la grille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73168" y="2569464"/>
            <a:ext cx="457200" cy="457200"/>
          </a:xfrm>
          <a:prstGeom prst="ellipse">
            <a:avLst/>
          </a:prstGeom>
          <a:solidFill>
            <a:srgbClr val="1D6A3C"/>
          </a:solidFill>
          <a:ln w="12700">
            <a:solidFill>
              <a:srgbClr val="1D6A3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4773168" y="2569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85232" y="255117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Valeurs SHAP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85232" y="28072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Interprétabilité individuelle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 patient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73168" y="3227832"/>
            <a:ext cx="457200" cy="457200"/>
          </a:xfrm>
          <a:prstGeom prst="ellipse">
            <a:avLst/>
          </a:prstGeom>
          <a:solidFill>
            <a:srgbClr val="1D6A3C"/>
          </a:solidFill>
          <a:ln w="12700">
            <a:solidFill>
              <a:srgbClr val="1D6A3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4773168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85232" y="3224235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F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Déploiement API REST</a:t>
            </a:r>
            <a:endParaRPr lang="fr-FR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285232" y="34655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via </a:t>
            </a:r>
            <a:r>
              <a:rPr lang="fr-FR" sz="10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Steamlit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fr-FR" sz="1000" noProof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predict_proba</a:t>
            </a:r>
            <a:r>
              <a:rPr lang="fr-FR" sz="1000" noProof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→ PKL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Text 38"/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42640"/>
          </a:solidFill>
          <a:ln w="12700">
            <a:solidFill>
              <a:srgbClr val="14264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333954" y="464922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noProof="0" dirty="0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Prédiction du Risque de Maladie Coronarienne à 10 Ans — Framingham </a:t>
            </a:r>
            <a:r>
              <a:rPr lang="fr-FR" sz="1400" noProof="0" dirty="0" err="1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1400" noProof="0" dirty="0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400" noProof="0" dirty="0" err="1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endParaRPr lang="fr-FR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2748170"/>
            <a:ext cx="2377440" cy="1600200"/>
          </a:xfrm>
          <a:prstGeom prst="cloud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363772" y="2834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 au Jury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3479557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l'évaluation de ce travail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les remarques constructives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25765" y="2701804"/>
            <a:ext cx="2377440" cy="1600200"/>
          </a:xfrm>
          <a:prstGeom prst="cloud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4290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3326428" y="279548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 à l'Encadrant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29000" y="3337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l'accompagnement, les conseils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le suivi tout au long du projet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6480" y="2701804"/>
            <a:ext cx="2377440" cy="1600200"/>
          </a:xfrm>
          <a:prstGeom prst="cloud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612648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6136750" y="26791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 pour l'Écoute</a:t>
            </a:r>
            <a:endParaRPr lang="fr-FR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73471" y="334417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votre attention et l'intérêt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90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porté à cette présentation</a:t>
            </a:r>
            <a:endParaRPr lang="fr-FR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8600" y="44805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Analyste Data Junior   ·   Framingham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noProof="0" dirty="0" err="1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fr-FR" sz="900" noProof="0" dirty="0">
                <a:solidFill>
                  <a:srgbClr val="6BA4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·   2026</a:t>
            </a:r>
            <a:endParaRPr lang="fr-FR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DD9FF77C-9EA4-2E9B-A46F-D4265577A8FC}"/>
              </a:ext>
            </a:extLst>
          </p:cNvPr>
          <p:cNvSpPr/>
          <p:nvPr/>
        </p:nvSpPr>
        <p:spPr>
          <a:xfrm>
            <a:off x="7315200" y="6701"/>
            <a:ext cx="1828800" cy="18288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2B8B98-A918-B2BF-D3B0-AB63E127522D}"/>
              </a:ext>
            </a:extLst>
          </p:cNvPr>
          <p:cNvSpPr/>
          <p:nvPr/>
        </p:nvSpPr>
        <p:spPr>
          <a:xfrm>
            <a:off x="0" y="0"/>
            <a:ext cx="1828800" cy="1824853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333E9D9B-6063-4AEF-8007-BF48BADA02D7}"/>
              </a:ext>
            </a:extLst>
          </p:cNvPr>
          <p:cNvSpPr/>
          <p:nvPr/>
        </p:nvSpPr>
        <p:spPr>
          <a:xfrm>
            <a:off x="1828800" y="803985"/>
            <a:ext cx="5286475" cy="1822505"/>
          </a:xfrm>
          <a:prstGeom prst="clou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lgerian" panose="04020705040A02060702" pitchFamily="82" charset="0"/>
              </a:rPr>
              <a:t>Merci pour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426</TotalTime>
  <Words>1382</Words>
  <Application>Microsoft Office PowerPoint</Application>
  <PresentationFormat>On-screen Show (16:9)</PresentationFormat>
  <Paragraphs>311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Algerian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Risque Coronarien — Framingham</dc:title>
  <dc:subject>PptxGenJS Presentation</dc:subject>
  <dc:creator>PptxGenJS</dc:creator>
  <cp:lastModifiedBy>DARIL DIELH</cp:lastModifiedBy>
  <cp:revision>24</cp:revision>
  <dcterms:created xsi:type="dcterms:W3CDTF">2026-03-03T12:50:21Z</dcterms:created>
  <dcterms:modified xsi:type="dcterms:W3CDTF">2026-03-13T17:12:52Z</dcterms:modified>
</cp:coreProperties>
</file>